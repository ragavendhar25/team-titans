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 dt="2026-10-14T06:58:16.219"/>
    <p1510:client id="{0D1D7992-A937-420F-63CB-AF89D7C1349A}" v="1" dt="2026-10-14T10:04:35.463"/>
    <p1510:client id="{34942ABA-6D2A-BF55-D4EE-499E3F34F020}" v="1" dt="2026-10-14T06:01:35.178"/>
    <p1510:client id="{91B57637-C231-7013-7AA9-B14A8BA76A78}" v="1" dt="2026-10-14T06:43:05.072"/>
    <p1510:client id="{C2CC542F-9F46-D703-1785-DC5236AADF86}" v="1" dt="2026-10-14T15:44:29.902"/>
    <p1510:client id="{F270F15E-499B-02D3-A49C-D443CBA12477}" v="3" dt="2026-10-14T07:04:20.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barimanikandan Devaraj" userId="S::sabarimanikandan.d_25me@soi.kgkite.ac.in::31d503e1-2f0b-476c-85e6-38d39685c869" providerId="AD" clId="Web-{00000000-0000-0000-0000-000000000000}"/>
    <pc:docChg chg="modSld">
      <pc:chgData name="Sabarimanikandan Devaraj" userId="S::sabarimanikandan.d_25me@soi.kgkite.ac.in::31d503e1-2f0b-476c-85e6-38d39685c869" providerId="AD" clId="Web-{00000000-0000-0000-0000-000000000000}" dt="2026-10-14T06:58:14.828" v="3" actId="20577"/>
      <pc:docMkLst>
        <pc:docMk/>
      </pc:docMkLst>
      <pc:sldChg chg="modSp">
        <pc:chgData name="Sabarimanikandan Devaraj" userId="S::sabarimanikandan.d_25me@soi.kgkite.ac.in::31d503e1-2f0b-476c-85e6-38d39685c869" providerId="AD" clId="Web-{00000000-0000-0000-0000-000000000000}" dt="2026-10-14T06:58:14.828" v="3" actId="20577"/>
        <pc:sldMkLst>
          <pc:docMk/>
          <pc:sldMk cId="0" sldId="256"/>
        </pc:sldMkLst>
        <pc:spChg chg="mod">
          <ac:chgData name="Sabarimanikandan Devaraj" userId="S::sabarimanikandan.d_25me@soi.kgkite.ac.in::31d503e1-2f0b-476c-85e6-38d39685c869" providerId="AD" clId="Web-{00000000-0000-0000-0000-000000000000}" dt="2026-10-14T06:58:14.828" v="3" actId="20577"/>
          <ac:spMkLst>
            <pc:docMk/>
            <pc:sldMk cId="0" sldId="256"/>
            <ac:spMk id="26" creationId="{00000000-0000-0000-0000-000000000000}"/>
          </ac:spMkLst>
        </pc:spChg>
      </pc:sldChg>
    </pc:docChg>
  </pc:docChgLst>
  <pc:docChgLst>
    <pc:chgData name="Sivarengini Vibheeshan" userId="S::sivarengini.v_25cs@soi.kgkite.ac.in::175d2022-f934-461f-b420-66c4c41c54e1" providerId="AD" clId="Web-{34942ABA-6D2A-BF55-D4EE-499E3F34F020}"/>
    <pc:docChg chg="delSld">
      <pc:chgData name="Sivarengini Vibheeshan" userId="S::sivarengini.v_25cs@soi.kgkite.ac.in::175d2022-f934-461f-b420-66c4c41c54e1" providerId="AD" clId="Web-{34942ABA-6D2A-BF55-D4EE-499E3F34F020}" dt="2026-10-14T06:01:35.178" v="0"/>
      <pc:docMkLst>
        <pc:docMk/>
      </pc:docMkLst>
      <pc:sldChg chg="del">
        <pc:chgData name="Sivarengini Vibheeshan" userId="S::sivarengini.v_25cs@soi.kgkite.ac.in::175d2022-f934-461f-b420-66c4c41c54e1" providerId="AD" clId="Web-{34942ABA-6D2A-BF55-D4EE-499E3F34F020}" dt="2026-10-14T06:01:35.178" v="0"/>
        <pc:sldMkLst>
          <pc:docMk/>
          <pc:sldMk cId="2620070453" sldId="267"/>
        </pc:sldMkLst>
      </pc:sldChg>
    </pc:docChg>
  </pc:docChgLst>
  <pc:docChgLst>
    <pc:chgData name="Vinith Poovarasan" userId="S::vinith.p_25am@soi.kgkite.ac.in::4f767adb-d152-4c3e-8151-56a2a4475e82" providerId="AD" clId="Web-{91B57637-C231-7013-7AA9-B14A8BA76A78}"/>
    <pc:docChg chg="addSld">
      <pc:chgData name="Vinith Poovarasan" userId="S::vinith.p_25am@soi.kgkite.ac.in::4f767adb-d152-4c3e-8151-56a2a4475e82" providerId="AD" clId="Web-{91B57637-C231-7013-7AA9-B14A8BA76A78}" dt="2026-10-14T06:43:05.072" v="0"/>
      <pc:docMkLst>
        <pc:docMk/>
      </pc:docMkLst>
      <pc:sldChg chg="new">
        <pc:chgData name="Vinith Poovarasan" userId="S::vinith.p_25am@soi.kgkite.ac.in::4f767adb-d152-4c3e-8151-56a2a4475e82" providerId="AD" clId="Web-{91B57637-C231-7013-7AA9-B14A8BA76A78}" dt="2026-10-14T06:43:05.072" v="0"/>
        <pc:sldMkLst>
          <pc:docMk/>
          <pc:sldMk cId="2267646241" sldId="267"/>
        </pc:sldMkLst>
      </pc:sldChg>
    </pc:docChg>
  </pc:docChgLst>
  <pc:docChgLst>
    <pc:chgData name="Harun Balasubramaniam" userId="S::harun.b_25am@soi.kgkite.ac.in::aa82e4c3-1a75-487c-b0c9-09a84982e8ef" providerId="AD" clId="Web-{D7C825DF-99A3-4CB4-E699-B7EF045D4DE0}"/>
    <pc:docChg chg="addSld">
      <pc:chgData name="Harun Balasubramaniam" userId="S::harun.b_25am@soi.kgkite.ac.in::aa82e4c3-1a75-487c-b0c9-09a84982e8ef" providerId="AD" clId="Web-{D7C825DF-99A3-4CB4-E699-B7EF045D4DE0}" dt="2026-10-08T10:33:54.334" v="0"/>
      <pc:docMkLst>
        <pc:docMk/>
      </pc:docMkLst>
    </pc:docChg>
  </pc:docChgLst>
  <pc:docChgLst>
    <pc:chgData name="Rama Rohith Ramasubramanian" userId="S::ramarohith.r_25ec@soi.kgkite.ac.in::9a9b8f42-468f-4c07-8602-b07243b0a0fe" providerId="AD" clId="Web-{C2CC542F-9F46-D703-1785-DC5236AADF86}"/>
    <pc:docChg chg="modSld">
      <pc:chgData name="Rama Rohith Ramasubramanian" userId="S::ramarohith.r_25ec@soi.kgkite.ac.in::9a9b8f42-468f-4c07-8602-b07243b0a0fe" providerId="AD" clId="Web-{C2CC542F-9F46-D703-1785-DC5236AADF86}" dt="2026-10-14T15:44:29.902" v="0" actId="14100"/>
      <pc:docMkLst>
        <pc:docMk/>
      </pc:docMkLst>
      <pc:sldChg chg="modSp">
        <pc:chgData name="Rama Rohith Ramasubramanian" userId="S::ramarohith.r_25ec@soi.kgkite.ac.in::9a9b8f42-468f-4c07-8602-b07243b0a0fe" providerId="AD" clId="Web-{C2CC542F-9F46-D703-1785-DC5236AADF86}" dt="2026-10-14T15:44:29.902" v="0" actId="14100"/>
        <pc:sldMkLst>
          <pc:docMk/>
          <pc:sldMk cId="0" sldId="257"/>
        </pc:sldMkLst>
        <pc:spChg chg="mod">
          <ac:chgData name="Rama Rohith Ramasubramanian" userId="S::ramarohith.r_25ec@soi.kgkite.ac.in::9a9b8f42-468f-4c07-8602-b07243b0a0fe" providerId="AD" clId="Web-{C2CC542F-9F46-D703-1785-DC5236AADF86}" dt="2026-10-14T15:44:29.902" v="0" actId="14100"/>
          <ac:spMkLst>
            <pc:docMk/>
            <pc:sldMk cId="0" sldId="257"/>
            <ac:spMk id="29" creationId="{00000000-0000-0000-0000-000000000000}"/>
          </ac:spMkLst>
        </pc:spChg>
      </pc:sldChg>
    </pc:docChg>
  </pc:docChgLst>
  <pc:docChgLst>
    <pc:chgData name="Nikitha Palaniyappan" userId="S::nikitha.p_25ec@soi.kgkite.ac.in::a5ec22fa-75d9-48ef-b70d-2ce7aa90b5e7" providerId="AD" clId="Web-{F270F15E-499B-02D3-A49C-D443CBA12477}"/>
    <pc:docChg chg="modSld">
      <pc:chgData name="Nikitha Palaniyappan" userId="S::nikitha.p_25ec@soi.kgkite.ac.in::a5ec22fa-75d9-48ef-b70d-2ce7aa90b5e7" providerId="AD" clId="Web-{F270F15E-499B-02D3-A49C-D443CBA12477}" dt="2026-10-14T07:04:20.120" v="2" actId="1076"/>
      <pc:docMkLst>
        <pc:docMk/>
      </pc:docMkLst>
      <pc:sldChg chg="modSp">
        <pc:chgData name="Nikitha Palaniyappan" userId="S::nikitha.p_25ec@soi.kgkite.ac.in::a5ec22fa-75d9-48ef-b70d-2ce7aa90b5e7" providerId="AD" clId="Web-{F270F15E-499B-02D3-A49C-D443CBA12477}" dt="2026-10-14T07:04:20.120" v="2" actId="1076"/>
        <pc:sldMkLst>
          <pc:docMk/>
          <pc:sldMk cId="0" sldId="256"/>
        </pc:sldMkLst>
        <pc:spChg chg="mod">
          <ac:chgData name="Nikitha Palaniyappan" userId="S::nikitha.p_25ec@soi.kgkite.ac.in::a5ec22fa-75d9-48ef-b70d-2ce7aa90b5e7" providerId="AD" clId="Web-{F270F15E-499B-02D3-A49C-D443CBA12477}" dt="2026-10-14T06:56:41.851" v="1" actId="1076"/>
          <ac:spMkLst>
            <pc:docMk/>
            <pc:sldMk cId="0" sldId="256"/>
            <ac:spMk id="19" creationId="{00000000-0000-0000-0000-000000000000}"/>
          </ac:spMkLst>
        </pc:spChg>
        <pc:spChg chg="mod">
          <ac:chgData name="Nikitha Palaniyappan" userId="S::nikitha.p_25ec@soi.kgkite.ac.in::a5ec22fa-75d9-48ef-b70d-2ce7aa90b5e7" providerId="AD" clId="Web-{F270F15E-499B-02D3-A49C-D443CBA12477}" dt="2026-10-14T07:04:20.120" v="2" actId="1076"/>
          <ac:spMkLst>
            <pc:docMk/>
            <pc:sldMk cId="0" sldId="256"/>
            <ac:spMk id="26" creationId="{00000000-0000-0000-0000-000000000000}"/>
          </ac:spMkLst>
        </pc:spChg>
      </pc:sldChg>
    </pc:docChg>
  </pc:docChgLst>
  <pc:docChgLst>
    <pc:chgData name="Hariathish Kannan" userId="S::hariathish.k_25ec@soi.kgkite.ac.in::9699afca-da34-4d15-a8d0-80bf5788732b" providerId="AD" clId="Web-{0D1D7992-A937-420F-63CB-AF89D7C1349A}"/>
    <pc:docChg chg="delSld">
      <pc:chgData name="Hariathish Kannan" userId="S::hariathish.k_25ec@soi.kgkite.ac.in::9699afca-da34-4d15-a8d0-80bf5788732b" providerId="AD" clId="Web-{0D1D7992-A937-420F-63CB-AF89D7C1349A}" dt="2026-10-14T10:04:35.463" v="0"/>
      <pc:docMkLst>
        <pc:docMk/>
      </pc:docMkLst>
      <pc:sldChg chg="del">
        <pc:chgData name="Hariathish Kannan" userId="S::hariathish.k_25ec@soi.kgkite.ac.in::9699afca-da34-4d15-a8d0-80bf5788732b" providerId="AD" clId="Web-{0D1D7992-A937-420F-63CB-AF89D7C1349A}" dt="2026-10-14T10:04:35.463" v="0"/>
        <pc:sldMkLst>
          <pc:docMk/>
          <pc:sldMk cId="2267646241"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9180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team_id, batch, project_title, primary_vertical, mentor, submission_version, p1_submission_ref, p1_gate_status, p1_open_actions</a:t>
            </a:r>
          </a:p>
          <a:p>
            <a:endParaRPr/>
          </a:p>
          <a:p>
            <a:r>
              <a:t>Carry P1 reference + recorded status + action closure forward. A submitted or mentor-reviewed Form is not necessarily Lab Head approval. Open critical evidence/permission actions must not disappear at P2. A significant change of customer/problem must be revalidated and reviewed.</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primary_user, problem_statement, p1_baseline, baseline_evidence_id, hmw_question, design_requirements</a:t>
            </a:r>
          </a:p>
          <a:p>
            <a:endParaRPr/>
          </a:p>
          <a:p>
            <a:r>
              <a:t>Definitions: Baseline = the condition before the intervention. How Might We (HMW) = a solution-neutral question inviting different possible answers. A requirement should be traceable to a need or constraint, not simply a preferred feature. For quantitative claims preserve denominator, time window and evidence type.</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alternatives, existing_strengths, unresolved_gap, source_refs</a:t>
            </a:r>
          </a:p>
          <a:p>
            <a:endParaRPr/>
          </a:p>
          <a:p>
            <a:r>
              <a:t>A0/A1/A2 denote existing alternatives, not newly generated concepts I01/I02/I03. Compare what works as well as gaps. Prefer reuse, configuration or a simple process when it meets the validated need. A new project need not claim global invention. Put source title, URL, date and locally checked limitations in the evidence register.</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ideation_date, participants, methods, generated_ideas, shortlist_map, ai_use</a:t>
            </a:r>
          </a:p>
          <a:p>
            <a:endParaRPr/>
          </a:p>
          <a:p>
            <a:r>
              <a:t>At least three materially different ideas are required. Six raw idea slots encourage divergence, but six is not a new minimum. Independent idea writing reduces early anchoring; every team member should contribute before clustering. Use at least two suitable methods and keep the artifacts. The simplest sequence is HMW + independent writing + storyboard. Generative AI can suggest counterarguments or variations but may not manufacture customers, interviews, results or citations.</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concept_i01, concept_i02, concept_i03, concept_artifacts</a:t>
            </a:r>
          </a:p>
          <a:p>
            <a:endParaRPr/>
          </a:p>
          <a:p>
            <a:r>
              <a:t>Use comparable-detail sketches or storyboards for all three ideas, with the same task and constraint. Distinctness means different intervention, workflow, service or mechanism, not three model names, colour choices, or platforms. These process diagrams are concept artifacts, not tested architecture. Include a low-tech/non-AI/process comparison where relevant.</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feedback_completed_count, primary_users_count, feedback_method, feedback_evidence_ids, contradiction, revision</a:t>
            </a:r>
          </a:p>
          <a:p>
            <a:endParaRPr/>
          </a:p>
          <a:p>
            <a:r>
              <a:t>Feedback protocol: explain the current task neutrally, show all three concepts at similar detail, vary order where practical, ask the user to walk through one scenario and point out effort, confusion, missing steps and unacceptable conditions. Ask what they use today and when they would not use the concept. Report dates, roles, distinct primary users, repeated participants, method and consent. Suggested coverage: 3 relevant primary users and 1 approver/operator; Mentor may justify a different sample. This is suggested Phase 2 coverage, not an external standard or automatic acceptance rule.</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weights, ratings, weighted_totals, responsibility_gate, selected_concept_id, selection_rationale, rejected_rationale, sensitivity</a:t>
            </a:r>
          </a:p>
          <a:p>
            <a:endParaRPr/>
          </a:p>
          <a:p>
            <a:r>
              <a:t>RECOMMENDED SCORING DEFAULT (not a research standard): Desirability 35, Feasibility 25, Viability/Value 20, Responsibility 20; weights total 100. Score each 1–5 or U (unknown). Total /100 = SUM(weight × rating / 5). A U prevents a final total; do not replace missing evidence with a convenient number. Agree weights before scoring; a Lab Head-approved change must be recorded. One point in D changes total by 7, F by 5, V or R by 4. Every rating needs an evidence reference and a short rationale in the evidence record. Serious permission, safety, privacy or evidence-integrity concerns override the total. This concept comparison is not the official 100-point assessment rubric.</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selected_flow, value_proposition, moscow_scope, failure_fallback</a:t>
            </a:r>
          </a:p>
          <a:p>
            <a:endParaRPr/>
          </a:p>
          <a:p>
            <a:r>
              <a:t>MoSCoW = Must have (essential to the current bounded test), Should have (important, but a workaround exists), Could have (optional improvement), Won’t have this cycle (explicitly excluded). Set scope for the planned P3 test, not a lifetime feature list. Identify who can override, escalate or safely stop when the concept fails.</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vertical_rationale, vertical_design_artifact, resources_access, vertical_risk, technical_measure</a:t>
            </a:r>
          </a:p>
          <a:p>
            <a:endParaRPr/>
          </a:p>
          <a:p>
            <a:r>
              <a:t>Use only the primary vertical on the slide. Supporting labs can be named without changing the assigned vertical. All-seven vertical guidance:</a:t>
            </a:r>
          </a:p>
          <a:p>
            <a:r>
              <a:t>AD | Artificial Intelligence and Data | Show the human decision; compare a non-AI approach and an existing model/tool. | Data and label source; permission; basic model/input-output sketch; separate development and test data. | Plan useful-task performance, wrong interruptions or missed cases, latency and coverage; keep human control.</a:t>
            </a:r>
          </a:p>
          <a:p>
            <a:r>
              <a:t>BW | Blockchain and Web3 | Show the actors and trust failure; compare a conventional database or signed record. | Who writes, verifies and corrects records; identity, key recovery and governance; why decentralisation adds value. | Plan tamper detection and legitimate correction, transaction cost/time and recovery; no live funds.</a:t>
            </a:r>
          </a:p>
          <a:p>
            <a:r>
              <a:t>CD | Cloud and DevOps | Show the developer/operator task; compare existing platform features, scripts and a manual process. | Deployment or recovery flow, integration/access, workload assumptions and cost ceiling. | Plan reliability, restore/rollback time, data loss and running cost; use an isolated environment.</a:t>
            </a:r>
          </a:p>
          <a:p>
            <a:r>
              <a:t>CS | Cyber Security | Define asset, threat and authorised defender; compare current controls and a non-tool response. | Permission, safe test boundary, representative benign and threat cases, action/false-alert handling. | Plan detection and false-alert rates, response effort and limitations; no unauthorised scans or exploitation.</a:t>
            </a:r>
          </a:p>
          <a:p>
            <a:r>
              <a:t>EI | Embedded Systems and Internet of Things | Show the physical task; compare a manual/mechanical aid with sensing or actuation. | Sensor/actuator block sketch, power/connectivity, calibration, operating environment and parts estimate. | Plan sensing error, response time, power and failure states; safe bench work before field use.</a:t>
            </a:r>
          </a:p>
          <a:p>
            <a:r>
              <a:t>FW | Full Stack Web | Show the complete user journey; compare process change, existing software and custom build. | Roles/permissions, main screens, data movement, integration, accessibility and fallback. | Plan task completion, update effort, data consistency and access checks; keep mock data separate.</a:t>
            </a:r>
          </a:p>
          <a:p>
            <a:r>
              <a:t>MA | Manufacturing and Automation | Show operator, material and process; compare layout/mistake-proofing with automation. | Mechanism sketch, dimensions/tolerances to verify, tools/materials, maintainability and safety. | Plan cycle time, wrong-fit/defect acceptance and usability; no live-machine trial without approval.</a:t>
            </a:r>
          </a:p>
          <a:p>
            <a:endParaRPr/>
          </a:p>
          <a:p>
            <a:r>
              <a:t>A diagram is not proof of technical feasibility. Name data/parts/software required, permission status and estimated cost. Uncertain labels, calibration, costs and platform coverage remain assumptions.</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riskiest_assumption, poc_hypothesis, test_method, test_sample, comparator, pass_thresholds, stop_pivot_rule, permission_status</a:t>
            </a:r>
          </a:p>
          <a:p>
            <a:endParaRPr/>
          </a:p>
          <a:p>
            <a:r>
              <a:t>Proof of Concept (PoC) = the smallest focused test of a risky technical assumption. At P2 submit the plan, not fabricated results. Define inputs, comparator, denominator, labels/reference, sample-size rationale, thresholds, guardrails, access and stop/pivot rule before running P3. The example samples are practical small teaching-test designs, not statistically powered estimates or certification. A low-fidelity concept reaction is not a working PoC. P3 submission (tentative): 26 October 2026; Pre-Demo Day after P3.</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FORMAT — PHASE 2 / IDEATION — AY2026–27</a:t>
            </a:r>
          </a:p>
          <a:p>
            <a:r>
              <a:t>Deadline: 16 October 2026. Applies to all 2025–29 teams and 2024–28 teams starting NEW AY2026–27 projects. It does not reset continuing AY2025–26 projects.</a:t>
            </a:r>
          </a:p>
          <a:p>
            <a:r>
              <a:t>Submit this 11-slide editable PPTX and a reviewer-accessible evidence-folder link through the Microsoft Form when announced. A working PoC, two-minute video or new paper/patent draft is not required for this P2 submission. P3 submission is tentatively scheduled for 26 October 2026; Pre-Demo Day follows P3.</a:t>
            </a:r>
          </a:p>
          <a:p>
            <a:r>
              <a:t>Preserve the official full Team ID from P1. Do not create a new ID for a new phase or relabel a vertical without coordinator approval. Use SoI_P2_&lt;TeamID&gt;_&lt;ProjectShortName&gt;_v01.pptx.</a:t>
            </a:r>
          </a:p>
          <a:p>
            <a:r>
              <a:t>Mentor / Project In-charge recommendations and Lab Head decisions remain in a separate official record. A team recommendation is not an approval. A P1 review pending or required action must remain visible.</a:t>
            </a:r>
          </a:p>
          <a:p>
            <a:r>
              <a:t>Use evidence IDs, labelled Measured / Reported / Estimated / Planned. Distinguish synthetic demonstrations from customer evidence. Keep sources and raw evidence in the existing project folder under P2_Ideation. Keep private data and unpublished IP restricted to authorised reviewers; a public link is not required.</a:t>
            </a:r>
          </a:p>
          <a:p>
            <a:r>
              <a:t>Keep slide order, labels and native tables for consistent review. Replace all prompts and check copied example text. Put full sources and extra evidence context in Notes, not tiny text.</a:t>
            </a:r>
          </a:p>
          <a:p>
            <a:endParaRPr/>
          </a:p>
          <a:p>
            <a:r>
              <a:t>FIELD KEYS: poc_actions, evidence_folder_url, references, ai_disclosure, team_recommendation, submission_check</a:t>
            </a:r>
          </a:p>
          <a:p>
            <a:endParaRPr/>
          </a:p>
          <a:p>
            <a:r>
              <a:t>Only draft release materials were produced with this package. Microsoft Form will be announced later. Do not create a replacement form or send the deck to an invented URL. Before submission: 11 slides, valid unchanged Team ID, P1 status visible, three distinct ideas, genuine feedback, score arithmetic, selected-vertical artifact, prospective PoC criteria, accessible restricted evidence link, sources, team contribution and AI-use disclosure. Preserve editable tables and stable concept/evidence labels for later extraction.</a:t>
            </a:r>
          </a:p>
          <a:p>
            <a:endParaRPr/>
          </a:p>
          <a:p>
            <a:r>
              <a:t>REFERENCES (accessed 5 October 2026; public method/capability references, not primary user evidence)</a:t>
            </a:r>
          </a:p>
          <a:p>
            <a:r>
              <a:t>M1: Design Council — Double Diamond</a:t>
            </a:r>
          </a:p>
          <a:p>
            <a:r>
              <a:t>https://www.designcouncil.org.uk/resources/the-double-diamond/</a:t>
            </a:r>
          </a:p>
          <a:p>
            <a:r>
              <a:t>M2: Stanford d.school — How Might We questions</a:t>
            </a:r>
          </a:p>
          <a:p>
            <a:r>
              <a:t>https://dschool.stanford.edu/tools/how-might-we-questions</a:t>
            </a:r>
          </a:p>
          <a:p>
            <a:r>
              <a:t>M3: Stanford d.school — Idea Expedition</a:t>
            </a:r>
          </a:p>
          <a:p>
            <a:r>
              <a:t>https://dschool.stanford.edu/tools/idea-expedition</a:t>
            </a:r>
          </a:p>
          <a:p>
            <a:r>
              <a:t>M4: IDEO — human-centred Design Thinking</a:t>
            </a:r>
          </a:p>
          <a:p>
            <a:r>
              <a:t>https://designthinking.ideo.com/introduction</a:t>
            </a:r>
          </a:p>
          <a:p>
            <a:r>
              <a:t>M5: Agile Business Consortium — MoSCoW prioritisation</a:t>
            </a:r>
          </a:p>
          <a:p>
            <a:r>
              <a:t>https://www.agilebusiness.org/resource/what-is-moscow-prioritization/</a:t>
            </a:r>
          </a:p>
          <a:p>
            <a:r>
              <a:t>M6: UK Government Service Manual — testing risky assumptions in alpha</a:t>
            </a:r>
          </a:p>
          <a:p>
            <a:r>
              <a:t>https://www.gov.uk/service-manual/agile-delivery/how-the-alpha-phase-works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01</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Project and Phase 1 handover</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11-slide student submission • review decisions remain in the official assessment record</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1/11</a:t>
            </a:r>
          </a:p>
        </p:txBody>
      </p:sp>
      <p:sp>
        <p:nvSpPr>
          <p:cNvPr id="19" name="Rounded Rectangle 18"/>
          <p:cNvSpPr/>
          <p:nvPr/>
        </p:nvSpPr>
        <p:spPr>
          <a:xfrm>
            <a:off x="457200" y="1828800"/>
            <a:ext cx="4069080" cy="4389120"/>
          </a:xfrm>
          <a:prstGeom prst="roundRect">
            <a:avLst>
              <a:gd name="adj" fmla="val 8000"/>
            </a:avLst>
          </a:prstGeom>
          <a:solidFill>
            <a:srgbClr val="153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2084831"/>
            <a:ext cx="356616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E7F3F1"/>
                </a:solidFill>
                <a:latin typeface="Calibri"/>
              </a:defRPr>
            </a:pPr>
            <a:r>
              <a:t>PHASE 2  /  IDEATION</a:t>
            </a:r>
          </a:p>
        </p:txBody>
      </p:sp>
      <p:sp>
        <p:nvSpPr>
          <p:cNvPr id="21" name="TextBox 20"/>
          <p:cNvSpPr txBox="1"/>
          <p:nvPr/>
        </p:nvSpPr>
        <p:spPr>
          <a:xfrm>
            <a:off x="685800" y="2651760"/>
            <a:ext cx="3566160" cy="1307592"/>
          </a:xfrm>
          <a:prstGeom prst="rect">
            <a:avLst/>
          </a:prstGeom>
          <a:noFill/>
        </p:spPr>
        <p:txBody>
          <a:bodyPr wrap="square" lIns="0" tIns="0" rIns="0" bIns="0">
            <a:spAutoFit/>
          </a:bodyPr>
          <a:lstStyle/>
          <a:p>
            <a:pPr>
              <a:lnSpc>
                <a:spcPct val="104000"/>
              </a:lnSpc>
              <a:spcBef>
                <a:spcPts val="0"/>
              </a:spcBef>
              <a:spcAft>
                <a:spcPts val="200"/>
              </a:spcAft>
              <a:defRPr sz="3100" b="1">
                <a:solidFill>
                  <a:srgbClr val="FFFFFF"/>
                </a:solidFill>
                <a:latin typeface="Calibri"/>
              </a:defRPr>
            </a:pPr>
            <a:r>
              <a:t>Slow, manual label compliance checks</a:t>
            </a:r>
          </a:p>
        </p:txBody>
      </p:sp>
      <p:sp>
        <p:nvSpPr>
          <p:cNvPr id="22" name="TextBox 21"/>
          <p:cNvSpPr txBox="1"/>
          <p:nvPr/>
        </p:nvSpPr>
        <p:spPr>
          <a:xfrm>
            <a:off x="685800" y="4224528"/>
            <a:ext cx="3566160" cy="850392"/>
          </a:xfrm>
          <a:prstGeom prst="rect">
            <a:avLst/>
          </a:prstGeom>
          <a:noFill/>
        </p:spPr>
        <p:txBody>
          <a:bodyPr wrap="square" lIns="0" tIns="0" rIns="0" bIns="0">
            <a:spAutoFit/>
          </a:bodyPr>
          <a:lstStyle/>
          <a:p>
            <a:pPr>
              <a:lnSpc>
                <a:spcPct val="104000"/>
              </a:lnSpc>
              <a:spcBef>
                <a:spcPts val="0"/>
              </a:spcBef>
              <a:spcAft>
                <a:spcPts val="200"/>
              </a:spcAft>
              <a:defRPr sz="2100" b="0">
                <a:solidFill>
                  <a:srgbClr val="FFFFFF"/>
                </a:solidFill>
                <a:latin typeface="Calibri"/>
              </a:defRPr>
            </a:pPr>
            <a:r>
              <a:t>Turn a validated problem into a justified concept choice.</a:t>
            </a:r>
          </a:p>
        </p:txBody>
      </p:sp>
      <p:sp>
        <p:nvSpPr>
          <p:cNvPr id="23" name="TextBox 22"/>
          <p:cNvSpPr txBox="1"/>
          <p:nvPr/>
        </p:nvSpPr>
        <p:spPr>
          <a:xfrm>
            <a:off x="685800" y="5266944"/>
            <a:ext cx="3566160" cy="658368"/>
          </a:xfrm>
          <a:prstGeom prst="rect">
            <a:avLst/>
          </a:prstGeom>
          <a:noFill/>
        </p:spPr>
        <p:txBody>
          <a:bodyPr wrap="square" lIns="0" tIns="0" rIns="0" bIns="0">
            <a:spAutoFit/>
          </a:bodyPr>
          <a:lstStyle/>
          <a:p>
            <a:pPr>
              <a:lnSpc>
                <a:spcPct val="104000"/>
              </a:lnSpc>
              <a:spcBef>
                <a:spcPts val="0"/>
              </a:spcBef>
              <a:spcAft>
                <a:spcPts val="200"/>
              </a:spcAft>
              <a:defRPr sz="1400" b="1">
                <a:solidFill>
                  <a:srgbClr val="E7F3F1"/>
                </a:solidFill>
                <a:latin typeface="Calibri"/>
              </a:defRPr>
            </a:pPr>
            <a:r>
              <a:t>EXPLORE 3+ IDEAS</a:t>
            </a:r>
          </a:p>
          <a:p>
            <a:pPr>
              <a:lnSpc>
                <a:spcPct val="104000"/>
              </a:lnSpc>
              <a:spcBef>
                <a:spcPts val="0"/>
              </a:spcBef>
              <a:spcAft>
                <a:spcPts val="200"/>
              </a:spcAft>
              <a:defRPr sz="1400" b="1">
                <a:solidFill>
                  <a:srgbClr val="E7F3F1"/>
                </a:solidFill>
                <a:latin typeface="Calibri"/>
              </a:defRPr>
            </a:pPr>
            <a:r>
              <a:t>CHOOSE WITH EVIDENCE</a:t>
            </a:r>
          </a:p>
          <a:p>
            <a:pPr>
              <a:lnSpc>
                <a:spcPct val="104000"/>
              </a:lnSpc>
              <a:spcBef>
                <a:spcPts val="0"/>
              </a:spcBef>
              <a:spcAft>
                <a:spcPts val="200"/>
              </a:spcAft>
              <a:defRPr sz="1400" b="1">
                <a:solidFill>
                  <a:srgbClr val="E7F3F1"/>
                </a:solidFill>
                <a:latin typeface="Calibri"/>
              </a:defRPr>
            </a:pPr>
            <a:r>
              <a:t>PLAN ONE FOCUSED TEST</a:t>
            </a:r>
          </a:p>
        </p:txBody>
      </p:sp>
      <p:sp>
        <p:nvSpPr>
          <p:cNvPr id="24" name="Rounded Rectangle 23"/>
          <p:cNvSpPr/>
          <p:nvPr/>
        </p:nvSpPr>
        <p:spPr>
          <a:xfrm>
            <a:off x="4709160" y="1828800"/>
            <a:ext cx="7022592" cy="960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73752" y="1947672"/>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TEAM / IDENTITY</a:t>
            </a:r>
          </a:p>
        </p:txBody>
      </p:sp>
      <p:sp>
        <p:nvSpPr>
          <p:cNvPr id="26" name="TextBox 25"/>
          <p:cNvSpPr txBox="1"/>
          <p:nvPr/>
        </p:nvSpPr>
        <p:spPr>
          <a:xfrm>
            <a:off x="4873752" y="2204456"/>
            <a:ext cx="6693407" cy="575029"/>
          </a:xfrm>
          <a:prstGeom prst="rect">
            <a:avLst/>
          </a:prstGeom>
          <a:noFill/>
        </p:spPr>
        <p:txBody>
          <a:bodyPr wrap="square" lIns="0" tIns="0" rIns="0" bIns="0">
            <a:spAutoFit/>
          </a:bodyPr>
          <a:lstStyle/>
          <a:p>
            <a:pPr>
              <a:lnSpc>
                <a:spcPct val="104000"/>
              </a:lnSpc>
              <a:spcBef>
                <a:spcPts val="0"/>
              </a:spcBef>
              <a:spcAft>
                <a:spcPts val="200"/>
              </a:spcAft>
              <a:defRPr sz="1750" b="0">
                <a:solidFill>
                  <a:srgbClr val="243A49"/>
                </a:solidFill>
                <a:latin typeface="Calibri"/>
              </a:defRPr>
            </a:pPr>
            <a:r>
              <a:t>P-2026-29-CD-003-AY26-27 | Team Titans</a:t>
            </a:r>
            <a:r>
              <a:rPr lang="en-US"/>
              <a:t/>
            </a:r>
            <a:r>
              <a:t/>
            </a:r>
          </a:p>
          <a:p>
            <a:pPr>
              <a:lnSpc>
                <a:spcPct val="104000"/>
              </a:lnSpc>
              <a:spcBef>
                <a:spcPts val="0"/>
              </a:spcBef>
              <a:spcAft>
                <a:spcPts val="200"/>
              </a:spcAft>
              <a:defRPr sz="1750" b="0">
                <a:solidFill>
                  <a:srgbClr val="243A49"/>
                </a:solidFill>
                <a:latin typeface="Calibri"/>
              </a:defRPr>
            </a:pPr>
            <a:r>
              <a:rPr lang="en-US" sz="1200"/>
              <a:t>Lead: Ragavendhar Mahesh Kumar | Members: Nithya V, Nithilla Sree S, Pravena R, Pranika Lakshmi R</a:t>
            </a:r>
          </a:p>
        </p:txBody>
      </p:sp>
      <p:sp>
        <p:nvSpPr>
          <p:cNvPr id="27" name="Rounded Rectangle 26"/>
          <p:cNvSpPr/>
          <p:nvPr/>
        </p:nvSpPr>
        <p:spPr>
          <a:xfrm>
            <a:off x="4709160" y="2926080"/>
            <a:ext cx="7022592" cy="102412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73752" y="3044952"/>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BATCH / VERTICAL / MENTOR</a:t>
            </a:r>
          </a:p>
        </p:txBody>
      </p:sp>
      <p:sp>
        <p:nvSpPr>
          <p:cNvPr id="29" name="TextBox 28"/>
          <p:cNvSpPr txBox="1"/>
          <p:nvPr/>
        </p:nvSpPr>
        <p:spPr>
          <a:xfrm>
            <a:off x="4873752" y="3291840"/>
            <a:ext cx="6693407" cy="576072"/>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2025–29 | New AY2026–27 project | CD — Cloud &amp; DevOps</a:t>
            </a:r>
          </a:p>
          <a:p>
            <a:pPr>
              <a:lnSpc>
                <a:spcPct val="104000"/>
              </a:lnSpc>
              <a:spcBef>
                <a:spcPts val="0"/>
              </a:spcBef>
              <a:spcAft>
                <a:spcPts val="200"/>
              </a:spcAft>
              <a:defRPr sz="1700" b="0">
                <a:solidFill>
                  <a:srgbClr val="243A49"/>
                </a:solidFill>
                <a:latin typeface="Calibri"/>
              </a:defRPr>
            </a:pPr>
            <a:r>
              <a:t>Naveen Kumar (Mentor) | [add institutional email]</a:t>
            </a:r>
          </a:p>
        </p:txBody>
      </p:sp>
      <p:sp>
        <p:nvSpPr>
          <p:cNvPr id="30" name="Rounded Rectangle 29"/>
          <p:cNvSpPr/>
          <p:nvPr/>
        </p:nvSpPr>
        <p:spPr>
          <a:xfrm>
            <a:off x="4709160" y="4087368"/>
            <a:ext cx="7022592"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873752" y="4206240"/>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PHASE 1 REFERENCE AND RECORDED STATUS</a:t>
            </a:r>
          </a:p>
        </p:txBody>
      </p:sp>
      <p:sp>
        <p:nvSpPr>
          <p:cNvPr id="32" name="TextBox 31"/>
          <p:cNvSpPr txBox="1"/>
          <p:nvPr/>
        </p:nvSpPr>
        <p:spPr>
          <a:xfrm>
            <a:off x="4873752" y="4453128"/>
            <a:ext cx="6693407" cy="502920"/>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P1: LabelGuard deck (PS SIH26034), 30 Sep 2026. Review status: not yet recorded. E01 = simulated persona.</a:t>
            </a:r>
          </a:p>
        </p:txBody>
      </p:sp>
      <p:sp>
        <p:nvSpPr>
          <p:cNvPr id="33" name="Rounded Rectangle 32"/>
          <p:cNvSpPr/>
          <p:nvPr/>
        </p:nvSpPr>
        <p:spPr>
          <a:xfrm>
            <a:off x="4709160" y="5175504"/>
            <a:ext cx="7022592" cy="1042415"/>
          </a:xfrm>
          <a:prstGeom prst="roundRect">
            <a:avLst>
              <a:gd name="adj" fmla="val 8000"/>
            </a:avLst>
          </a:prstGeom>
          <a:solidFill>
            <a:srgbClr val="FFF3D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73752" y="5294376"/>
            <a:ext cx="6693407"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OPEN ACTIONS CARRIED FORWARD</a:t>
            </a:r>
          </a:p>
        </p:txBody>
      </p:sp>
      <p:sp>
        <p:nvSpPr>
          <p:cNvPr id="35" name="TextBox 34"/>
          <p:cNvSpPr txBox="1"/>
          <p:nvPr/>
        </p:nvSpPr>
        <p:spPr>
          <a:xfrm>
            <a:off x="4873752" y="5541264"/>
            <a:ext cx="6693407" cy="594359"/>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Open: real inspector interview + observation (0 done); IT/permission evidence; timings still reported only.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02</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Validated need → design challenge</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Carry the evidence forward. Do not restart with a preferred app, model or machine.</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2/11</a:t>
            </a:r>
          </a:p>
        </p:txBody>
      </p:sp>
      <p:sp>
        <p:nvSpPr>
          <p:cNvPr id="19" name="Rounded Rectangle 18"/>
          <p:cNvSpPr/>
          <p:nvPr/>
        </p:nvSpPr>
        <p:spPr>
          <a:xfrm>
            <a:off x="457200" y="1828800"/>
            <a:ext cx="3401568" cy="135331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1947672"/>
            <a:ext cx="30723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PRIMARY END USER</a:t>
            </a:r>
          </a:p>
        </p:txBody>
      </p:sp>
      <p:sp>
        <p:nvSpPr>
          <p:cNvPr id="21" name="TextBox 20"/>
          <p:cNvSpPr txBox="1"/>
          <p:nvPr/>
        </p:nvSpPr>
        <p:spPr>
          <a:xfrm>
            <a:off x="621792" y="2194560"/>
            <a:ext cx="3072384" cy="90525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District Legal Metrology inspectors checking 15–20 packaged food and personal-care packs per shop.</a:t>
            </a:r>
          </a:p>
        </p:txBody>
      </p:sp>
      <p:sp>
        <p:nvSpPr>
          <p:cNvPr id="22" name="Rounded Rectangle 21"/>
          <p:cNvSpPr/>
          <p:nvPr/>
        </p:nvSpPr>
        <p:spPr>
          <a:xfrm>
            <a:off x="4023360" y="1828800"/>
            <a:ext cx="3767328" cy="135331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87952" y="1947672"/>
            <a:ext cx="343814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PROBLEM TO ADDRESS</a:t>
            </a:r>
          </a:p>
        </p:txBody>
      </p:sp>
      <p:sp>
        <p:nvSpPr>
          <p:cNvPr id="24" name="TextBox 23"/>
          <p:cNvSpPr txBox="1"/>
          <p:nvPr/>
        </p:nvSpPr>
        <p:spPr>
          <a:xfrm>
            <a:off x="4187952" y="2194560"/>
            <a:ext cx="3438144" cy="90525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Inspectors miss declarations and re-check because manual checks of varied labels take long (reported).</a:t>
            </a:r>
          </a:p>
        </p:txBody>
      </p:sp>
      <p:sp>
        <p:nvSpPr>
          <p:cNvPr id="25" name="Rounded Rectangle 24"/>
          <p:cNvSpPr/>
          <p:nvPr/>
        </p:nvSpPr>
        <p:spPr>
          <a:xfrm>
            <a:off x="7955279" y="1828800"/>
            <a:ext cx="3776472" cy="135331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9871" y="1947672"/>
            <a:ext cx="3447288"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P1 BASELINE AND EVIDENCE</a:t>
            </a:r>
          </a:p>
        </p:txBody>
      </p:sp>
      <p:sp>
        <p:nvSpPr>
          <p:cNvPr id="27" name="TextBox 26"/>
          <p:cNvSpPr txBox="1"/>
          <p:nvPr/>
        </p:nvSpPr>
        <p:spPr>
          <a:xfrm>
            <a:off x="8119871" y="2194560"/>
            <a:ext cx="3447288" cy="90525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NOT YET MEASURED. Reported (simulated persona E01, n=1): 5–8 min per clean label; 15+ min if complex.</a:t>
            </a:r>
          </a:p>
        </p:txBody>
      </p:sp>
      <p:sp>
        <p:nvSpPr>
          <p:cNvPr id="28" name="Rounded Rectangle 27"/>
          <p:cNvSpPr/>
          <p:nvPr/>
        </p:nvSpPr>
        <p:spPr>
          <a:xfrm>
            <a:off x="457200" y="3374136"/>
            <a:ext cx="11274552" cy="1143000"/>
          </a:xfrm>
          <a:prstGeom prst="roundRect">
            <a:avLst>
              <a:gd name="adj" fmla="val 8000"/>
            </a:avLst>
          </a:prstGeom>
          <a:solidFill>
            <a:srgbClr val="153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824" y="3528832"/>
            <a:ext cx="10839400" cy="176972"/>
          </a:xfrm>
          <a:prstGeom prst="rect">
            <a:avLst/>
          </a:prstGeom>
          <a:noFill/>
        </p:spPr>
        <p:txBody>
          <a:bodyPr wrap="square" lIns="0" tIns="0" rIns="0" bIns="0">
            <a:spAutoFit/>
          </a:bodyPr>
          <a:lstStyle/>
          <a:p>
            <a:pPr>
              <a:lnSpc>
                <a:spcPct val="104000"/>
              </a:lnSpc>
              <a:spcBef>
                <a:spcPts val="0"/>
              </a:spcBef>
              <a:spcAft>
                <a:spcPts val="200"/>
              </a:spcAft>
              <a:defRPr sz="1150" b="1">
                <a:solidFill>
                  <a:srgbClr val="E7F3F1"/>
                </a:solidFill>
                <a:latin typeface="Calibri"/>
              </a:defRPr>
            </a:pPr>
            <a:r>
              <a:t>HOW MIGHT WE … ?</a:t>
            </a:r>
          </a:p>
        </p:txBody>
      </p:sp>
      <p:sp>
        <p:nvSpPr>
          <p:cNvPr id="30" name="TextBox 29"/>
          <p:cNvSpPr txBox="1"/>
          <p:nvPr/>
        </p:nvSpPr>
        <p:spPr>
          <a:xfrm>
            <a:off x="667512" y="3785615"/>
            <a:ext cx="10826496" cy="630936"/>
          </a:xfrm>
          <a:prstGeom prst="rect">
            <a:avLst/>
          </a:prstGeom>
          <a:noFill/>
        </p:spPr>
        <p:txBody>
          <a:bodyPr wrap="square" lIns="0" tIns="0" rIns="0" bIns="0">
            <a:spAutoFit/>
          </a:bodyPr>
          <a:lstStyle/>
          <a:p>
            <a:pPr>
              <a:lnSpc>
                <a:spcPct val="104000"/>
              </a:lnSpc>
              <a:spcBef>
                <a:spcPts val="0"/>
              </a:spcBef>
              <a:spcAft>
                <a:spcPts val="200"/>
              </a:spcAft>
              <a:defRPr sz="2250" b="1">
                <a:solidFill>
                  <a:srgbClr val="FFFFFF"/>
                </a:solidFill>
                <a:latin typeface="Calibri"/>
              </a:defRPr>
            </a:pPr>
            <a:r>
              <a:t>How might we help inspectors verify every mandatory declaration quickly and consistently despite varied languages and pack shapes, without replacing their legal judgement?</a:t>
            </a:r>
          </a:p>
        </p:txBody>
      </p:sp>
      <p:sp>
        <p:nvSpPr>
          <p:cNvPr id="31" name="TextBox 30"/>
          <p:cNvSpPr txBox="1"/>
          <p:nvPr/>
        </p:nvSpPr>
        <p:spPr>
          <a:xfrm>
            <a:off x="475488" y="4773168"/>
            <a:ext cx="1088136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DESIGN REQUIREMENTS — VALUE, ADOPTION AND BOUNDARIES</a:t>
            </a:r>
          </a:p>
        </p:txBody>
      </p:sp>
      <p:sp>
        <p:nvSpPr>
          <p:cNvPr id="32" name="Rounded Rectangle 31"/>
          <p:cNvSpPr/>
          <p:nvPr/>
        </p:nvSpPr>
        <p:spPr>
          <a:xfrm>
            <a:off x="457200" y="5111496"/>
            <a:ext cx="3630168"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 y="5230368"/>
            <a:ext cx="33009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R1</a:t>
            </a:r>
          </a:p>
        </p:txBody>
      </p:sp>
      <p:sp>
        <p:nvSpPr>
          <p:cNvPr id="34" name="TextBox 33"/>
          <p:cNvSpPr txBox="1"/>
          <p:nvPr/>
        </p:nvSpPr>
        <p:spPr>
          <a:xfrm>
            <a:off x="621792" y="5477256"/>
            <a:ext cx="3300984"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Flag every missing or unreadable declaration so none is missed (E01, simulated).</a:t>
            </a:r>
          </a:p>
        </p:txBody>
      </p:sp>
      <p:sp>
        <p:nvSpPr>
          <p:cNvPr id="35" name="Rounded Rectangle 34"/>
          <p:cNvSpPr/>
          <p:nvPr/>
        </p:nvSpPr>
        <p:spPr>
          <a:xfrm>
            <a:off x="4279392" y="5111496"/>
            <a:ext cx="3630168"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43983" y="5230368"/>
            <a:ext cx="33009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R2</a:t>
            </a:r>
          </a:p>
        </p:txBody>
      </p:sp>
      <p:sp>
        <p:nvSpPr>
          <p:cNvPr id="37" name="TextBox 36"/>
          <p:cNvSpPr txBox="1"/>
          <p:nvPr/>
        </p:nvSpPr>
        <p:spPr>
          <a:xfrm>
            <a:off x="4443983" y="5477256"/>
            <a:ext cx="3300984"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Work on phone or paper; handle local languages; fit the current register and report.</a:t>
            </a:r>
          </a:p>
        </p:txBody>
      </p:sp>
      <p:sp>
        <p:nvSpPr>
          <p:cNvPr id="38" name="Rounded Rectangle 37"/>
          <p:cNvSpPr/>
          <p:nvPr/>
        </p:nvSpPr>
        <p:spPr>
          <a:xfrm>
            <a:off x="8101583" y="5111496"/>
            <a:ext cx="3630168"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66175" y="5230368"/>
            <a:ext cx="3300984"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R3</a:t>
            </a:r>
          </a:p>
        </p:txBody>
      </p:sp>
      <p:sp>
        <p:nvSpPr>
          <p:cNvPr id="40" name="TextBox 39"/>
          <p:cNvSpPr txBox="1"/>
          <p:nvPr/>
        </p:nvSpPr>
        <p:spPr>
          <a:xfrm>
            <a:off x="8266175" y="5477256"/>
            <a:ext cx="3300984"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Inspector decides; no personal data; team-photographed packs only; cost ≤ ₹1,000 (Estimated).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03</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Compare what already exists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Acknowledge what works. A credible existing solution can be reused instead of reinvented.</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3/11</a:t>
            </a:r>
          </a:p>
        </p:txBody>
      </p:sp>
      <p:graphicFrame>
        <p:nvGraphicFramePr>
          <p:cNvPr id="19" name="Table 18"/>
          <p:cNvGraphicFramePr>
            <a:graphicFrameLocks noGrp="1"/>
          </p:cNvGraphicFramePr>
          <p:nvPr/>
        </p:nvGraphicFramePr>
        <p:xfrm>
          <a:off x="457200" y="1828800"/>
          <a:ext cx="11274552" cy="3209544"/>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621024">
                  <a:extLst>
                    <a:ext uri="{9D8B030D-6E8A-4147-A177-3AD203B41FA5}">
                      <a16:colId xmlns:a16="http://schemas.microsoft.com/office/drawing/2014/main" val="20003"/>
                    </a:ext>
                  </a:extLst>
                </a:gridCol>
                <a:gridCol w="2304288">
                  <a:extLst>
                    <a:ext uri="{9D8B030D-6E8A-4147-A177-3AD203B41FA5}">
                      <a16:colId xmlns:a16="http://schemas.microsoft.com/office/drawing/2014/main" val="20004"/>
                    </a:ext>
                  </a:extLst>
                </a:gridCol>
              </a:tblGrid>
              <a:tr h="411480">
                <a:tc>
                  <a:txBody>
                    <a:bodyPr/>
                    <a:lstStyle/>
                    <a:p>
                      <a:pPr>
                        <a:lnSpc>
                          <a:spcPct val="104000"/>
                        </a:lnSpc>
                        <a:spcAft>
                          <a:spcPts val="0"/>
                        </a:spcAft>
                        <a:defRPr sz="1300" b="1">
                          <a:solidFill>
                            <a:srgbClr val="FFFFFF"/>
                          </a:solidFill>
                          <a:latin typeface="Calibri"/>
                        </a:defRPr>
                      </a:pPr>
                      <a:r>
                        <a:t>ID</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Existing alternative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What it does well</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Gap in this context</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Evidence / source</a:t>
                      </a:r>
                    </a:p>
                  </a:txBody>
                  <a:tcPr marL="109728" marR="109728" marT="64008" marB="64008" anchor="ctr">
                    <a:solidFill>
                      <a:srgbClr val="153347"/>
                    </a:solidFill>
                  </a:tcPr>
                </a:tc>
                <a:extLst>
                  <a:ext uri="{0D108BD9-81ED-4DB2-BD59-A6C34878D82A}">
                    <a16:rowId xmlns:a16="http://schemas.microsoft.com/office/drawing/2014/main" val="10000"/>
                  </a:ext>
                </a:extLst>
              </a:tr>
              <a:tr h="932688">
                <a:tc>
                  <a:txBody>
                    <a:bodyPr/>
                    <a:lstStyle/>
                    <a:p>
                      <a:pPr>
                        <a:lnSpc>
                          <a:spcPct val="104000"/>
                        </a:lnSpc>
                        <a:spcAft>
                          <a:spcPts val="0"/>
                        </a:spcAft>
                        <a:defRPr sz="1600" b="0">
                          <a:solidFill>
                            <a:srgbClr val="243A49"/>
                          </a:solidFill>
                          <a:latin typeface="Calibri"/>
                        </a:defRPr>
                      </a:pPr>
                      <a:r>
                        <a:t>A0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Current workaround</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Familiar to trained officers; works on site; scale check of net quantity</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Slow; items missed; no shared record; hard on curved or multi-language labels (reported)</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P1 E01 (simulated)</a:t>
                      </a:r>
                    </a:p>
                  </a:txBody>
                  <a:tcPr marL="109728" marR="109728" marT="64008" marB="64008" anchor="ctr">
                    <a:solidFill>
                      <a:srgbClr val="FFFFFF"/>
                    </a:solidFill>
                  </a:tcPr>
                </a:tc>
                <a:extLst>
                  <a:ext uri="{0D108BD9-81ED-4DB2-BD59-A6C34878D82A}">
                    <a16:rowId xmlns:a16="http://schemas.microsoft.com/office/drawing/2014/main" val="10001"/>
                  </a:ext>
                </a:extLst>
              </a:tr>
              <a:tr h="932688">
                <a:tc>
                  <a:txBody>
                    <a:bodyPr/>
                    <a:lstStyle/>
                    <a:p>
                      <a:pPr>
                        <a:lnSpc>
                          <a:spcPct val="104000"/>
                        </a:lnSpc>
                        <a:spcAft>
                          <a:spcPts val="0"/>
                        </a:spcAft>
                        <a:defRPr sz="1600" b="0">
                          <a:solidFill>
                            <a:srgbClr val="243A49"/>
                          </a:solidFill>
                          <a:latin typeface="Calibri"/>
                        </a:defRPr>
                      </a:pPr>
                      <a:r>
                        <a:t>A1</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Existing product / service</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Existing OCR tools (open-source, cloud APIs) read text in many languages</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Not tuned to Legal Metrology rules; accuracy on curved or stickered packs unverified locally</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Vendor docs; capability only; date in register</a:t>
                      </a:r>
                    </a:p>
                  </a:txBody>
                  <a:tcPr marL="109728" marR="109728" marT="64008" marB="64008" anchor="ctr">
                    <a:solidFill>
                      <a:srgbClr val="E7F3F1"/>
                    </a:solidFill>
                  </a:tcPr>
                </a:tc>
                <a:extLst>
                  <a:ext uri="{0D108BD9-81ED-4DB2-BD59-A6C34878D82A}">
                    <a16:rowId xmlns:a16="http://schemas.microsoft.com/office/drawing/2014/main" val="10002"/>
                  </a:ext>
                </a:extLst>
              </a:tr>
              <a:tr h="932688">
                <a:tc>
                  <a:txBody>
                    <a:bodyPr/>
                    <a:lstStyle/>
                    <a:p>
                      <a:pPr>
                        <a:lnSpc>
                          <a:spcPct val="104000"/>
                        </a:lnSpc>
                        <a:spcAft>
                          <a:spcPts val="0"/>
                        </a:spcAft>
                        <a:defRPr sz="1600" b="0">
                          <a:solidFill>
                            <a:srgbClr val="243A49"/>
                          </a:solidFill>
                          <a:latin typeface="Calibri"/>
                        </a:defRPr>
                      </a:pPr>
                      <a:r>
                        <a:t>A2</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Another credible approach</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Printed pack-size checklist + training: cheap, offline, no IT approval</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Still manual reading; no photo evidence or report draft; misses may remain</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To check with inspectors; not yet evidenced</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0" name="Rounded Rectangle 19"/>
          <p:cNvSpPr/>
          <p:nvPr/>
        </p:nvSpPr>
        <p:spPr>
          <a:xfrm>
            <a:off x="457200" y="5321808"/>
            <a:ext cx="11274552" cy="859536"/>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 y="5413248"/>
            <a:ext cx="10981944" cy="676656"/>
          </a:xfrm>
          <a:prstGeom prst="rect">
            <a:avLst/>
          </a:prstGeom>
          <a:noFill/>
        </p:spPr>
        <p:txBody>
          <a:bodyPr wrap="square" lIns="0" tIns="0" rIns="0" bIns="0">
            <a:spAutoFit/>
          </a:bodyPr>
          <a:lstStyle/>
          <a:p>
            <a:pPr>
              <a:lnSpc>
                <a:spcPct val="104000"/>
              </a:lnSpc>
              <a:spcBef>
                <a:spcPts val="0"/>
              </a:spcBef>
              <a:spcAft>
                <a:spcPts val="200"/>
              </a:spcAft>
              <a:defRPr sz="2000" b="1">
                <a:solidFill>
                  <a:srgbClr val="243A49"/>
                </a:solidFill>
                <a:latin typeface="Calibri"/>
              </a:defRPr>
            </a:pPr>
            <a:r>
              <a:t>Reuse existing OCR as a component. Build only rule checks, uncertainty flags and report draft, and only if a checklist (A2) cannot meet the need.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04</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Show how you generated new ideas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Diverge before judging: preserve the raw ideas, then build three distinct concepts.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4/11</a:t>
            </a:r>
          </a:p>
        </p:txBody>
      </p:sp>
      <p:sp>
        <p:nvSpPr>
          <p:cNvPr id="19" name="Rounded Rectangle 18"/>
          <p:cNvSpPr/>
          <p:nvPr/>
        </p:nvSpPr>
        <p:spPr>
          <a:xfrm>
            <a:off x="457200" y="1828800"/>
            <a:ext cx="11274552" cy="55778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 y="1920240"/>
            <a:ext cx="10981944" cy="374904"/>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Prepared 15 Oct 2026 with AI help; team session to be logged. Artifact P2-E01.</a:t>
            </a:r>
          </a:p>
        </p:txBody>
      </p:sp>
      <p:sp>
        <p:nvSpPr>
          <p:cNvPr id="21" name="TextBox 20"/>
          <p:cNvSpPr txBox="1"/>
          <p:nvPr/>
        </p:nvSpPr>
        <p:spPr>
          <a:xfrm>
            <a:off x="493776" y="2578608"/>
            <a:ext cx="11192256" cy="548640"/>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Method: the HMW question from Slide 2; raw ideas kept in the evidence folder (02_concepts.md).</a:t>
            </a:r>
          </a:p>
        </p:txBody>
      </p:sp>
      <p:sp>
        <p:nvSpPr>
          <p:cNvPr id="22" name="Rounded Rectangle 21"/>
          <p:cNvSpPr/>
          <p:nvPr/>
        </p:nvSpPr>
        <p:spPr>
          <a:xfrm>
            <a:off x="457200" y="3282696"/>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8" y="3410712"/>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G01 • pack-size paper checklist + font gauge</a:t>
            </a:r>
          </a:p>
        </p:txBody>
      </p:sp>
      <p:sp>
        <p:nvSpPr>
          <p:cNvPr id="24" name="Rounded Rectangle 23"/>
          <p:cNvSpPr/>
          <p:nvPr/>
        </p:nvSpPr>
        <p:spPr>
          <a:xfrm>
            <a:off x="4279392" y="3282696"/>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3410712"/>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G02 • photo → OCR → rule-check assistant</a:t>
            </a:r>
          </a:p>
        </p:txBody>
      </p:sp>
      <p:sp>
        <p:nvSpPr>
          <p:cNvPr id="26" name="Rounded Rectangle 25"/>
          <p:cNvSpPr/>
          <p:nvPr/>
        </p:nvSpPr>
        <p:spPr>
          <a:xfrm>
            <a:off x="8101583" y="3282696"/>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7031" y="3410712"/>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G03 • shared verified-label registry</a:t>
            </a:r>
          </a:p>
        </p:txBody>
      </p:sp>
      <p:sp>
        <p:nvSpPr>
          <p:cNvPr id="28" name="Rounded Rectangle 27"/>
          <p:cNvSpPr/>
          <p:nvPr/>
        </p:nvSpPr>
        <p:spPr>
          <a:xfrm>
            <a:off x="457200" y="4096511"/>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 y="4224527"/>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G04 • packer / platform pre-print label check</a:t>
            </a:r>
          </a:p>
        </p:txBody>
      </p:sp>
      <p:sp>
        <p:nvSpPr>
          <p:cNvPr id="30" name="Rounded Rectangle 29"/>
          <p:cNvSpPr/>
          <p:nvPr/>
        </p:nvSpPr>
        <p:spPr>
          <a:xfrm>
            <a:off x="4279392" y="4096511"/>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34840" y="4224527"/>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G05 • voice-note inspection log</a:t>
            </a:r>
          </a:p>
        </p:txBody>
      </p:sp>
      <p:sp>
        <p:nvSpPr>
          <p:cNvPr id="32" name="Rounded Rectangle 31"/>
          <p:cNvSpPr/>
          <p:nvPr/>
        </p:nvSpPr>
        <p:spPr>
          <a:xfrm>
            <a:off x="8101583" y="4096511"/>
            <a:ext cx="3630168" cy="658368"/>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57031" y="4224527"/>
            <a:ext cx="3319272" cy="420624"/>
          </a:xfrm>
          <a:prstGeom prst="rect">
            <a:avLst/>
          </a:prstGeom>
          <a:noFill/>
        </p:spPr>
        <p:txBody>
          <a:bodyPr wrap="square" lIns="0" tIns="0" rIns="0" bIns="0">
            <a:spAutoFit/>
          </a:bodyPr>
          <a:lstStyle/>
          <a:p>
            <a:pPr>
              <a:lnSpc>
                <a:spcPct val="104000"/>
              </a:lnSpc>
              <a:spcBef>
                <a:spcPts val="0"/>
              </a:spcBef>
              <a:spcAft>
                <a:spcPts val="200"/>
              </a:spcAft>
              <a:defRPr sz="1700" b="1">
                <a:solidFill>
                  <a:srgbClr val="006E75"/>
                </a:solidFill>
                <a:latin typeface="Calibri"/>
              </a:defRPr>
            </a:pPr>
            <a:r>
              <a:t>G06 • consumer scan-and-report app (parked)</a:t>
            </a:r>
          </a:p>
        </p:txBody>
      </p:sp>
      <p:sp>
        <p:nvSpPr>
          <p:cNvPr id="34" name="TextBox 33"/>
          <p:cNvSpPr txBox="1"/>
          <p:nvPr/>
        </p:nvSpPr>
        <p:spPr>
          <a:xfrm>
            <a:off x="457200" y="5056632"/>
            <a:ext cx="1088136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HOW THE SHORTLIST WAS FORMED</a:t>
            </a:r>
          </a:p>
        </p:txBody>
      </p:sp>
      <p:sp>
        <p:nvSpPr>
          <p:cNvPr id="35" name="TextBox 34"/>
          <p:cNvSpPr txBox="1"/>
          <p:nvPr/>
        </p:nvSpPr>
        <p:spPr>
          <a:xfrm>
            <a:off x="457200" y="5376672"/>
            <a:ext cx="11201400" cy="38404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G01 → I01; G02 (+G05) → I02; G03 (+G04 later) → I03. G06 parked: different user. Ideas are not copied from P1.</a:t>
            </a:r>
          </a:p>
        </p:txBody>
      </p:sp>
      <p:sp>
        <p:nvSpPr>
          <p:cNvPr id="36" name="TextBox 35"/>
          <p:cNvSpPr txBox="1"/>
          <p:nvPr/>
        </p:nvSpPr>
        <p:spPr>
          <a:xfrm>
            <a:off x="457200" y="5916168"/>
            <a:ext cx="11201400" cy="292608"/>
          </a:xfrm>
          <a:prstGeom prst="rect">
            <a:avLst/>
          </a:prstGeom>
          <a:noFill/>
        </p:spPr>
        <p:txBody>
          <a:bodyPr wrap="square" lIns="0" tIns="0" rIns="0" bIns="0">
            <a:spAutoFit/>
          </a:bodyPr>
          <a:lstStyle/>
          <a:p>
            <a:pPr>
              <a:lnSpc>
                <a:spcPct val="104000"/>
              </a:lnSpc>
              <a:spcBef>
                <a:spcPts val="0"/>
              </a:spcBef>
              <a:spcAft>
                <a:spcPts val="200"/>
              </a:spcAft>
              <a:defRPr sz="1350" b="0">
                <a:solidFill>
                  <a:srgbClr val="597080"/>
                </a:solidFill>
                <a:latin typeface="Calibri"/>
              </a:defRPr>
            </a:pPr>
            <a:r>
              <a:t>AI use: Claude suggested idea variations and deck structure; team checked them. No interviews, results or citations were AI-generated.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05</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Three distinct concept options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Make each idea tangible at similar detail; compare mechanisms, not only features.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5/11</a:t>
            </a:r>
          </a:p>
        </p:txBody>
      </p:sp>
      <p:sp>
        <p:nvSpPr>
          <p:cNvPr id="19" name="Rounded Rectangle 18"/>
          <p:cNvSpPr/>
          <p:nvPr/>
        </p:nvSpPr>
        <p:spPr>
          <a:xfrm>
            <a:off x="457200" y="1828800"/>
            <a:ext cx="3630168" cy="4389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7200" y="1828800"/>
            <a:ext cx="3630168" cy="429768"/>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1920240"/>
            <a:ext cx="3291840" cy="237744"/>
          </a:xfrm>
          <a:prstGeom prst="rect">
            <a:avLst/>
          </a:prstGeom>
          <a:noFill/>
        </p:spPr>
        <p:txBody>
          <a:bodyPr wrap="square" lIns="0" tIns="0" rIns="0" bIns="0">
            <a:spAutoFit/>
          </a:bodyPr>
          <a:lstStyle/>
          <a:p>
            <a:pPr>
              <a:lnSpc>
                <a:spcPct val="104000"/>
              </a:lnSpc>
              <a:spcBef>
                <a:spcPts val="0"/>
              </a:spcBef>
              <a:spcAft>
                <a:spcPts val="200"/>
              </a:spcAft>
              <a:defRPr sz="1500" b="1">
                <a:solidFill>
                  <a:srgbClr val="FFFFFF"/>
                </a:solidFill>
                <a:latin typeface="Calibri"/>
              </a:defRPr>
            </a:pPr>
            <a:r>
              <a:t>I01</a:t>
            </a:r>
          </a:p>
        </p:txBody>
      </p:sp>
      <p:sp>
        <p:nvSpPr>
          <p:cNvPr id="22" name="TextBox 21"/>
          <p:cNvSpPr txBox="1"/>
          <p:nvPr/>
        </p:nvSpPr>
        <p:spPr>
          <a:xfrm>
            <a:off x="640080" y="2459736"/>
            <a:ext cx="3246120" cy="621792"/>
          </a:xfrm>
          <a:prstGeom prst="rect">
            <a:avLst/>
          </a:prstGeom>
          <a:noFill/>
        </p:spPr>
        <p:txBody>
          <a:bodyPr wrap="square" lIns="0" tIns="0" rIns="0" bIns="0">
            <a:spAutoFit/>
          </a:bodyPr>
          <a:lstStyle/>
          <a:p>
            <a:pPr>
              <a:lnSpc>
                <a:spcPct val="104000"/>
              </a:lnSpc>
              <a:spcBef>
                <a:spcPts val="0"/>
              </a:spcBef>
              <a:spcAft>
                <a:spcPts val="200"/>
              </a:spcAft>
              <a:defRPr sz="2300" b="1">
                <a:solidFill>
                  <a:srgbClr val="153347"/>
                </a:solidFill>
                <a:latin typeface="Calibri"/>
              </a:defRPr>
            </a:pPr>
            <a:r>
              <a:t>Pack-size checklist card</a:t>
            </a:r>
          </a:p>
        </p:txBody>
      </p:sp>
      <p:sp>
        <p:nvSpPr>
          <p:cNvPr id="23" name="TextBox 22"/>
          <p:cNvSpPr txBox="1"/>
          <p:nvPr/>
        </p:nvSpPr>
        <p:spPr>
          <a:xfrm>
            <a:off x="640080" y="3209544"/>
            <a:ext cx="3246120" cy="65836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Laminated card: every declaration plus a font gauge.</a:t>
            </a:r>
          </a:p>
        </p:txBody>
      </p:sp>
      <p:sp>
        <p:nvSpPr>
          <p:cNvPr id="24" name="Rounded Rectangle 23"/>
          <p:cNvSpPr/>
          <p:nvPr/>
        </p:nvSpPr>
        <p:spPr>
          <a:xfrm>
            <a:off x="621792"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Pick a pack</a:t>
            </a:r>
          </a:p>
        </p:txBody>
      </p:sp>
      <p:sp>
        <p:nvSpPr>
          <p:cNvPr id="26" name="TextBox 25"/>
          <p:cNvSpPr txBox="1"/>
          <p:nvPr/>
        </p:nvSpPr>
        <p:spPr>
          <a:xfrm>
            <a:off x="1612391"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7" name="Rounded Rectangle 26"/>
          <p:cNvSpPr/>
          <p:nvPr/>
        </p:nvSpPr>
        <p:spPr>
          <a:xfrm>
            <a:off x="1776983"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40991"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Tick each declaration</a:t>
            </a:r>
          </a:p>
        </p:txBody>
      </p:sp>
      <p:sp>
        <p:nvSpPr>
          <p:cNvPr id="29" name="TextBox 28"/>
          <p:cNvSpPr txBox="1"/>
          <p:nvPr/>
        </p:nvSpPr>
        <p:spPr>
          <a:xfrm>
            <a:off x="2767583"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30" name="Rounded Rectangle 29"/>
          <p:cNvSpPr/>
          <p:nvPr/>
        </p:nvSpPr>
        <p:spPr>
          <a:xfrm>
            <a:off x="2932175"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96183"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Fewer misses</a:t>
            </a:r>
          </a:p>
        </p:txBody>
      </p:sp>
      <p:sp>
        <p:nvSpPr>
          <p:cNvPr id="32" name="TextBox 31"/>
          <p:cNvSpPr txBox="1"/>
          <p:nvPr/>
        </p:nvSpPr>
        <p:spPr>
          <a:xfrm>
            <a:off x="640080" y="4873752"/>
            <a:ext cx="3200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VALUE</a:t>
            </a:r>
          </a:p>
        </p:txBody>
      </p:sp>
      <p:sp>
        <p:nvSpPr>
          <p:cNvPr id="33" name="TextBox 32"/>
          <p:cNvSpPr txBox="1"/>
          <p:nvPr/>
        </p:nvSpPr>
        <p:spPr>
          <a:xfrm>
            <a:off x="640080" y="5120640"/>
            <a:ext cx="3246120" cy="484632"/>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Consistency for any field inspector; no IT needed.</a:t>
            </a:r>
          </a:p>
        </p:txBody>
      </p:sp>
      <p:sp>
        <p:nvSpPr>
          <p:cNvPr id="34" name="TextBox 33"/>
          <p:cNvSpPr txBox="1"/>
          <p:nvPr/>
        </p:nvSpPr>
        <p:spPr>
          <a:xfrm>
            <a:off x="640080" y="5641848"/>
            <a:ext cx="3246120"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Assumption: misses come from forgetting, not reading. P2-A01.</a:t>
            </a:r>
          </a:p>
        </p:txBody>
      </p:sp>
      <p:sp>
        <p:nvSpPr>
          <p:cNvPr id="35" name="Rounded Rectangle 34"/>
          <p:cNvSpPr/>
          <p:nvPr/>
        </p:nvSpPr>
        <p:spPr>
          <a:xfrm>
            <a:off x="4279392" y="1828800"/>
            <a:ext cx="3630168" cy="4389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279392" y="1828800"/>
            <a:ext cx="3630168" cy="429768"/>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62272" y="1920240"/>
            <a:ext cx="3291840" cy="237744"/>
          </a:xfrm>
          <a:prstGeom prst="rect">
            <a:avLst/>
          </a:prstGeom>
          <a:noFill/>
        </p:spPr>
        <p:txBody>
          <a:bodyPr wrap="square" lIns="0" tIns="0" rIns="0" bIns="0">
            <a:spAutoFit/>
          </a:bodyPr>
          <a:lstStyle/>
          <a:p>
            <a:pPr>
              <a:lnSpc>
                <a:spcPct val="104000"/>
              </a:lnSpc>
              <a:spcBef>
                <a:spcPts val="0"/>
              </a:spcBef>
              <a:spcAft>
                <a:spcPts val="200"/>
              </a:spcAft>
              <a:defRPr sz="1500" b="1">
                <a:solidFill>
                  <a:srgbClr val="FFFFFF"/>
                </a:solidFill>
                <a:latin typeface="Calibri"/>
              </a:defRPr>
            </a:pPr>
            <a:r>
              <a:t>I02</a:t>
            </a:r>
          </a:p>
        </p:txBody>
      </p:sp>
      <p:sp>
        <p:nvSpPr>
          <p:cNvPr id="38" name="TextBox 37"/>
          <p:cNvSpPr txBox="1"/>
          <p:nvPr/>
        </p:nvSpPr>
        <p:spPr>
          <a:xfrm>
            <a:off x="4462272" y="2459736"/>
            <a:ext cx="3246120" cy="621792"/>
          </a:xfrm>
          <a:prstGeom prst="rect">
            <a:avLst/>
          </a:prstGeom>
          <a:noFill/>
        </p:spPr>
        <p:txBody>
          <a:bodyPr wrap="square" lIns="0" tIns="0" rIns="0" bIns="0">
            <a:spAutoFit/>
          </a:bodyPr>
          <a:lstStyle/>
          <a:p>
            <a:pPr>
              <a:lnSpc>
                <a:spcPct val="104000"/>
              </a:lnSpc>
              <a:spcBef>
                <a:spcPts val="0"/>
              </a:spcBef>
              <a:spcAft>
                <a:spcPts val="200"/>
              </a:spcAft>
              <a:defRPr sz="2300" b="1">
                <a:solidFill>
                  <a:srgbClr val="153347"/>
                </a:solidFill>
                <a:latin typeface="Calibri"/>
              </a:defRPr>
            </a:pPr>
            <a:r>
              <a:t>Photo checklist assistant</a:t>
            </a:r>
          </a:p>
        </p:txBody>
      </p:sp>
      <p:sp>
        <p:nvSpPr>
          <p:cNvPr id="39" name="TextBox 38"/>
          <p:cNvSpPr txBox="1"/>
          <p:nvPr/>
        </p:nvSpPr>
        <p:spPr>
          <a:xfrm>
            <a:off x="4462272" y="3209544"/>
            <a:ext cx="3246120" cy="65836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OCR reads the photo and flags missing declarations.</a:t>
            </a:r>
          </a:p>
        </p:txBody>
      </p:sp>
      <p:sp>
        <p:nvSpPr>
          <p:cNvPr id="40" name="Rounded Rectangle 39"/>
          <p:cNvSpPr/>
          <p:nvPr/>
        </p:nvSpPr>
        <p:spPr>
          <a:xfrm>
            <a:off x="4443983"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07992"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Take photo</a:t>
            </a:r>
          </a:p>
        </p:txBody>
      </p:sp>
      <p:sp>
        <p:nvSpPr>
          <p:cNvPr id="42" name="TextBox 41"/>
          <p:cNvSpPr txBox="1"/>
          <p:nvPr/>
        </p:nvSpPr>
        <p:spPr>
          <a:xfrm>
            <a:off x="5434583"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43" name="Rounded Rectangle 42"/>
          <p:cNvSpPr/>
          <p:nvPr/>
        </p:nvSpPr>
        <p:spPr>
          <a:xfrm>
            <a:off x="5599176"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63184"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Flag gaps</a:t>
            </a:r>
          </a:p>
        </p:txBody>
      </p:sp>
      <p:sp>
        <p:nvSpPr>
          <p:cNvPr id="45" name="TextBox 44"/>
          <p:cNvSpPr txBox="1"/>
          <p:nvPr/>
        </p:nvSpPr>
        <p:spPr>
          <a:xfrm>
            <a:off x="6589775"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46" name="Rounded Rectangle 45"/>
          <p:cNvSpPr/>
          <p:nvPr/>
        </p:nvSpPr>
        <p:spPr>
          <a:xfrm>
            <a:off x="6754367"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18375"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Confirm</a:t>
            </a:r>
          </a:p>
        </p:txBody>
      </p:sp>
      <p:sp>
        <p:nvSpPr>
          <p:cNvPr id="48" name="TextBox 47"/>
          <p:cNvSpPr txBox="1"/>
          <p:nvPr/>
        </p:nvSpPr>
        <p:spPr>
          <a:xfrm>
            <a:off x="4462272" y="4873752"/>
            <a:ext cx="3200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VALUE</a:t>
            </a:r>
          </a:p>
        </p:txBody>
      </p:sp>
      <p:sp>
        <p:nvSpPr>
          <p:cNvPr id="49" name="TextBox 48"/>
          <p:cNvSpPr txBox="1"/>
          <p:nvPr/>
        </p:nvSpPr>
        <p:spPr>
          <a:xfrm>
            <a:off x="4462272" y="5120640"/>
            <a:ext cx="3246120" cy="484632"/>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Faster, evidence attached; field inspector.</a:t>
            </a:r>
          </a:p>
        </p:txBody>
      </p:sp>
      <p:sp>
        <p:nvSpPr>
          <p:cNvPr id="50" name="TextBox 49"/>
          <p:cNvSpPr txBox="1"/>
          <p:nvPr/>
        </p:nvSpPr>
        <p:spPr>
          <a:xfrm>
            <a:off x="4462272" y="5641848"/>
            <a:ext cx="3246120"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Assumption: OCR reads curved, multilingual labels well enough. P2-A02.</a:t>
            </a:r>
          </a:p>
        </p:txBody>
      </p:sp>
      <p:sp>
        <p:nvSpPr>
          <p:cNvPr id="51" name="Rounded Rectangle 50"/>
          <p:cNvSpPr/>
          <p:nvPr/>
        </p:nvSpPr>
        <p:spPr>
          <a:xfrm>
            <a:off x="8101583" y="1828800"/>
            <a:ext cx="3630168" cy="4389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8101583" y="1828800"/>
            <a:ext cx="3630168" cy="429768"/>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84463" y="1920240"/>
            <a:ext cx="3291840" cy="237744"/>
          </a:xfrm>
          <a:prstGeom prst="rect">
            <a:avLst/>
          </a:prstGeom>
          <a:noFill/>
        </p:spPr>
        <p:txBody>
          <a:bodyPr wrap="square" lIns="0" tIns="0" rIns="0" bIns="0">
            <a:spAutoFit/>
          </a:bodyPr>
          <a:lstStyle/>
          <a:p>
            <a:pPr>
              <a:lnSpc>
                <a:spcPct val="104000"/>
              </a:lnSpc>
              <a:spcBef>
                <a:spcPts val="0"/>
              </a:spcBef>
              <a:spcAft>
                <a:spcPts val="200"/>
              </a:spcAft>
              <a:defRPr sz="1500" b="1">
                <a:solidFill>
                  <a:srgbClr val="FFFFFF"/>
                </a:solidFill>
                <a:latin typeface="Calibri"/>
              </a:defRPr>
            </a:pPr>
            <a:r>
              <a:t>I03</a:t>
            </a:r>
          </a:p>
        </p:txBody>
      </p:sp>
      <p:sp>
        <p:nvSpPr>
          <p:cNvPr id="54" name="TextBox 53"/>
          <p:cNvSpPr txBox="1"/>
          <p:nvPr/>
        </p:nvSpPr>
        <p:spPr>
          <a:xfrm>
            <a:off x="8284463" y="2459736"/>
            <a:ext cx="3246120" cy="621792"/>
          </a:xfrm>
          <a:prstGeom prst="rect">
            <a:avLst/>
          </a:prstGeom>
          <a:noFill/>
        </p:spPr>
        <p:txBody>
          <a:bodyPr wrap="square" lIns="0" tIns="0" rIns="0" bIns="0">
            <a:spAutoFit/>
          </a:bodyPr>
          <a:lstStyle/>
          <a:p>
            <a:pPr>
              <a:lnSpc>
                <a:spcPct val="104000"/>
              </a:lnSpc>
              <a:spcBef>
                <a:spcPts val="0"/>
              </a:spcBef>
              <a:spcAft>
                <a:spcPts val="200"/>
              </a:spcAft>
              <a:defRPr sz="2300" b="1">
                <a:solidFill>
                  <a:srgbClr val="153347"/>
                </a:solidFill>
                <a:latin typeface="Calibri"/>
              </a:defRPr>
            </a:pPr>
            <a:r>
              <a:t>Shared label registry</a:t>
            </a:r>
          </a:p>
        </p:txBody>
      </p:sp>
      <p:sp>
        <p:nvSpPr>
          <p:cNvPr id="55" name="TextBox 54"/>
          <p:cNvSpPr txBox="1"/>
          <p:nvPr/>
        </p:nvSpPr>
        <p:spPr>
          <a:xfrm>
            <a:off x="8284463" y="3209544"/>
            <a:ext cx="3246120" cy="65836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Verified labels are reused; check only MRP and batch.</a:t>
            </a:r>
          </a:p>
        </p:txBody>
      </p:sp>
      <p:sp>
        <p:nvSpPr>
          <p:cNvPr id="56" name="Rounded Rectangle 55"/>
          <p:cNvSpPr/>
          <p:nvPr/>
        </p:nvSpPr>
        <p:spPr>
          <a:xfrm>
            <a:off x="8266175"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30183"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Scan barcode</a:t>
            </a:r>
          </a:p>
        </p:txBody>
      </p:sp>
      <p:sp>
        <p:nvSpPr>
          <p:cNvPr id="58" name="TextBox 57"/>
          <p:cNvSpPr txBox="1"/>
          <p:nvPr/>
        </p:nvSpPr>
        <p:spPr>
          <a:xfrm>
            <a:off x="9256776"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59" name="Rounded Rectangle 58"/>
          <p:cNvSpPr/>
          <p:nvPr/>
        </p:nvSpPr>
        <p:spPr>
          <a:xfrm>
            <a:off x="9421368"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485376"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Fetch result</a:t>
            </a:r>
          </a:p>
        </p:txBody>
      </p:sp>
      <p:sp>
        <p:nvSpPr>
          <p:cNvPr id="61" name="TextBox 60"/>
          <p:cNvSpPr txBox="1"/>
          <p:nvPr/>
        </p:nvSpPr>
        <p:spPr>
          <a:xfrm>
            <a:off x="10411968" y="4142231"/>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62" name="Rounded Rectangle 61"/>
          <p:cNvSpPr/>
          <p:nvPr/>
        </p:nvSpPr>
        <p:spPr>
          <a:xfrm>
            <a:off x="10576560" y="4014215"/>
            <a:ext cx="990599"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40568" y="4078224"/>
            <a:ext cx="862583" cy="548640"/>
          </a:xfrm>
          <a:prstGeom prst="rect">
            <a:avLst/>
          </a:prstGeom>
          <a:noFill/>
        </p:spPr>
        <p:txBody>
          <a:bodyPr wrap="square" lIns="0" tIns="0" rIns="0" bIns="0">
            <a:spAutoFit/>
          </a:bodyPr>
          <a:lstStyle/>
          <a:p>
            <a:pPr algn="ctr">
              <a:lnSpc>
                <a:spcPct val="104000"/>
              </a:lnSpc>
              <a:spcBef>
                <a:spcPts val="0"/>
              </a:spcBef>
              <a:spcAft>
                <a:spcPts val="200"/>
              </a:spcAft>
              <a:defRPr sz="1400" b="1">
                <a:solidFill>
                  <a:srgbClr val="006E75"/>
                </a:solidFill>
                <a:latin typeface="Calibri"/>
              </a:defRPr>
            </a:pPr>
            <a:r>
              <a:t>Check changes</a:t>
            </a:r>
          </a:p>
        </p:txBody>
      </p:sp>
      <p:sp>
        <p:nvSpPr>
          <p:cNvPr id="64" name="TextBox 63"/>
          <p:cNvSpPr txBox="1"/>
          <p:nvPr/>
        </p:nvSpPr>
        <p:spPr>
          <a:xfrm>
            <a:off x="8284463" y="4873752"/>
            <a:ext cx="3200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VALUE</a:t>
            </a:r>
          </a:p>
        </p:txBody>
      </p:sp>
      <p:sp>
        <p:nvSpPr>
          <p:cNvPr id="65" name="TextBox 64"/>
          <p:cNvSpPr txBox="1"/>
          <p:nvPr/>
        </p:nvSpPr>
        <p:spPr>
          <a:xfrm>
            <a:off x="8284463" y="5120640"/>
            <a:ext cx="3246120" cy="484632"/>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Removes repeat checks across shops.</a:t>
            </a:r>
          </a:p>
        </p:txBody>
      </p:sp>
      <p:sp>
        <p:nvSpPr>
          <p:cNvPr id="66" name="TextBox 65"/>
          <p:cNvSpPr txBox="1"/>
          <p:nvPr/>
        </p:nvSpPr>
        <p:spPr>
          <a:xfrm>
            <a:off x="8284463" y="5641848"/>
            <a:ext cx="3246120"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Assumption: stable labels; department hosts record. P2-A03.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06</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Learn from concept feedback</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Show what people challenged and what changed—not a collection of positive votes.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6/11</a:t>
            </a:r>
          </a:p>
        </p:txBody>
      </p:sp>
      <p:sp>
        <p:nvSpPr>
          <p:cNvPr id="19" name="Rounded Rectangle 18"/>
          <p:cNvSpPr/>
          <p:nvPr/>
        </p:nvSpPr>
        <p:spPr>
          <a:xfrm>
            <a:off x="457200" y="1828800"/>
            <a:ext cx="11274552" cy="658368"/>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 y="1920240"/>
            <a:ext cx="10981944" cy="475488"/>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PLANNED, NOT COMPLETED: 0 feedback sessions; 0 primary users. Plan: 3 inspectors + 1 approver, same scenario, 3 storyboards, consent; 18–21 Oct (Planned).</a:t>
            </a:r>
          </a:p>
        </p:txBody>
      </p:sp>
      <p:graphicFrame>
        <p:nvGraphicFramePr>
          <p:cNvPr id="21" name="Table 20"/>
          <p:cNvGraphicFramePr>
            <a:graphicFrameLocks noGrp="1"/>
          </p:cNvGraphicFramePr>
          <p:nvPr/>
        </p:nvGraphicFramePr>
        <p:xfrm>
          <a:off x="457200" y="2688336"/>
          <a:ext cx="11274552" cy="2313432"/>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gridCol w="4736592">
                  <a:extLst>
                    <a:ext uri="{9D8B030D-6E8A-4147-A177-3AD203B41FA5}">
                      <a16:colId xmlns:a16="http://schemas.microsoft.com/office/drawing/2014/main" val="20002"/>
                    </a:ext>
                  </a:extLst>
                </a:gridCol>
              </a:tblGrid>
              <a:tr h="393192">
                <a:tc>
                  <a:txBody>
                    <a:bodyPr/>
                    <a:lstStyle/>
                    <a:p>
                      <a:pPr>
                        <a:lnSpc>
                          <a:spcPct val="104000"/>
                        </a:lnSpc>
                        <a:spcAft>
                          <a:spcPts val="0"/>
                        </a:spcAft>
                        <a:defRPr sz="1300" b="1">
                          <a:solidFill>
                            <a:srgbClr val="FFFFFF"/>
                          </a:solidFill>
                          <a:latin typeface="Calibri"/>
                        </a:defRPr>
                      </a:pPr>
                      <a:r>
                        <a:t>Concept</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Reaction / task evidence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Revision or response</a:t>
                      </a:r>
                    </a:p>
                  </a:txBody>
                  <a:tcPr marL="109728" marR="109728" marT="64008" marB="64008" anchor="ctr">
                    <a:solidFill>
                      <a:srgbClr val="153347"/>
                    </a:solidFill>
                  </a:tcPr>
                </a:tc>
                <a:extLst>
                  <a:ext uri="{0D108BD9-81ED-4DB2-BD59-A6C34878D82A}">
                    <a16:rowId xmlns:a16="http://schemas.microsoft.com/office/drawing/2014/main" val="10000"/>
                  </a:ext>
                </a:extLst>
              </a:tr>
              <a:tr h="640080">
                <a:tc>
                  <a:txBody>
                    <a:bodyPr/>
                    <a:lstStyle/>
                    <a:p>
                      <a:pPr>
                        <a:lnSpc>
                          <a:spcPct val="104000"/>
                        </a:lnSpc>
                        <a:spcAft>
                          <a:spcPts val="0"/>
                        </a:spcAft>
                        <a:defRPr sz="1600" b="0">
                          <a:solidFill>
                            <a:srgbClr val="243A49"/>
                          </a:solidFill>
                          <a:latin typeface="Calibri"/>
                        </a:defRPr>
                      </a:pPr>
                      <a:r>
                        <a:t>I01</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Not yet collected. To test: would a card replace memory?</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Record after sessions (Planned)</a:t>
                      </a:r>
                    </a:p>
                  </a:txBody>
                  <a:tcPr marL="109728" marR="109728" marT="64008" marB="64008" anchor="ctr">
                    <a:solidFill>
                      <a:srgbClr val="FFFFFF"/>
                    </a:solidFill>
                  </a:tcPr>
                </a:tc>
                <a:extLst>
                  <a:ext uri="{0D108BD9-81ED-4DB2-BD59-A6C34878D82A}">
                    <a16:rowId xmlns:a16="http://schemas.microsoft.com/office/drawing/2014/main" val="10001"/>
                  </a:ext>
                </a:extLst>
              </a:tr>
              <a:tr h="640080">
                <a:tc>
                  <a:txBody>
                    <a:bodyPr/>
                    <a:lstStyle/>
                    <a:p>
                      <a:pPr>
                        <a:lnSpc>
                          <a:spcPct val="104000"/>
                        </a:lnSpc>
                        <a:spcAft>
                          <a:spcPts val="0"/>
                        </a:spcAft>
                        <a:defRPr sz="1600" b="0">
                          <a:solidFill>
                            <a:srgbClr val="243A49"/>
                          </a:solidFill>
                          <a:latin typeface="Calibri"/>
                        </a:defRPr>
                      </a:pPr>
                      <a:r>
                        <a:t>I02</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Not yet collected. To test: trust in OCR flags; effort.</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Record after sessions (Planned)</a:t>
                      </a:r>
                    </a:p>
                  </a:txBody>
                  <a:tcPr marL="109728" marR="109728" marT="64008" marB="64008" anchor="ctr">
                    <a:solidFill>
                      <a:srgbClr val="E7F3F1"/>
                    </a:solidFill>
                  </a:tcPr>
                </a:tc>
                <a:extLst>
                  <a:ext uri="{0D108BD9-81ED-4DB2-BD59-A6C34878D82A}">
                    <a16:rowId xmlns:a16="http://schemas.microsoft.com/office/drawing/2014/main" val="10002"/>
                  </a:ext>
                </a:extLst>
              </a:tr>
              <a:tr h="640080">
                <a:tc>
                  <a:txBody>
                    <a:bodyPr/>
                    <a:lstStyle/>
                    <a:p>
                      <a:pPr>
                        <a:lnSpc>
                          <a:spcPct val="104000"/>
                        </a:lnSpc>
                        <a:spcAft>
                          <a:spcPts val="0"/>
                        </a:spcAft>
                        <a:defRPr sz="1600" b="0">
                          <a:solidFill>
                            <a:srgbClr val="243A49"/>
                          </a:solidFill>
                          <a:latin typeface="Calibri"/>
                        </a:defRPr>
                      </a:pPr>
                      <a:r>
                        <a:t>I03</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Not yet collected. To test: is a shared record wanted and allowed?</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Record after sessions (Planned)</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2" name="Rounded Rectangle 21"/>
          <p:cNvSpPr/>
          <p:nvPr/>
        </p:nvSpPr>
        <p:spPr>
          <a:xfrm>
            <a:off x="457200" y="5257800"/>
            <a:ext cx="6419088" cy="950976"/>
          </a:xfrm>
          <a:prstGeom prst="roundRect">
            <a:avLst>
              <a:gd name="adj" fmla="val 8000"/>
            </a:avLst>
          </a:prstGeom>
          <a:solidFill>
            <a:srgbClr val="FFF3D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5376672"/>
            <a:ext cx="608990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CONTRADICTION</a:t>
            </a:r>
          </a:p>
        </p:txBody>
      </p:sp>
      <p:sp>
        <p:nvSpPr>
          <p:cNvPr id="24" name="TextBox 23"/>
          <p:cNvSpPr txBox="1"/>
          <p:nvPr/>
        </p:nvSpPr>
        <p:spPr>
          <a:xfrm>
            <a:off x="621792" y="5623560"/>
            <a:ext cx="6089903" cy="502920"/>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None yet. Hypothesis, not evidence: inspectors may prefer paper and distrust automatic flags.</a:t>
            </a:r>
          </a:p>
        </p:txBody>
      </p:sp>
      <p:sp>
        <p:nvSpPr>
          <p:cNvPr id="25" name="Rounded Rectangle 24"/>
          <p:cNvSpPr/>
          <p:nvPr/>
        </p:nvSpPr>
        <p:spPr>
          <a:xfrm>
            <a:off x="7059168" y="5257800"/>
            <a:ext cx="467258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59" y="5376672"/>
            <a:ext cx="43434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LIMITS / NEXT EVIDENCE</a:t>
            </a:r>
          </a:p>
        </p:txBody>
      </p:sp>
      <p:sp>
        <p:nvSpPr>
          <p:cNvPr id="27" name="TextBox 26"/>
          <p:cNvSpPr txBox="1"/>
          <p:nvPr/>
        </p:nvSpPr>
        <p:spPr>
          <a:xfrm>
            <a:off x="7223759" y="5623560"/>
            <a:ext cx="4343400"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No real feedback yet; E01 is simulated. Sessions: 18–21 Oct.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07</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Select with evidence and trade-offs</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Use the same criteria for all three concepts; serious risks override a high score.</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7/11</a:t>
            </a:r>
          </a:p>
        </p:txBody>
      </p:sp>
      <p:graphicFrame>
        <p:nvGraphicFramePr>
          <p:cNvPr id="19" name="Table 18"/>
          <p:cNvGraphicFramePr>
            <a:graphicFrameLocks noGrp="1"/>
          </p:cNvGraphicFramePr>
          <p:nvPr/>
        </p:nvGraphicFramePr>
        <p:xfrm>
          <a:off x="457200" y="1828800"/>
          <a:ext cx="5138927" cy="2450592"/>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987552">
                  <a:extLst>
                    <a:ext uri="{9D8B030D-6E8A-4147-A177-3AD203B41FA5}">
                      <a16:colId xmlns:a16="http://schemas.microsoft.com/office/drawing/2014/main" val="20001"/>
                    </a:ext>
                  </a:extLst>
                </a:gridCol>
                <a:gridCol w="758952">
                  <a:extLst>
                    <a:ext uri="{9D8B030D-6E8A-4147-A177-3AD203B41FA5}">
                      <a16:colId xmlns:a16="http://schemas.microsoft.com/office/drawing/2014/main" val="20002"/>
                    </a:ext>
                  </a:extLst>
                </a:gridCol>
                <a:gridCol w="758952">
                  <a:extLst>
                    <a:ext uri="{9D8B030D-6E8A-4147-A177-3AD203B41FA5}">
                      <a16:colId xmlns:a16="http://schemas.microsoft.com/office/drawing/2014/main" val="20003"/>
                    </a:ext>
                  </a:extLst>
                </a:gridCol>
                <a:gridCol w="758952">
                  <a:extLst>
                    <a:ext uri="{9D8B030D-6E8A-4147-A177-3AD203B41FA5}">
                      <a16:colId xmlns:a16="http://schemas.microsoft.com/office/drawing/2014/main" val="20004"/>
                    </a:ext>
                  </a:extLst>
                </a:gridCol>
              </a:tblGrid>
              <a:tr h="365760">
                <a:tc>
                  <a:txBody>
                    <a:bodyPr/>
                    <a:lstStyle/>
                    <a:p>
                      <a:pPr>
                        <a:lnSpc>
                          <a:spcPct val="104000"/>
                        </a:lnSpc>
                        <a:spcAft>
                          <a:spcPts val="0"/>
                        </a:spcAft>
                        <a:defRPr sz="1300" b="1">
                          <a:solidFill>
                            <a:srgbClr val="FFFFFF"/>
                          </a:solidFill>
                          <a:latin typeface="Calibri"/>
                        </a:defRPr>
                      </a:pPr>
                      <a:r>
                        <a:t>Criterion</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Weight</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I01</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I02</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I03</a:t>
                      </a:r>
                    </a:p>
                  </a:txBody>
                  <a:tcPr marL="109728" marR="109728" marT="64008" marB="64008" anchor="ctr">
                    <a:solidFill>
                      <a:srgbClr val="153347"/>
                    </a:solidFill>
                  </a:tcPr>
                </a:tc>
                <a:extLst>
                  <a:ext uri="{0D108BD9-81ED-4DB2-BD59-A6C34878D82A}">
                    <a16:rowId xmlns:a16="http://schemas.microsoft.com/office/drawing/2014/main" val="10000"/>
                  </a:ext>
                </a:extLst>
              </a:tr>
              <a:tr h="411480">
                <a:tc>
                  <a:txBody>
                    <a:bodyPr/>
                    <a:lstStyle/>
                    <a:p>
                      <a:pPr>
                        <a:lnSpc>
                          <a:spcPct val="104000"/>
                        </a:lnSpc>
                        <a:spcAft>
                          <a:spcPts val="0"/>
                        </a:spcAft>
                        <a:defRPr sz="1600" b="0">
                          <a:solidFill>
                            <a:srgbClr val="243A49"/>
                          </a:solidFill>
                          <a:latin typeface="Calibri"/>
                        </a:defRPr>
                      </a:pPr>
                      <a:r>
                        <a:t>Desirability</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35</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U</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U</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U</a:t>
                      </a:r>
                    </a:p>
                  </a:txBody>
                  <a:tcPr marL="109728" marR="109728" marT="64008" marB="64008" anchor="ctr">
                    <a:solidFill>
                      <a:srgbClr val="FFFFFF"/>
                    </a:solidFill>
                  </a:tcPr>
                </a:tc>
                <a:extLst>
                  <a:ext uri="{0D108BD9-81ED-4DB2-BD59-A6C34878D82A}">
                    <a16:rowId xmlns:a16="http://schemas.microsoft.com/office/drawing/2014/main" val="10001"/>
                  </a:ext>
                </a:extLst>
              </a:tr>
              <a:tr h="411480">
                <a:tc>
                  <a:txBody>
                    <a:bodyPr/>
                    <a:lstStyle/>
                    <a:p>
                      <a:pPr>
                        <a:lnSpc>
                          <a:spcPct val="104000"/>
                        </a:lnSpc>
                        <a:spcAft>
                          <a:spcPts val="0"/>
                        </a:spcAft>
                        <a:defRPr sz="1600" b="0">
                          <a:solidFill>
                            <a:srgbClr val="243A49"/>
                          </a:solidFill>
                          <a:latin typeface="Calibri"/>
                        </a:defRPr>
                      </a:pPr>
                      <a:r>
                        <a:t>Feasibility</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25</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3*</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a:t>
                      </a:r>
                    </a:p>
                  </a:txBody>
                  <a:tcPr marL="109728" marR="109728" marT="64008" marB="64008" anchor="ctr">
                    <a:solidFill>
                      <a:srgbClr val="E7F3F1"/>
                    </a:solidFill>
                  </a:tcPr>
                </a:tc>
                <a:extLst>
                  <a:ext uri="{0D108BD9-81ED-4DB2-BD59-A6C34878D82A}">
                    <a16:rowId xmlns:a16="http://schemas.microsoft.com/office/drawing/2014/main" val="10002"/>
                  </a:ext>
                </a:extLst>
              </a:tr>
              <a:tr h="411480">
                <a:tc>
                  <a:txBody>
                    <a:bodyPr/>
                    <a:lstStyle/>
                    <a:p>
                      <a:pPr>
                        <a:lnSpc>
                          <a:spcPct val="104000"/>
                        </a:lnSpc>
                        <a:spcAft>
                          <a:spcPts val="0"/>
                        </a:spcAft>
                        <a:defRPr sz="1600" b="0">
                          <a:solidFill>
                            <a:srgbClr val="243A49"/>
                          </a:solidFill>
                          <a:latin typeface="Calibri"/>
                        </a:defRPr>
                      </a:pPr>
                      <a:r>
                        <a:t>Viability / Value</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20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3*</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FFFFFF"/>
                    </a:solidFill>
                  </a:tcPr>
                </a:tc>
                <a:extLst>
                  <a:ext uri="{0D108BD9-81ED-4DB2-BD59-A6C34878D82A}">
                    <a16:rowId xmlns:a16="http://schemas.microsoft.com/office/drawing/2014/main" val="10003"/>
                  </a:ext>
                </a:extLst>
              </a:tr>
              <a:tr h="411480">
                <a:tc>
                  <a:txBody>
                    <a:bodyPr/>
                    <a:lstStyle/>
                    <a:p>
                      <a:pPr>
                        <a:lnSpc>
                          <a:spcPct val="104000"/>
                        </a:lnSpc>
                        <a:spcAft>
                          <a:spcPts val="0"/>
                        </a:spcAft>
                        <a:defRPr sz="1600" b="0">
                          <a:solidFill>
                            <a:srgbClr val="243A49"/>
                          </a:solidFill>
                          <a:latin typeface="Calibri"/>
                        </a:defRPr>
                      </a:pPr>
                      <a:r>
                        <a:t>Responsibility</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20</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5*</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4*</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3*</a:t>
                      </a:r>
                    </a:p>
                  </a:txBody>
                  <a:tcPr marL="109728" marR="109728" marT="64008" marB="64008" anchor="ctr">
                    <a:solidFill>
                      <a:srgbClr val="E7F3F1"/>
                    </a:solidFill>
                  </a:tcPr>
                </a:tc>
                <a:extLst>
                  <a:ext uri="{0D108BD9-81ED-4DB2-BD59-A6C34878D82A}">
                    <a16:rowId xmlns:a16="http://schemas.microsoft.com/office/drawing/2014/main" val="10004"/>
                  </a:ext>
                </a:extLst>
              </a:tr>
              <a:tr h="438912">
                <a:tc>
                  <a:txBody>
                    <a:bodyPr/>
                    <a:lstStyle/>
                    <a:p>
                      <a:pPr>
                        <a:lnSpc>
                          <a:spcPct val="104000"/>
                        </a:lnSpc>
                        <a:spcAft>
                          <a:spcPts val="0"/>
                        </a:spcAft>
                        <a:defRPr sz="1600" b="0">
                          <a:solidFill>
                            <a:srgbClr val="243A49"/>
                          </a:solidFill>
                          <a:latin typeface="Calibri"/>
                        </a:defRPr>
                      </a:pPr>
                      <a:r>
                        <a:t>Total / 100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100</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t>
                      </a:r>
                    </a:p>
                  </a:txBody>
                  <a:tcPr marL="109728" marR="109728" marT="64008" marB="64008" anchor="ctr">
                    <a:solidFill>
                      <a:srgbClr val="FFFFFF"/>
                    </a:solidFill>
                  </a:tcPr>
                </a:tc>
                <a:extLst>
                  <a:ext uri="{0D108BD9-81ED-4DB2-BD59-A6C34878D82A}">
                    <a16:rowId xmlns:a16="http://schemas.microsoft.com/office/drawing/2014/main" val="10005"/>
                  </a:ext>
                </a:extLst>
              </a:tr>
            </a:tbl>
          </a:graphicData>
        </a:graphic>
      </p:graphicFrame>
      <p:sp>
        <p:nvSpPr>
          <p:cNvPr id="20" name="TextBox 19"/>
          <p:cNvSpPr txBox="1"/>
          <p:nvPr/>
        </p:nvSpPr>
        <p:spPr>
          <a:xfrm>
            <a:off x="475488" y="4507992"/>
            <a:ext cx="5074920" cy="548640"/>
          </a:xfrm>
          <a:prstGeom prst="rect">
            <a:avLst/>
          </a:prstGeom>
          <a:noFill/>
        </p:spPr>
        <p:txBody>
          <a:bodyPr wrap="square" lIns="0" tIns="0" rIns="0" bIns="0">
            <a:spAutoFit/>
          </a:bodyPr>
          <a:lstStyle/>
          <a:p>
            <a:pPr>
              <a:lnSpc>
                <a:spcPct val="104000"/>
              </a:lnSpc>
              <a:spcBef>
                <a:spcPts val="0"/>
              </a:spcBef>
              <a:spcAft>
                <a:spcPts val="200"/>
              </a:spcAft>
              <a:defRPr sz="1450" b="0">
                <a:solidFill>
                  <a:srgbClr val="597080"/>
                </a:solidFill>
                <a:latin typeface="Calibri"/>
              </a:defRPr>
            </a:pPr>
            <a:r>
              <a:t>Total = Σ(weight × rating ÷ 5)</a:t>
            </a:r>
          </a:p>
          <a:p>
            <a:pPr>
              <a:lnSpc>
                <a:spcPct val="104000"/>
              </a:lnSpc>
              <a:spcBef>
                <a:spcPts val="0"/>
              </a:spcBef>
              <a:spcAft>
                <a:spcPts val="200"/>
              </a:spcAft>
              <a:defRPr sz="1450" b="0">
                <a:solidFill>
                  <a:srgbClr val="597080"/>
                </a:solidFill>
                <a:latin typeface="Calibri"/>
              </a:defRPr>
            </a:pPr>
            <a:r>
              <a:t>1 = weak; 5 = strong; U = unknown → no total.</a:t>
            </a:r>
          </a:p>
        </p:txBody>
      </p:sp>
      <p:sp>
        <p:nvSpPr>
          <p:cNvPr id="21" name="TextBox 20"/>
          <p:cNvSpPr txBox="1"/>
          <p:nvPr/>
        </p:nvSpPr>
        <p:spPr>
          <a:xfrm>
            <a:off x="475488" y="5166360"/>
            <a:ext cx="5074920" cy="566928"/>
          </a:xfrm>
          <a:prstGeom prst="rect">
            <a:avLst/>
          </a:prstGeom>
          <a:noFill/>
        </p:spPr>
        <p:txBody>
          <a:bodyPr wrap="square" lIns="0" tIns="0" rIns="0" bIns="0">
            <a:spAutoFit/>
          </a:bodyPr>
          <a:lstStyle/>
          <a:p>
            <a:pPr>
              <a:lnSpc>
                <a:spcPct val="104000"/>
              </a:lnSpc>
              <a:spcBef>
                <a:spcPts val="0"/>
              </a:spcBef>
              <a:spcAft>
                <a:spcPts val="200"/>
              </a:spcAft>
              <a:defRPr sz="1400" b="0">
                <a:solidFill>
                  <a:srgbClr val="597080"/>
                </a:solidFill>
                <a:latin typeface="Calibri"/>
              </a:defRPr>
            </a:pPr>
            <a:r>
              <a:t>Recommended default: D35 / F25 / V20 / R20.</a:t>
            </a:r>
          </a:p>
          <a:p>
            <a:pPr>
              <a:lnSpc>
                <a:spcPct val="104000"/>
              </a:lnSpc>
              <a:spcBef>
                <a:spcPts val="0"/>
              </a:spcBef>
              <a:spcAft>
                <a:spcPts val="200"/>
              </a:spcAft>
              <a:defRPr sz="1400" b="0">
                <a:solidFill>
                  <a:srgbClr val="597080"/>
                </a:solidFill>
                <a:latin typeface="Calibri"/>
              </a:defRPr>
            </a:pPr>
            <a:r>
              <a:t>Agree weights before scoring; support ratings with evidence.</a:t>
            </a:r>
          </a:p>
        </p:txBody>
      </p:sp>
      <p:sp>
        <p:nvSpPr>
          <p:cNvPr id="22" name="Rounded Rectangle 21"/>
          <p:cNvSpPr/>
          <p:nvPr/>
        </p:nvSpPr>
        <p:spPr>
          <a:xfrm>
            <a:off x="5815584" y="1828800"/>
            <a:ext cx="5916168" cy="832104"/>
          </a:xfrm>
          <a:prstGeom prst="roundRect">
            <a:avLst>
              <a:gd name="adj" fmla="val 8000"/>
            </a:avLst>
          </a:prstGeom>
          <a:solidFill>
            <a:srgbClr val="E7F3F1"/>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80176" y="1947672"/>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SELECTED CONCEPT</a:t>
            </a:r>
          </a:p>
        </p:txBody>
      </p:sp>
      <p:sp>
        <p:nvSpPr>
          <p:cNvPr id="24" name="TextBox 23"/>
          <p:cNvSpPr txBox="1"/>
          <p:nvPr/>
        </p:nvSpPr>
        <p:spPr>
          <a:xfrm>
            <a:off x="5980176" y="2194560"/>
            <a:ext cx="5586983" cy="384048"/>
          </a:xfrm>
          <a:prstGeom prst="rect">
            <a:avLst/>
          </a:prstGeom>
          <a:noFill/>
        </p:spPr>
        <p:txBody>
          <a:bodyPr wrap="square" lIns="0" tIns="0" rIns="0" bIns="0">
            <a:spAutoFit/>
          </a:bodyPr>
          <a:lstStyle/>
          <a:p>
            <a:pPr>
              <a:lnSpc>
                <a:spcPct val="104000"/>
              </a:lnSpc>
              <a:spcBef>
                <a:spcPts val="0"/>
              </a:spcBef>
              <a:spcAft>
                <a:spcPts val="200"/>
              </a:spcAft>
              <a:defRPr sz="2000" b="0">
                <a:solidFill>
                  <a:srgbClr val="243A49"/>
                </a:solidFill>
                <a:latin typeface="Calibri"/>
              </a:defRPr>
            </a:pPr>
            <a:r>
              <a:t>Not yet selected (lean: I02)</a:t>
            </a:r>
          </a:p>
        </p:txBody>
      </p:sp>
      <p:sp>
        <p:nvSpPr>
          <p:cNvPr id="25" name="Rounded Rectangle 24"/>
          <p:cNvSpPr/>
          <p:nvPr/>
        </p:nvSpPr>
        <p:spPr>
          <a:xfrm>
            <a:off x="5815584" y="2798064"/>
            <a:ext cx="5916168"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80176" y="2916936"/>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WHY SELECTED</a:t>
            </a:r>
          </a:p>
        </p:txBody>
      </p:sp>
      <p:sp>
        <p:nvSpPr>
          <p:cNvPr id="27" name="TextBox 26"/>
          <p:cNvSpPr txBox="1"/>
          <p:nvPr/>
        </p:nvSpPr>
        <p:spPr>
          <a:xfrm>
            <a:off x="5980176" y="3163824"/>
            <a:ext cx="5586983" cy="502920"/>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I02 targets the reported pain and reuses existing OCR. Desirability unproven.</a:t>
            </a:r>
          </a:p>
        </p:txBody>
      </p:sp>
      <p:sp>
        <p:nvSpPr>
          <p:cNvPr id="28" name="Rounded Rectangle 27"/>
          <p:cNvSpPr/>
          <p:nvPr/>
        </p:nvSpPr>
        <p:spPr>
          <a:xfrm>
            <a:off x="5815584" y="3886200"/>
            <a:ext cx="5916168" cy="96012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80176" y="4005072"/>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WHY NOT THE OTHERS</a:t>
            </a:r>
          </a:p>
        </p:txBody>
      </p:sp>
      <p:sp>
        <p:nvSpPr>
          <p:cNvPr id="30" name="TextBox 29"/>
          <p:cNvSpPr txBox="1"/>
          <p:nvPr/>
        </p:nvSpPr>
        <p:spPr>
          <a:xfrm>
            <a:off x="5980176" y="4251960"/>
            <a:ext cx="5586983" cy="512064"/>
          </a:xfrm>
          <a:prstGeom prst="rect">
            <a:avLst/>
          </a:prstGeom>
          <a:noFill/>
        </p:spPr>
        <p:txBody>
          <a:bodyPr wrap="square" lIns="0" tIns="0" rIns="0" bIns="0">
            <a:spAutoFit/>
          </a:bodyPr>
          <a:lstStyle/>
          <a:p>
            <a:pPr>
              <a:lnSpc>
                <a:spcPct val="104000"/>
              </a:lnSpc>
              <a:spcBef>
                <a:spcPts val="0"/>
              </a:spcBef>
              <a:spcAft>
                <a:spcPts val="200"/>
              </a:spcAft>
              <a:defRPr sz="1650" b="0">
                <a:solidFill>
                  <a:srgbClr val="243A49"/>
                </a:solidFill>
                <a:latin typeface="Calibri"/>
              </a:defRPr>
            </a:pPr>
            <a:r>
              <a:t>I01 is the fallback; I03 needs hosting approval, so it is deferred.</a:t>
            </a:r>
          </a:p>
        </p:txBody>
      </p:sp>
      <p:sp>
        <p:nvSpPr>
          <p:cNvPr id="31" name="Rounded Rectangle 30"/>
          <p:cNvSpPr/>
          <p:nvPr/>
        </p:nvSpPr>
        <p:spPr>
          <a:xfrm>
            <a:off x="5815584" y="4983480"/>
            <a:ext cx="5916168" cy="90525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80176" y="5102352"/>
            <a:ext cx="558698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SENSITIVITY CHECK</a:t>
            </a:r>
          </a:p>
        </p:txBody>
      </p:sp>
      <p:sp>
        <p:nvSpPr>
          <p:cNvPr id="33" name="TextBox 32"/>
          <p:cNvSpPr txBox="1"/>
          <p:nvPr/>
        </p:nvSpPr>
        <p:spPr>
          <a:xfrm>
            <a:off x="5980176" y="5349240"/>
            <a:ext cx="5586983"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 Team estimates. D unknown, so no totals. Feedback may reverse the lean.</a:t>
            </a:r>
          </a:p>
        </p:txBody>
      </p:sp>
      <p:sp>
        <p:nvSpPr>
          <p:cNvPr id="34" name="Rounded Rectangle 33"/>
          <p:cNvSpPr/>
          <p:nvPr/>
        </p:nvSpPr>
        <p:spPr>
          <a:xfrm>
            <a:off x="457200" y="5943600"/>
            <a:ext cx="11274552" cy="310896"/>
          </a:xfrm>
          <a:prstGeom prst="roundRect">
            <a:avLst>
              <a:gd name="adj" fmla="val 8000"/>
            </a:avLst>
          </a:prstGeom>
          <a:solidFill>
            <a:srgbClr val="FFF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3504" y="5989320"/>
            <a:ext cx="10981944" cy="219456"/>
          </a:xfrm>
          <a:prstGeom prst="rect">
            <a:avLst/>
          </a:prstGeom>
          <a:noFill/>
        </p:spPr>
        <p:txBody>
          <a:bodyPr wrap="square" lIns="0" tIns="0" rIns="0" bIns="0">
            <a:spAutoFit/>
          </a:bodyPr>
          <a:lstStyle/>
          <a:p>
            <a:pPr>
              <a:lnSpc>
                <a:spcPct val="104000"/>
              </a:lnSpc>
              <a:spcBef>
                <a:spcPts val="0"/>
              </a:spcBef>
              <a:spcAft>
                <a:spcPts val="200"/>
              </a:spcAft>
              <a:defRPr sz="1350" b="0">
                <a:solidFill>
                  <a:srgbClr val="243A49"/>
                </a:solidFill>
                <a:latin typeface="Calibri"/>
              </a:defRPr>
            </a:pPr>
            <a:r>
              <a:t>Responsibility gate: Conditional. Team-photographed packs only, no enforcement use, inspector decides; department permission needed for field use.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08</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Explain the chosen concept and scope</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Define a testable slice. The rest is explicitly outside the next phase.</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8/11</a:t>
            </a:r>
          </a:p>
        </p:txBody>
      </p:sp>
      <p:sp>
        <p:nvSpPr>
          <p:cNvPr id="19" name="TextBox 18"/>
          <p:cNvSpPr txBox="1"/>
          <p:nvPr/>
        </p:nvSpPr>
        <p:spPr>
          <a:xfrm>
            <a:off x="457200" y="1828800"/>
            <a:ext cx="1124712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I02 — PHOTO-TO-CHECKLIST ASSISTANT (PROVISIONAL)</a:t>
            </a:r>
          </a:p>
        </p:txBody>
      </p:sp>
      <p:sp>
        <p:nvSpPr>
          <p:cNvPr id="20" name="Rounded Rectangle 19"/>
          <p:cNvSpPr/>
          <p:nvPr/>
        </p:nvSpPr>
        <p:spPr>
          <a:xfrm>
            <a:off x="457200"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Inspector photographs pack</a:t>
            </a:r>
          </a:p>
        </p:txBody>
      </p:sp>
      <p:sp>
        <p:nvSpPr>
          <p:cNvPr id="22" name="TextBox 21"/>
          <p:cNvSpPr txBox="1"/>
          <p:nvPr/>
        </p:nvSpPr>
        <p:spPr>
          <a:xfrm>
            <a:off x="3152394" y="2331720"/>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3" name="Rounded Rectangle 22"/>
          <p:cNvSpPr/>
          <p:nvPr/>
        </p:nvSpPr>
        <p:spPr>
          <a:xfrm>
            <a:off x="3316986"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80994"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OCR reads; rules check fields</a:t>
            </a:r>
          </a:p>
        </p:txBody>
      </p:sp>
      <p:sp>
        <p:nvSpPr>
          <p:cNvPr id="25" name="TextBox 24"/>
          <p:cNvSpPr txBox="1"/>
          <p:nvPr/>
        </p:nvSpPr>
        <p:spPr>
          <a:xfrm>
            <a:off x="6012179" y="2331720"/>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6" name="Rounded Rectangle 25"/>
          <p:cNvSpPr/>
          <p:nvPr/>
        </p:nvSpPr>
        <p:spPr>
          <a:xfrm>
            <a:off x="6176772"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40780"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Inspector confirms or corrects</a:t>
            </a:r>
          </a:p>
        </p:txBody>
      </p:sp>
      <p:sp>
        <p:nvSpPr>
          <p:cNvPr id="28" name="TextBox 27"/>
          <p:cNvSpPr txBox="1"/>
          <p:nvPr/>
        </p:nvSpPr>
        <p:spPr>
          <a:xfrm>
            <a:off x="8871966" y="2331720"/>
            <a:ext cx="164592" cy="338328"/>
          </a:xfrm>
          <a:prstGeom prst="rect">
            <a:avLst/>
          </a:prstGeom>
          <a:noFill/>
        </p:spPr>
        <p:txBody>
          <a:bodyPr wrap="square" lIns="0" tIns="0" rIns="0" bIns="0">
            <a:spAutoFit/>
          </a:bodyPr>
          <a:lstStyle/>
          <a:p>
            <a:pPr algn="ctr">
              <a:lnSpc>
                <a:spcPct val="104000"/>
              </a:lnSpc>
              <a:spcBef>
                <a:spcPts val="0"/>
              </a:spcBef>
              <a:spcAft>
                <a:spcPts val="200"/>
              </a:spcAft>
              <a:defRPr sz="2100" b="1">
                <a:solidFill>
                  <a:srgbClr val="006E75"/>
                </a:solidFill>
                <a:latin typeface="Calibri"/>
              </a:defRPr>
            </a:pPr>
            <a:r>
              <a:t>›</a:t>
            </a:r>
          </a:p>
        </p:txBody>
      </p:sp>
      <p:sp>
        <p:nvSpPr>
          <p:cNvPr id="29" name="Rounded Rectangle 28"/>
          <p:cNvSpPr/>
          <p:nvPr/>
        </p:nvSpPr>
        <p:spPr>
          <a:xfrm>
            <a:off x="9036558" y="2203704"/>
            <a:ext cx="2695194" cy="694944"/>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0566" y="2267712"/>
            <a:ext cx="2567177" cy="585216"/>
          </a:xfrm>
          <a:prstGeom prst="rect">
            <a:avLst/>
          </a:prstGeom>
          <a:noFill/>
        </p:spPr>
        <p:txBody>
          <a:bodyPr wrap="square" lIns="0" tIns="0" rIns="0" bIns="0">
            <a:spAutoFit/>
          </a:bodyPr>
          <a:lstStyle/>
          <a:p>
            <a:pPr algn="ctr">
              <a:lnSpc>
                <a:spcPct val="104000"/>
              </a:lnSpc>
              <a:spcBef>
                <a:spcPts val="0"/>
              </a:spcBef>
              <a:spcAft>
                <a:spcPts val="200"/>
              </a:spcAft>
              <a:defRPr sz="1700" b="1">
                <a:solidFill>
                  <a:srgbClr val="006E75"/>
                </a:solidFill>
                <a:latin typeface="Calibri"/>
              </a:defRPr>
            </a:pPr>
            <a:r>
              <a:t>Checklist + evidence for report</a:t>
            </a:r>
          </a:p>
        </p:txBody>
      </p:sp>
      <p:sp>
        <p:nvSpPr>
          <p:cNvPr id="31" name="TextBox 30"/>
          <p:cNvSpPr txBox="1"/>
          <p:nvPr/>
        </p:nvSpPr>
        <p:spPr>
          <a:xfrm>
            <a:off x="493776" y="3090672"/>
            <a:ext cx="11201400" cy="640080"/>
          </a:xfrm>
          <a:prstGeom prst="rect">
            <a:avLst/>
          </a:prstGeom>
          <a:noFill/>
        </p:spPr>
        <p:txBody>
          <a:bodyPr wrap="square" lIns="0" tIns="0" rIns="0" bIns="0">
            <a:spAutoFit/>
          </a:bodyPr>
          <a:lstStyle/>
          <a:p>
            <a:pPr>
              <a:lnSpc>
                <a:spcPct val="104000"/>
              </a:lnSpc>
              <a:spcBef>
                <a:spcPts val="0"/>
              </a:spcBef>
              <a:spcAft>
                <a:spcPts val="200"/>
              </a:spcAft>
              <a:defRPr sz="2000" b="0">
                <a:solidFill>
                  <a:srgbClr val="243A49"/>
                </a:solidFill>
                <a:latin typeface="Calibri"/>
              </a:defRPr>
            </a:pPr>
            <a:r>
              <a:t>For field inspectors, I02 improves completeness and speed over manual reading because it checks every declaration and flags unreadable ones. Hypothesis.</a:t>
            </a:r>
          </a:p>
        </p:txBody>
      </p:sp>
      <p:sp>
        <p:nvSpPr>
          <p:cNvPr id="32" name="Rounded Rectangle 31"/>
          <p:cNvSpPr/>
          <p:nvPr/>
        </p:nvSpPr>
        <p:spPr>
          <a:xfrm>
            <a:off x="457200" y="3822191"/>
            <a:ext cx="554126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 y="394106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MUST HAVE</a:t>
            </a:r>
          </a:p>
        </p:txBody>
      </p:sp>
      <p:sp>
        <p:nvSpPr>
          <p:cNvPr id="34" name="TextBox 33"/>
          <p:cNvSpPr txBox="1"/>
          <p:nvPr/>
        </p:nvSpPr>
        <p:spPr>
          <a:xfrm>
            <a:off x="621792" y="4187952"/>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Photo upload; OCR of 7 mandatory fields; present / absent / uncertain flag; inspector confirm</a:t>
            </a:r>
          </a:p>
        </p:txBody>
      </p:sp>
      <p:sp>
        <p:nvSpPr>
          <p:cNvPr id="35" name="Rounded Rectangle 34"/>
          <p:cNvSpPr/>
          <p:nvPr/>
        </p:nvSpPr>
        <p:spPr>
          <a:xfrm>
            <a:off x="6190488" y="3822191"/>
            <a:ext cx="554126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55079" y="394106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SHOULD HAVE</a:t>
            </a:r>
          </a:p>
        </p:txBody>
      </p:sp>
      <p:sp>
        <p:nvSpPr>
          <p:cNvPr id="37" name="TextBox 36"/>
          <p:cNvSpPr txBox="1"/>
          <p:nvPr/>
        </p:nvSpPr>
        <p:spPr>
          <a:xfrm>
            <a:off x="6355079" y="4187952"/>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Font-height estimate with confidence; checklist export</a:t>
            </a:r>
          </a:p>
        </p:txBody>
      </p:sp>
      <p:sp>
        <p:nvSpPr>
          <p:cNvPr id="38" name="Rounded Rectangle 37"/>
          <p:cNvSpPr/>
          <p:nvPr/>
        </p:nvSpPr>
        <p:spPr>
          <a:xfrm>
            <a:off x="457200" y="4846320"/>
            <a:ext cx="5541264" cy="950976"/>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1792" y="4965192"/>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COULD HAVE</a:t>
            </a:r>
          </a:p>
        </p:txBody>
      </p:sp>
      <p:sp>
        <p:nvSpPr>
          <p:cNvPr id="40" name="TextBox 39"/>
          <p:cNvSpPr txBox="1"/>
          <p:nvPr/>
        </p:nvSpPr>
        <p:spPr>
          <a:xfrm>
            <a:off x="621792" y="5212080"/>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Regional-language translation; voice note</a:t>
            </a:r>
          </a:p>
        </p:txBody>
      </p:sp>
      <p:sp>
        <p:nvSpPr>
          <p:cNvPr id="41" name="Rounded Rectangle 40"/>
          <p:cNvSpPr/>
          <p:nvPr/>
        </p:nvSpPr>
        <p:spPr>
          <a:xfrm>
            <a:off x="6190488" y="4846320"/>
            <a:ext cx="5541264" cy="950976"/>
          </a:xfrm>
          <a:prstGeom prst="roundRect">
            <a:avLst>
              <a:gd name="adj" fmla="val 8000"/>
            </a:avLst>
          </a:prstGeom>
          <a:solidFill>
            <a:srgbClr val="EAF0F7"/>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55079" y="4965192"/>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WON’T HAVE IN P3</a:t>
            </a:r>
          </a:p>
        </p:txBody>
      </p:sp>
      <p:sp>
        <p:nvSpPr>
          <p:cNvPr id="43" name="TextBox 42"/>
          <p:cNvSpPr txBox="1"/>
          <p:nvPr/>
        </p:nvSpPr>
        <p:spPr>
          <a:xfrm>
            <a:off x="6355079" y="5212080"/>
            <a:ext cx="5212079" cy="502920"/>
          </a:xfrm>
          <a:prstGeom prst="rect">
            <a:avLst/>
          </a:prstGeom>
          <a:noFill/>
        </p:spPr>
        <p:txBody>
          <a:bodyPr wrap="square" lIns="0" tIns="0" rIns="0" bIns="0">
            <a:spAutoFit/>
          </a:bodyPr>
          <a:lstStyle/>
          <a:p>
            <a:pPr>
              <a:lnSpc>
                <a:spcPct val="104000"/>
              </a:lnSpc>
              <a:spcBef>
                <a:spcPts val="0"/>
              </a:spcBef>
              <a:spcAft>
                <a:spcPts val="200"/>
              </a:spcAft>
              <a:defRPr sz="1600" b="0">
                <a:solidFill>
                  <a:srgbClr val="243A49"/>
                </a:solidFill>
                <a:latin typeface="Calibri"/>
              </a:defRPr>
            </a:pPr>
            <a:r>
              <a:t>Legal verdicts, notices, shared registry (I03), live shop use, consumer app</a:t>
            </a:r>
          </a:p>
        </p:txBody>
      </p:sp>
      <p:sp>
        <p:nvSpPr>
          <p:cNvPr id="44" name="TextBox 43"/>
          <p:cNvSpPr txBox="1"/>
          <p:nvPr/>
        </p:nvSpPr>
        <p:spPr>
          <a:xfrm>
            <a:off x="475488" y="5934456"/>
            <a:ext cx="11155680" cy="310896"/>
          </a:xfrm>
          <a:prstGeom prst="rect">
            <a:avLst/>
          </a:prstGeom>
          <a:noFill/>
        </p:spPr>
        <p:txBody>
          <a:bodyPr wrap="square" lIns="0" tIns="0" rIns="0" bIns="0">
            <a:spAutoFit/>
          </a:bodyPr>
          <a:lstStyle/>
          <a:p>
            <a:pPr>
              <a:lnSpc>
                <a:spcPct val="104000"/>
              </a:lnSpc>
              <a:spcBef>
                <a:spcPts val="0"/>
              </a:spcBef>
              <a:spcAft>
                <a:spcPts val="200"/>
              </a:spcAft>
              <a:defRPr sz="1450" b="0">
                <a:solidFill>
                  <a:srgbClr val="006E75"/>
                </a:solidFill>
                <a:latin typeface="Calibri"/>
              </a:defRPr>
            </a:pPr>
            <a:r>
              <a:t>Failure / fallback: OCR fails or confidence is low → mark UNCERTAIN; inspector reads manually with paper checklist (I01). Test lead pauses the run.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09</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Selected-vertical design check</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Use your selected lab’s design prompts. All seven verticals are explained in the guide and Notes.</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9/11</a:t>
            </a:r>
          </a:p>
        </p:txBody>
      </p:sp>
      <p:sp>
        <p:nvSpPr>
          <p:cNvPr id="19" name="Rounded Rectangle 18"/>
          <p:cNvSpPr/>
          <p:nvPr/>
        </p:nvSpPr>
        <p:spPr>
          <a:xfrm>
            <a:off x="457200" y="1828800"/>
            <a:ext cx="11274552" cy="530352"/>
          </a:xfrm>
          <a:prstGeom prst="roundRect">
            <a:avLst>
              <a:gd name="adj" fmla="val 8000"/>
            </a:avLst>
          </a:prstGeom>
          <a:solidFill>
            <a:srgbClr val="153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 y="1920240"/>
            <a:ext cx="10981944" cy="347471"/>
          </a:xfrm>
          <a:prstGeom prst="rect">
            <a:avLst/>
          </a:prstGeom>
          <a:noFill/>
        </p:spPr>
        <p:txBody>
          <a:bodyPr wrap="square" lIns="0" tIns="0" rIns="0" bIns="0">
            <a:spAutoFit/>
          </a:bodyPr>
          <a:lstStyle/>
          <a:p>
            <a:pPr>
              <a:lnSpc>
                <a:spcPct val="104000"/>
              </a:lnSpc>
              <a:spcBef>
                <a:spcPts val="0"/>
              </a:spcBef>
              <a:spcAft>
                <a:spcPts val="200"/>
              </a:spcAft>
              <a:defRPr sz="1900" b="1">
                <a:solidFill>
                  <a:srgbClr val="FFFFFF"/>
                </a:solidFill>
                <a:latin typeface="Calibri"/>
              </a:defRPr>
            </a:pPr>
            <a:r>
              <a:t>CD — Cloud &amp; DevOps</a:t>
            </a:r>
          </a:p>
        </p:txBody>
      </p:sp>
      <p:sp>
        <p:nvSpPr>
          <p:cNvPr id="21" name="Rounded Rectangle 20"/>
          <p:cNvSpPr/>
          <p:nvPr/>
        </p:nvSpPr>
        <p:spPr>
          <a:xfrm>
            <a:off x="457200" y="2578608"/>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2697479"/>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WHY THIS VERTICAL</a:t>
            </a:r>
          </a:p>
        </p:txBody>
      </p:sp>
      <p:sp>
        <p:nvSpPr>
          <p:cNvPr id="23" name="TextBox 22"/>
          <p:cNvSpPr txBox="1"/>
          <p:nvPr/>
        </p:nvSpPr>
        <p:spPr>
          <a:xfrm>
            <a:off x="621792" y="2944368"/>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The checker must run as a small, reliable service an operator can deploy, update and roll back. Open question: reliability, cost, deployment.</a:t>
            </a:r>
          </a:p>
        </p:txBody>
      </p:sp>
      <p:sp>
        <p:nvSpPr>
          <p:cNvPr id="24" name="Rounded Rectangle 23"/>
          <p:cNvSpPr/>
          <p:nvPr/>
        </p:nvSpPr>
        <p:spPr>
          <a:xfrm>
            <a:off x="6190488" y="2578608"/>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79" y="2697479"/>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EARLY DESIGN / INFORMATION FLOW</a:t>
            </a:r>
          </a:p>
        </p:txBody>
      </p:sp>
      <p:sp>
        <p:nvSpPr>
          <p:cNvPr id="26" name="TextBox 25"/>
          <p:cNvSpPr txBox="1"/>
          <p:nvPr/>
        </p:nvSpPr>
        <p:spPr>
          <a:xfrm>
            <a:off x="6355079" y="2944368"/>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Flow: image → upload API → queue → OCR worker → rule service → results store → report. Each step logged.</a:t>
            </a:r>
          </a:p>
        </p:txBody>
      </p:sp>
      <p:sp>
        <p:nvSpPr>
          <p:cNvPr id="27" name="Rounded Rectangle 26"/>
          <p:cNvSpPr/>
          <p:nvPr/>
        </p:nvSpPr>
        <p:spPr>
          <a:xfrm>
            <a:off x="457200" y="4096511"/>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421538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ACCESS, RESOURCES AND COST</a:t>
            </a:r>
          </a:p>
        </p:txBody>
      </p:sp>
      <p:sp>
        <p:nvSpPr>
          <p:cNvPr id="29" name="TextBox 28"/>
          <p:cNvSpPr txBox="1"/>
          <p:nvPr/>
        </p:nvSpPr>
        <p:spPr>
          <a:xfrm>
            <a:off x="621792" y="4462272"/>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Isolated local / free-tier setup; open-source OCR; ≤ ₹1,000 (Estimated). Department hosting permission: not secured.</a:t>
            </a:r>
          </a:p>
        </p:txBody>
      </p:sp>
      <p:sp>
        <p:nvSpPr>
          <p:cNvPr id="30" name="Rounded Rectangle 29"/>
          <p:cNvSpPr/>
          <p:nvPr/>
        </p:nvSpPr>
        <p:spPr>
          <a:xfrm>
            <a:off x="6190488" y="4096511"/>
            <a:ext cx="5541264" cy="1335024"/>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79" y="4215383"/>
            <a:ext cx="5212079"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RISK, RESPONSIBILITY AND MEASURE</a:t>
            </a:r>
          </a:p>
        </p:txBody>
      </p:sp>
      <p:sp>
        <p:nvSpPr>
          <p:cNvPr id="32" name="TextBox 31"/>
          <p:cNvSpPr txBox="1"/>
          <p:nvPr/>
        </p:nvSpPr>
        <p:spPr>
          <a:xfrm>
            <a:off x="6355079" y="4462272"/>
            <a:ext cx="5212079" cy="886968"/>
          </a:xfrm>
          <a:prstGeom prst="rect">
            <a:avLst/>
          </a:prstGeom>
          <a:noFill/>
        </p:spPr>
        <p:txBody>
          <a:bodyPr wrap="square" lIns="0" tIns="0" rIns="0" bIns="0">
            <a:spAutoFit/>
          </a:bodyPr>
          <a:lstStyle/>
          <a:p>
            <a:pPr>
              <a:lnSpc>
                <a:spcPct val="104000"/>
              </a:lnSpc>
              <a:spcBef>
                <a:spcPts val="0"/>
              </a:spcBef>
              <a:spcAft>
                <a:spcPts val="200"/>
              </a:spcAft>
              <a:defRPr sz="1900" b="0">
                <a:solidFill>
                  <a:srgbClr val="243A49"/>
                </a:solidFill>
                <a:latin typeface="Calibri"/>
              </a:defRPr>
            </a:pPr>
            <a:r>
              <a:t>Risk: images may show seller data. Measure: success rate, latency, rollback time, cost per 1,000 images.</a:t>
            </a:r>
          </a:p>
        </p:txBody>
      </p:sp>
      <p:sp>
        <p:nvSpPr>
          <p:cNvPr id="33" name="Rounded Rectangle 32"/>
          <p:cNvSpPr/>
          <p:nvPr/>
        </p:nvSpPr>
        <p:spPr>
          <a:xfrm>
            <a:off x="457200" y="5824728"/>
            <a:ext cx="11274552" cy="393192"/>
          </a:xfrm>
          <a:prstGeom prst="roundRect">
            <a:avLst>
              <a:gd name="adj" fmla="val 8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3504" y="5870448"/>
            <a:ext cx="10981944" cy="301751"/>
          </a:xfrm>
          <a:prstGeom prst="rect">
            <a:avLst/>
          </a:prstGeom>
          <a:noFill/>
        </p:spPr>
        <p:txBody>
          <a:bodyPr wrap="square" lIns="0" tIns="0" rIns="0" bIns="0">
            <a:spAutoFit/>
          </a:bodyPr>
          <a:lstStyle/>
          <a:p>
            <a:pPr>
              <a:lnSpc>
                <a:spcPct val="104000"/>
              </a:lnSpc>
              <a:spcBef>
                <a:spcPts val="0"/>
              </a:spcBef>
              <a:spcAft>
                <a:spcPts val="200"/>
              </a:spcAft>
              <a:defRPr sz="1450" b="0">
                <a:solidFill>
                  <a:srgbClr val="243A49"/>
                </a:solidFill>
                <a:latin typeface="Calibri"/>
              </a:defRPr>
            </a:pPr>
            <a:r>
              <a:t>Evidence must show the engineering question—not merely the technology label. No unapproved vertical change.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10</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Plan the smallest Proof of Concept</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P3 comes next: test the riskiest technical assumption, not the entire product.</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10/11</a:t>
            </a:r>
          </a:p>
        </p:txBody>
      </p:sp>
      <p:sp>
        <p:nvSpPr>
          <p:cNvPr id="19" name="Rounded Rectangle 18"/>
          <p:cNvSpPr/>
          <p:nvPr/>
        </p:nvSpPr>
        <p:spPr>
          <a:xfrm>
            <a:off x="457200" y="1828800"/>
            <a:ext cx="5394960" cy="1170432"/>
          </a:xfrm>
          <a:prstGeom prst="roundRect">
            <a:avLst>
              <a:gd name="adj" fmla="val 8000"/>
            </a:avLst>
          </a:prstGeom>
          <a:solidFill>
            <a:srgbClr val="E7F3F1"/>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1947672"/>
            <a:ext cx="5065776"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HYPOTHESIS — STILL TO BE TESTED</a:t>
            </a:r>
          </a:p>
        </p:txBody>
      </p:sp>
      <p:sp>
        <p:nvSpPr>
          <p:cNvPr id="21" name="TextBox 20"/>
          <p:cNvSpPr txBox="1"/>
          <p:nvPr/>
        </p:nvSpPr>
        <p:spPr>
          <a:xfrm>
            <a:off x="621792" y="2194560"/>
            <a:ext cx="5065776" cy="722376"/>
          </a:xfrm>
          <a:prstGeom prst="rect">
            <a:avLst/>
          </a:prstGeom>
          <a:noFill/>
        </p:spPr>
        <p:txBody>
          <a:bodyPr wrap="square" lIns="0" tIns="0" rIns="0" bIns="0">
            <a:spAutoFit/>
          </a:bodyPr>
          <a:lstStyle/>
          <a:p>
            <a:pPr>
              <a:lnSpc>
                <a:spcPct val="104000"/>
              </a:lnSpc>
              <a:spcBef>
                <a:spcPts val="0"/>
              </a:spcBef>
              <a:spcAft>
                <a:spcPts val="200"/>
              </a:spcAft>
              <a:defRPr sz="1800" b="0">
                <a:solidFill>
                  <a:srgbClr val="243A49"/>
                </a:solidFill>
                <a:latin typeface="Calibri"/>
              </a:defRPr>
            </a:pPr>
            <a:r>
              <a:t>On 30 self-photographed labels, I02 matches a manual reference on ≥90% of field checks in ≤50% of the time.</a:t>
            </a:r>
          </a:p>
        </p:txBody>
      </p:sp>
      <p:sp>
        <p:nvSpPr>
          <p:cNvPr id="22" name="Rounded Rectangle 21"/>
          <p:cNvSpPr/>
          <p:nvPr/>
        </p:nvSpPr>
        <p:spPr>
          <a:xfrm>
            <a:off x="6025896" y="1828800"/>
            <a:ext cx="5705856" cy="1170432"/>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90488" y="1947672"/>
            <a:ext cx="5376672"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SMALLEST TEST / SAMPLE / COMPARATOR</a:t>
            </a:r>
          </a:p>
        </p:txBody>
      </p:sp>
      <p:sp>
        <p:nvSpPr>
          <p:cNvPr id="24" name="TextBox 23"/>
          <p:cNvSpPr txBox="1"/>
          <p:nvPr/>
        </p:nvSpPr>
        <p:spPr>
          <a:xfrm>
            <a:off x="6190488" y="2194560"/>
            <a:ext cx="5376672" cy="722376"/>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Test: 30 photos (10 hard) × 7 fields = 210 checks vs a timed manual checklist; Mentor-checked reference. Small, not powered.</a:t>
            </a:r>
          </a:p>
        </p:txBody>
      </p:sp>
      <p:graphicFrame>
        <p:nvGraphicFramePr>
          <p:cNvPr id="25" name="Table 24"/>
          <p:cNvGraphicFramePr>
            <a:graphicFrameLocks noGrp="1"/>
          </p:cNvGraphicFramePr>
          <p:nvPr/>
        </p:nvGraphicFramePr>
        <p:xfrm>
          <a:off x="457200" y="3200400"/>
          <a:ext cx="11274552" cy="2203704"/>
        </p:xfrm>
        <a:graphic>
          <a:graphicData uri="http://schemas.openxmlformats.org/drawingml/2006/table">
            <a:tbl>
              <a:tblPr firstRow="1" bandRow="1">
                <a:tableStyleId>{5C22544A-7EE6-4342-B048-85BDC9FD1C3A}</a:tableStyleId>
              </a:tblPr>
              <a:tblGrid>
                <a:gridCol w="2029968">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72384">
                  <a:extLst>
                    <a:ext uri="{9D8B030D-6E8A-4147-A177-3AD203B41FA5}">
                      <a16:colId xmlns:a16="http://schemas.microsoft.com/office/drawing/2014/main" val="20003"/>
                    </a:ext>
                  </a:extLst>
                </a:gridCol>
              </a:tblGrid>
              <a:tr h="393192">
                <a:tc>
                  <a:txBody>
                    <a:bodyPr/>
                    <a:lstStyle/>
                    <a:p>
                      <a:pPr>
                        <a:lnSpc>
                          <a:spcPct val="104000"/>
                        </a:lnSpc>
                        <a:spcAft>
                          <a:spcPts val="0"/>
                        </a:spcAft>
                        <a:defRPr sz="1300" b="1">
                          <a:solidFill>
                            <a:srgbClr val="FFFFFF"/>
                          </a:solidFill>
                          <a:latin typeface="Calibri"/>
                        </a:defRPr>
                      </a:pPr>
                      <a:r>
                        <a:t>Measure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Comparator / baseline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Planned pass threshold</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How measured</a:t>
                      </a:r>
                    </a:p>
                  </a:txBody>
                  <a:tcPr marL="109728" marR="109728" marT="64008" marB="64008" anchor="ctr">
                    <a:solidFill>
                      <a:srgbClr val="153347"/>
                    </a:solidFill>
                  </a:tcPr>
                </a:tc>
                <a:extLst>
                  <a:ext uri="{0D108BD9-81ED-4DB2-BD59-A6C34878D82A}">
                    <a16:rowId xmlns:a16="http://schemas.microsoft.com/office/drawing/2014/main" val="10000"/>
                  </a:ext>
                </a:extLst>
              </a:tr>
              <a:tr h="603504">
                <a:tc>
                  <a:txBody>
                    <a:bodyPr/>
                    <a:lstStyle/>
                    <a:p>
                      <a:pPr>
                        <a:lnSpc>
                          <a:spcPct val="104000"/>
                        </a:lnSpc>
                        <a:spcAft>
                          <a:spcPts val="0"/>
                        </a:spcAft>
                        <a:defRPr sz="1500" b="0">
                          <a:solidFill>
                            <a:srgbClr val="243A49"/>
                          </a:solidFill>
                          <a:latin typeface="Calibri"/>
                        </a:defRPr>
                      </a:pPr>
                      <a:r>
                        <a:t>Field-check accuracy</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Manual reference, same 30 labels</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 189 / 210 (90%)</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Compare each field to reference</a:t>
                      </a:r>
                    </a:p>
                  </a:txBody>
                  <a:tcPr marL="109728" marR="109728" marT="64008" marB="64008" anchor="ctr">
                    <a:solidFill>
                      <a:srgbClr val="FFFFFF"/>
                    </a:solidFill>
                  </a:tcPr>
                </a:tc>
                <a:extLst>
                  <a:ext uri="{0D108BD9-81ED-4DB2-BD59-A6C34878D82A}">
                    <a16:rowId xmlns:a16="http://schemas.microsoft.com/office/drawing/2014/main" val="10001"/>
                  </a:ext>
                </a:extLst>
              </a:tr>
              <a:tr h="603504">
                <a:tc>
                  <a:txBody>
                    <a:bodyPr/>
                    <a:lstStyle/>
                    <a:p>
                      <a:pPr>
                        <a:lnSpc>
                          <a:spcPct val="104000"/>
                        </a:lnSpc>
                        <a:spcAft>
                          <a:spcPts val="0"/>
                        </a:spcAft>
                        <a:defRPr sz="1500" b="0">
                          <a:solidFill>
                            <a:srgbClr val="243A49"/>
                          </a:solidFill>
                          <a:latin typeface="Calibri"/>
                        </a:defRPr>
                      </a:pPr>
                      <a:r>
                        <a:t>Wrong “present” without flag</a:t>
                      </a:r>
                    </a:p>
                  </a:txBody>
                  <a:tcPr marL="109728" marR="109728" marT="64008" marB="64008" anchor="ctr">
                    <a:solidFill>
                      <a:srgbClr val="E7F3F1"/>
                    </a:solidFill>
                  </a:tcPr>
                </a:tc>
                <a:tc>
                  <a:txBody>
                    <a:bodyPr/>
                    <a:lstStyle/>
                    <a:p>
                      <a:pPr>
                        <a:lnSpc>
                          <a:spcPct val="104000"/>
                        </a:lnSpc>
                        <a:spcAft>
                          <a:spcPts val="0"/>
                        </a:spcAft>
                        <a:defRPr sz="1500" b="0">
                          <a:solidFill>
                            <a:srgbClr val="243A49"/>
                          </a:solidFill>
                          <a:latin typeface="Calibri"/>
                        </a:defRPr>
                      </a:pPr>
                      <a:r>
                        <a:t>Reference answers</a:t>
                      </a:r>
                    </a:p>
                  </a:txBody>
                  <a:tcPr marL="109728" marR="109728" marT="64008" marB="64008" anchor="ctr">
                    <a:solidFill>
                      <a:srgbClr val="E7F3F1"/>
                    </a:solidFill>
                  </a:tcPr>
                </a:tc>
                <a:tc>
                  <a:txBody>
                    <a:bodyPr/>
                    <a:lstStyle/>
                    <a:p>
                      <a:pPr>
                        <a:lnSpc>
                          <a:spcPct val="104000"/>
                        </a:lnSpc>
                        <a:spcAft>
                          <a:spcPts val="0"/>
                        </a:spcAft>
                        <a:defRPr sz="1500" b="0">
                          <a:solidFill>
                            <a:srgbClr val="243A49"/>
                          </a:solidFill>
                          <a:latin typeface="Calibri"/>
                        </a:defRPr>
                      </a:pPr>
                      <a:r>
                        <a:t>0 of 30 labels</a:t>
                      </a:r>
                    </a:p>
                  </a:txBody>
                  <a:tcPr marL="109728" marR="109728" marT="64008" marB="64008" anchor="ctr">
                    <a:solidFill>
                      <a:srgbClr val="E7F3F1"/>
                    </a:solidFill>
                  </a:tcPr>
                </a:tc>
                <a:tc>
                  <a:txBody>
                    <a:bodyPr/>
                    <a:lstStyle/>
                    <a:p>
                      <a:pPr>
                        <a:lnSpc>
                          <a:spcPct val="104000"/>
                        </a:lnSpc>
                        <a:spcAft>
                          <a:spcPts val="0"/>
                        </a:spcAft>
                        <a:defRPr sz="1500" b="0">
                          <a:solidFill>
                            <a:srgbClr val="243A49"/>
                          </a:solidFill>
                          <a:latin typeface="Calibri"/>
                        </a:defRPr>
                      </a:pPr>
                      <a:r>
                        <a:t>List each miss and its flag</a:t>
                      </a:r>
                    </a:p>
                  </a:txBody>
                  <a:tcPr marL="109728" marR="109728" marT="64008" marB="64008" anchor="ctr">
                    <a:solidFill>
                      <a:srgbClr val="E7F3F1"/>
                    </a:solidFill>
                  </a:tcPr>
                </a:tc>
                <a:extLst>
                  <a:ext uri="{0D108BD9-81ED-4DB2-BD59-A6C34878D82A}">
                    <a16:rowId xmlns:a16="http://schemas.microsoft.com/office/drawing/2014/main" val="10002"/>
                  </a:ext>
                </a:extLst>
              </a:tr>
              <a:tr h="603504">
                <a:tc>
                  <a:txBody>
                    <a:bodyPr/>
                    <a:lstStyle/>
                    <a:p>
                      <a:pPr>
                        <a:lnSpc>
                          <a:spcPct val="104000"/>
                        </a:lnSpc>
                        <a:spcAft>
                          <a:spcPts val="0"/>
                        </a:spcAft>
                        <a:defRPr sz="1500" b="0">
                          <a:solidFill>
                            <a:srgbClr val="243A49"/>
                          </a:solidFill>
                          <a:latin typeface="Calibri"/>
                        </a:defRPr>
                      </a:pPr>
                      <a:r>
                        <a:t>Time, reliability, cost</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Timed manual check</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≤50% manual time; ≤10 s; rollback ≤5 min; ≤₹1,000</a:t>
                      </a:r>
                    </a:p>
                  </a:txBody>
                  <a:tcPr marL="109728" marR="109728" marT="64008" marB="64008" anchor="ctr">
                    <a:solidFill>
                      <a:srgbClr val="FFFFFF"/>
                    </a:solidFill>
                  </a:tcPr>
                </a:tc>
                <a:tc>
                  <a:txBody>
                    <a:bodyPr/>
                    <a:lstStyle/>
                    <a:p>
                      <a:pPr>
                        <a:lnSpc>
                          <a:spcPct val="104000"/>
                        </a:lnSpc>
                        <a:spcAft>
                          <a:spcPts val="0"/>
                        </a:spcAft>
                        <a:defRPr sz="1500" b="0">
                          <a:solidFill>
                            <a:srgbClr val="243A49"/>
                          </a:solidFill>
                          <a:latin typeface="Calibri"/>
                        </a:defRPr>
                      </a:pPr>
                      <a:r>
                        <a:t>Stopwatch, logs, usage bill</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6" name="Rounded Rectangle 25"/>
          <p:cNvSpPr/>
          <p:nvPr/>
        </p:nvSpPr>
        <p:spPr>
          <a:xfrm>
            <a:off x="457200" y="5486400"/>
            <a:ext cx="11274552" cy="612648"/>
          </a:xfrm>
          <a:prstGeom prst="roundRect">
            <a:avLst>
              <a:gd name="adj" fmla="val 8000"/>
            </a:avLst>
          </a:prstGeom>
          <a:solidFill>
            <a:srgbClr val="FFF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4" y="5577840"/>
            <a:ext cx="10981944" cy="429768"/>
          </a:xfrm>
          <a:prstGeom prst="rect">
            <a:avLst/>
          </a:prstGeom>
          <a:noFill/>
        </p:spPr>
        <p:txBody>
          <a:bodyPr wrap="square" lIns="0" tIns="0" rIns="0" bIns="0">
            <a:spAutoFit/>
          </a:bodyPr>
          <a:lstStyle/>
          <a:p>
            <a:pPr>
              <a:lnSpc>
                <a:spcPct val="104000"/>
              </a:lnSpc>
              <a:spcBef>
                <a:spcPts val="0"/>
              </a:spcBef>
              <a:spcAft>
                <a:spcPts val="200"/>
              </a:spcAft>
              <a:defRPr sz="1450" b="0">
                <a:solidFill>
                  <a:srgbClr val="243A49"/>
                </a:solidFill>
                <a:latin typeface="Calibri"/>
              </a:defRPr>
            </a:pPr>
            <a:r>
              <a:t>Stop / pivot: If accuracy or guardrail fails, fall back to I01, tune OCR, or test I03. Do not re-label targets as results.</a:t>
            </a:r>
          </a:p>
        </p:txBody>
      </p:sp>
      <p:sp>
        <p:nvSpPr>
          <p:cNvPr id="28" name="TextBox 27"/>
          <p:cNvSpPr txBox="1"/>
          <p:nvPr/>
        </p:nvSpPr>
        <p:spPr>
          <a:xfrm>
            <a:off x="475488" y="6181344"/>
            <a:ext cx="11155680" cy="173736"/>
          </a:xfrm>
          <a:prstGeom prst="rect">
            <a:avLst/>
          </a:prstGeom>
          <a:noFill/>
        </p:spPr>
        <p:txBody>
          <a:bodyPr wrap="square" lIns="0" tIns="0" rIns="0" bIns="0">
            <a:spAutoFit/>
          </a:bodyPr>
          <a:lstStyle/>
          <a:p>
            <a:pPr>
              <a:lnSpc>
                <a:spcPct val="104000"/>
              </a:lnSpc>
              <a:spcBef>
                <a:spcPts val="0"/>
              </a:spcBef>
              <a:spcAft>
                <a:spcPts val="200"/>
              </a:spcAft>
              <a:defRPr sz="1100" b="0">
                <a:solidFill>
                  <a:srgbClr val="597080"/>
                </a:solidFill>
                <a:latin typeface="Calibri"/>
              </a:defRPr>
            </a:pPr>
            <a:r>
              <a:t>Permission / boundary: team-photographed packs, no personal data, isolated, no enforcement use. Mentor approval pending; Test lead, 22 Oct.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91440"/>
          </a:xfrm>
          <a:prstGeom prst="rect">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
            <a:ext cx="73152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SCHOOL OF INNOVATION  |  KGISL INSTITUTE OF TECHNOLOGY</a:t>
            </a:r>
          </a:p>
        </p:txBody>
      </p:sp>
      <p:sp>
        <p:nvSpPr>
          <p:cNvPr id="4" name="Rounded Rectangle 3"/>
          <p:cNvSpPr/>
          <p:nvPr/>
        </p:nvSpPr>
        <p:spPr>
          <a:xfrm>
            <a:off x="845820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5820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FRAME</a:t>
            </a:r>
          </a:p>
        </p:txBody>
      </p:sp>
      <p:sp>
        <p:nvSpPr>
          <p:cNvPr id="6" name="Rounded Rectangle 5"/>
          <p:cNvSpPr/>
          <p:nvPr/>
        </p:nvSpPr>
        <p:spPr>
          <a:xfrm>
            <a:off x="928116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EXPLORE</a:t>
            </a:r>
          </a:p>
        </p:txBody>
      </p:sp>
      <p:sp>
        <p:nvSpPr>
          <p:cNvPr id="8" name="Rounded Rectangle 7"/>
          <p:cNvSpPr/>
          <p:nvPr/>
        </p:nvSpPr>
        <p:spPr>
          <a:xfrm>
            <a:off x="10104120" y="210312"/>
            <a:ext cx="768096" cy="237744"/>
          </a:xfrm>
          <a:prstGeom prst="roundRect">
            <a:avLst>
              <a:gd name="adj" fmla="val 8000"/>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597080"/>
                </a:solidFill>
                <a:latin typeface="Calibri"/>
              </a:defRPr>
            </a:pPr>
            <a:r>
              <a:t>CHOOSE</a:t>
            </a:r>
          </a:p>
        </p:txBody>
      </p:sp>
      <p:sp>
        <p:nvSpPr>
          <p:cNvPr id="10" name="Rounded Rectangle 9"/>
          <p:cNvSpPr/>
          <p:nvPr/>
        </p:nvSpPr>
        <p:spPr>
          <a:xfrm>
            <a:off x="10927080" y="210312"/>
            <a:ext cx="768096" cy="237744"/>
          </a:xfrm>
          <a:prstGeom prst="roundRect">
            <a:avLst>
              <a:gd name="adj" fmla="val 8000"/>
            </a:avLst>
          </a:prstGeom>
          <a:solidFill>
            <a:srgbClr val="006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7080" y="246888"/>
            <a:ext cx="768096" cy="128016"/>
          </a:xfrm>
          <a:prstGeom prst="rect">
            <a:avLst/>
          </a:prstGeom>
          <a:noFill/>
        </p:spPr>
        <p:txBody>
          <a:bodyPr wrap="square" lIns="0" tIns="0" rIns="0" bIns="0">
            <a:spAutoFit/>
          </a:bodyPr>
          <a:lstStyle/>
          <a:p>
            <a:pPr algn="ctr">
              <a:lnSpc>
                <a:spcPct val="104000"/>
              </a:lnSpc>
              <a:spcBef>
                <a:spcPts val="0"/>
              </a:spcBef>
              <a:spcAft>
                <a:spcPts val="200"/>
              </a:spcAft>
              <a:defRPr sz="880" b="1">
                <a:solidFill>
                  <a:srgbClr val="FFFFFF"/>
                </a:solidFill>
                <a:latin typeface="Calibri"/>
              </a:defRPr>
            </a:pPr>
            <a:r>
              <a:t>TEST</a:t>
            </a:r>
          </a:p>
        </p:txBody>
      </p:sp>
      <p:sp>
        <p:nvSpPr>
          <p:cNvPr id="12" name="TextBox 11"/>
          <p:cNvSpPr txBox="1"/>
          <p:nvPr/>
        </p:nvSpPr>
        <p:spPr>
          <a:xfrm>
            <a:off x="457200" y="758952"/>
            <a:ext cx="585216" cy="438912"/>
          </a:xfrm>
          <a:prstGeom prst="rect">
            <a:avLst/>
          </a:prstGeom>
          <a:noFill/>
        </p:spPr>
        <p:txBody>
          <a:bodyPr wrap="square" lIns="0" tIns="0" rIns="0" bIns="0">
            <a:spAutoFit/>
          </a:bodyPr>
          <a:lstStyle/>
          <a:p>
            <a:pPr>
              <a:lnSpc>
                <a:spcPct val="104000"/>
              </a:lnSpc>
              <a:spcBef>
                <a:spcPts val="0"/>
              </a:spcBef>
              <a:spcAft>
                <a:spcPts val="200"/>
              </a:spcAft>
              <a:defRPr sz="2400" b="1">
                <a:solidFill>
                  <a:srgbClr val="006E75"/>
                </a:solidFill>
                <a:latin typeface="Calibri"/>
              </a:defRPr>
            </a:pPr>
            <a:r>
              <a:t>11</a:t>
            </a:r>
          </a:p>
        </p:txBody>
      </p:sp>
      <p:sp>
        <p:nvSpPr>
          <p:cNvPr id="13" name="TextBox 12"/>
          <p:cNvSpPr txBox="1"/>
          <p:nvPr/>
        </p:nvSpPr>
        <p:spPr>
          <a:xfrm>
            <a:off x="1143000" y="713232"/>
            <a:ext cx="10424160" cy="457200"/>
          </a:xfrm>
          <a:prstGeom prst="rect">
            <a:avLst/>
          </a:prstGeom>
          <a:noFill/>
        </p:spPr>
        <p:txBody>
          <a:bodyPr wrap="square" lIns="0" tIns="0" rIns="0" bIns="0">
            <a:spAutoFit/>
          </a:bodyPr>
          <a:lstStyle/>
          <a:p>
            <a:pPr>
              <a:lnSpc>
                <a:spcPct val="104000"/>
              </a:lnSpc>
              <a:spcBef>
                <a:spcPts val="0"/>
              </a:spcBef>
              <a:spcAft>
                <a:spcPts val="200"/>
              </a:spcAft>
              <a:defRPr sz="2700" b="1">
                <a:solidFill>
                  <a:srgbClr val="153347"/>
                </a:solidFill>
                <a:latin typeface="Calibri"/>
              </a:defRPr>
            </a:pPr>
            <a:r>
              <a:t>Actions, evidence and submission</a:t>
            </a:r>
          </a:p>
        </p:txBody>
      </p:sp>
      <p:sp>
        <p:nvSpPr>
          <p:cNvPr id="14" name="TextBox 13"/>
          <p:cNvSpPr txBox="1"/>
          <p:nvPr/>
        </p:nvSpPr>
        <p:spPr>
          <a:xfrm>
            <a:off x="475488" y="1252728"/>
            <a:ext cx="11201400" cy="457200"/>
          </a:xfrm>
          <a:prstGeom prst="rect">
            <a:avLst/>
          </a:prstGeom>
          <a:noFill/>
        </p:spPr>
        <p:txBody>
          <a:bodyPr wrap="square" lIns="0" tIns="0" rIns="0" bIns="0">
            <a:spAutoFit/>
          </a:bodyPr>
          <a:lstStyle/>
          <a:p>
            <a:pPr>
              <a:lnSpc>
                <a:spcPct val="104000"/>
              </a:lnSpc>
              <a:spcBef>
                <a:spcPts val="0"/>
              </a:spcBef>
              <a:spcAft>
                <a:spcPts val="200"/>
              </a:spcAft>
              <a:defRPr sz="1550" b="0">
                <a:solidFill>
                  <a:srgbClr val="597080"/>
                </a:solidFill>
                <a:latin typeface="Calibri"/>
              </a:defRPr>
            </a:pPr>
            <a:r>
              <a:t>Prepare now. The Microsoft Forms submission link will be announced later in the Projects Team.</a:t>
            </a:r>
          </a:p>
        </p:txBody>
      </p:sp>
      <p:sp>
        <p:nvSpPr>
          <p:cNvPr id="15" name="Rectangle 14"/>
          <p:cNvSpPr/>
          <p:nvPr/>
        </p:nvSpPr>
        <p:spPr>
          <a:xfrm>
            <a:off x="457200" y="6428232"/>
            <a:ext cx="11274552" cy="9144"/>
          </a:xfrm>
          <a:prstGeom prst="rect">
            <a:avLst/>
          </a:prstGeom>
          <a:solidFill>
            <a:srgbClr val="D7E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28816"/>
            <a:ext cx="7589520" cy="155448"/>
          </a:xfrm>
          <a:prstGeom prst="rect">
            <a:avLst/>
          </a:prstGeom>
          <a:noFill/>
        </p:spPr>
        <p:txBody>
          <a:bodyPr wrap="square" lIns="0" tIns="0" rIns="0" bIns="0">
            <a:spAutoFit/>
          </a:bodyPr>
          <a:lstStyle/>
          <a:p>
            <a:pPr>
              <a:lnSpc>
                <a:spcPct val="104000"/>
              </a:lnSpc>
              <a:spcBef>
                <a:spcPts val="0"/>
              </a:spcBef>
              <a:spcAft>
                <a:spcPts val="200"/>
              </a:spcAft>
              <a:defRPr sz="900" b="0">
                <a:solidFill>
                  <a:srgbClr val="597080"/>
                </a:solidFill>
                <a:latin typeface="Calibri"/>
              </a:defRPr>
            </a:pPr>
            <a:r>
              <a:t>TEAM TITANS • LABELGUARD • DRAFT FOR MENTOR REVIEW</a:t>
            </a:r>
          </a:p>
        </p:txBody>
      </p:sp>
      <p:sp>
        <p:nvSpPr>
          <p:cNvPr id="17" name="TextBox 16"/>
          <p:cNvSpPr txBox="1"/>
          <p:nvPr/>
        </p:nvSpPr>
        <p:spPr>
          <a:xfrm>
            <a:off x="8321040" y="6510528"/>
            <a:ext cx="2194560" cy="201168"/>
          </a:xfrm>
          <a:prstGeom prst="rect">
            <a:avLst/>
          </a:prstGeom>
          <a:noFill/>
        </p:spPr>
        <p:txBody>
          <a:bodyPr wrap="square" lIns="0" tIns="0" rIns="0" bIns="0">
            <a:spAutoFit/>
          </a:bodyPr>
          <a:lstStyle/>
          <a:p>
            <a:pPr algn="r">
              <a:lnSpc>
                <a:spcPct val="104000"/>
              </a:lnSpc>
              <a:spcBef>
                <a:spcPts val="0"/>
              </a:spcBef>
              <a:spcAft>
                <a:spcPts val="200"/>
              </a:spcAft>
              <a:defRPr sz="1000" b="1">
                <a:solidFill>
                  <a:srgbClr val="006E75"/>
                </a:solidFill>
                <a:latin typeface="Calibri"/>
              </a:defRPr>
            </a:pPr>
            <a:r>
              <a:t>P2 • 16 OCT 2026</a:t>
            </a:r>
          </a:p>
        </p:txBody>
      </p:sp>
      <p:sp>
        <p:nvSpPr>
          <p:cNvPr id="18" name="TextBox 17"/>
          <p:cNvSpPr txBox="1"/>
          <p:nvPr/>
        </p:nvSpPr>
        <p:spPr>
          <a:xfrm>
            <a:off x="10908792" y="6510528"/>
            <a:ext cx="786384" cy="201168"/>
          </a:xfrm>
          <a:prstGeom prst="rect">
            <a:avLst/>
          </a:prstGeom>
          <a:noFill/>
        </p:spPr>
        <p:txBody>
          <a:bodyPr wrap="square" lIns="0" tIns="0" rIns="0" bIns="0">
            <a:spAutoFit/>
          </a:bodyPr>
          <a:lstStyle/>
          <a:p>
            <a:pPr algn="r">
              <a:lnSpc>
                <a:spcPct val="104000"/>
              </a:lnSpc>
              <a:spcBef>
                <a:spcPts val="0"/>
              </a:spcBef>
              <a:spcAft>
                <a:spcPts val="200"/>
              </a:spcAft>
              <a:defRPr sz="1000" b="0">
                <a:solidFill>
                  <a:srgbClr val="597080"/>
                </a:solidFill>
                <a:latin typeface="Calibri"/>
              </a:defRPr>
            </a:pPr>
            <a:r>
              <a:t>11/11</a:t>
            </a:r>
          </a:p>
        </p:txBody>
      </p:sp>
      <p:graphicFrame>
        <p:nvGraphicFramePr>
          <p:cNvPr id="19" name="Table 18"/>
          <p:cNvGraphicFramePr>
            <a:graphicFrameLocks noGrp="1"/>
          </p:cNvGraphicFramePr>
          <p:nvPr/>
        </p:nvGraphicFramePr>
        <p:xfrm>
          <a:off x="457200" y="1828800"/>
          <a:ext cx="11274552" cy="2313432"/>
        </p:xfrm>
        <a:graphic>
          <a:graphicData uri="http://schemas.openxmlformats.org/drawingml/2006/table">
            <a:tbl>
              <a:tblPr firstRow="1" bandRow="1">
                <a:tableStyleId>{5C22544A-7EE6-4342-B048-85BDC9FD1C3A}</a:tableStyleId>
              </a:tblPr>
              <a:tblGrid>
                <a:gridCol w="3154680">
                  <a:extLst>
                    <a:ext uri="{9D8B030D-6E8A-4147-A177-3AD203B41FA5}">
                      <a16:colId xmlns:a16="http://schemas.microsoft.com/office/drawing/2014/main" val="20000"/>
                    </a:ext>
                  </a:extLst>
                </a:gridCol>
                <a:gridCol w="2523744">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4096512">
                  <a:extLst>
                    <a:ext uri="{9D8B030D-6E8A-4147-A177-3AD203B41FA5}">
                      <a16:colId xmlns:a16="http://schemas.microsoft.com/office/drawing/2014/main" val="20003"/>
                    </a:ext>
                  </a:extLst>
                </a:gridCol>
              </a:tblGrid>
              <a:tr h="393192">
                <a:tc>
                  <a:txBody>
                    <a:bodyPr/>
                    <a:lstStyle/>
                    <a:p>
                      <a:pPr>
                        <a:lnSpc>
                          <a:spcPct val="104000"/>
                        </a:lnSpc>
                        <a:spcAft>
                          <a:spcPts val="0"/>
                        </a:spcAft>
                        <a:defRPr sz="1300" b="1">
                          <a:solidFill>
                            <a:srgbClr val="FFFFFF"/>
                          </a:solidFill>
                          <a:latin typeface="Calibri"/>
                        </a:defRPr>
                      </a:pPr>
                      <a:r>
                        <a:t>Next action</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Assignee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Due</a:t>
                      </a:r>
                    </a:p>
                  </a:txBody>
                  <a:tcPr marL="109728" marR="109728" marT="64008" marB="64008" anchor="ctr">
                    <a:solidFill>
                      <a:srgbClr val="153347"/>
                    </a:solidFill>
                  </a:tcPr>
                </a:tc>
                <a:tc>
                  <a:txBody>
                    <a:bodyPr/>
                    <a:lstStyle/>
                    <a:p>
                      <a:pPr>
                        <a:lnSpc>
                          <a:spcPct val="104000"/>
                        </a:lnSpc>
                        <a:spcAft>
                          <a:spcPts val="0"/>
                        </a:spcAft>
                        <a:defRPr sz="1300" b="1">
                          <a:solidFill>
                            <a:srgbClr val="FFFFFF"/>
                          </a:solidFill>
                          <a:latin typeface="Calibri"/>
                        </a:defRPr>
                      </a:pPr>
                      <a:r>
                        <a:t>Evidence / output</a:t>
                      </a:r>
                    </a:p>
                  </a:txBody>
                  <a:tcPr marL="109728" marR="109728" marT="64008" marB="64008" anchor="ctr">
                    <a:solidFill>
                      <a:srgbClr val="153347"/>
                    </a:solidFill>
                  </a:tcPr>
                </a:tc>
                <a:extLst>
                  <a:ext uri="{0D108BD9-81ED-4DB2-BD59-A6C34878D82A}">
                    <a16:rowId xmlns:a16="http://schemas.microsoft.com/office/drawing/2014/main" val="10000"/>
                  </a:ext>
                </a:extLst>
              </a:tr>
              <a:tr h="640080">
                <a:tc>
                  <a:txBody>
                    <a:bodyPr/>
                    <a:lstStyle/>
                    <a:p>
                      <a:pPr>
                        <a:lnSpc>
                          <a:spcPct val="104000"/>
                        </a:lnSpc>
                        <a:spcAft>
                          <a:spcPts val="0"/>
                        </a:spcAft>
                        <a:defRPr sz="1600" b="0">
                          <a:solidFill>
                            <a:srgbClr val="243A49"/>
                          </a:solidFill>
                          <a:latin typeface="Calibri"/>
                        </a:defRPr>
                      </a:pPr>
                      <a:r>
                        <a:t>Close P1 gaps: real inspector interview + observation; concept feedback; permission request</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Discovery lead (add name)</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21 Oct 2026</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Anonymised notes, feedback table, request</a:t>
                      </a:r>
                    </a:p>
                  </a:txBody>
                  <a:tcPr marL="109728" marR="109728" marT="64008" marB="64008" anchor="ctr">
                    <a:solidFill>
                      <a:srgbClr val="FFFFFF"/>
                    </a:solidFill>
                  </a:tcPr>
                </a:tc>
                <a:extLst>
                  <a:ext uri="{0D108BD9-81ED-4DB2-BD59-A6C34878D82A}">
                    <a16:rowId xmlns:a16="http://schemas.microsoft.com/office/drawing/2014/main" val="10001"/>
                  </a:ext>
                </a:extLst>
              </a:tr>
              <a:tr h="640080">
                <a:tc>
                  <a:txBody>
                    <a:bodyPr/>
                    <a:lstStyle/>
                    <a:p>
                      <a:pPr>
                        <a:lnSpc>
                          <a:spcPct val="104000"/>
                        </a:lnSpc>
                        <a:spcAft>
                          <a:spcPts val="0"/>
                        </a:spcAft>
                        <a:defRPr sz="1600" b="0">
                          <a:solidFill>
                            <a:srgbClr val="243A49"/>
                          </a:solidFill>
                          <a:latin typeface="Calibri"/>
                        </a:defRPr>
                      </a:pPr>
                      <a:r>
                        <a:t>Prepare bounded test: freeze 30 labels + protocol; Mentor approval</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Build lead (add name)</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22 Oct 2026</a:t>
                      </a:r>
                    </a:p>
                  </a:txBody>
                  <a:tcPr marL="109728" marR="109728" marT="64008" marB="64008" anchor="ctr">
                    <a:solidFill>
                      <a:srgbClr val="E7F3F1"/>
                    </a:solidFill>
                  </a:tcPr>
                </a:tc>
                <a:tc>
                  <a:txBody>
                    <a:bodyPr/>
                    <a:lstStyle/>
                    <a:p>
                      <a:pPr>
                        <a:lnSpc>
                          <a:spcPct val="104000"/>
                        </a:lnSpc>
                        <a:spcAft>
                          <a:spcPts val="0"/>
                        </a:spcAft>
                        <a:defRPr sz="1600" b="0">
                          <a:solidFill>
                            <a:srgbClr val="243A49"/>
                          </a:solidFill>
                          <a:latin typeface="Calibri"/>
                        </a:defRPr>
                      </a:pPr>
                      <a:r>
                        <a:t>Label set, references, test plan</a:t>
                      </a:r>
                    </a:p>
                  </a:txBody>
                  <a:tcPr marL="109728" marR="109728" marT="64008" marB="64008" anchor="ctr">
                    <a:solidFill>
                      <a:srgbClr val="E7F3F1"/>
                    </a:solidFill>
                  </a:tcPr>
                </a:tc>
                <a:extLst>
                  <a:ext uri="{0D108BD9-81ED-4DB2-BD59-A6C34878D82A}">
                    <a16:rowId xmlns:a16="http://schemas.microsoft.com/office/drawing/2014/main" val="10002"/>
                  </a:ext>
                </a:extLst>
              </a:tr>
              <a:tr h="640080">
                <a:tc>
                  <a:txBody>
                    <a:bodyPr/>
                    <a:lstStyle/>
                    <a:p>
                      <a:pPr>
                        <a:lnSpc>
                          <a:spcPct val="104000"/>
                        </a:lnSpc>
                        <a:spcAft>
                          <a:spcPts val="0"/>
                        </a:spcAft>
                        <a:defRPr sz="1600" b="0">
                          <a:solidFill>
                            <a:srgbClr val="243A49"/>
                          </a:solidFill>
                          <a:latin typeface="Calibri"/>
                        </a:defRPr>
                      </a:pPr>
                      <a:r>
                        <a:t>Run and report P3</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Test lead (add name)</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26 Oct 2026</a:t>
                      </a:r>
                    </a:p>
                  </a:txBody>
                  <a:tcPr marL="109728" marR="109728" marT="64008" marB="64008" anchor="ctr">
                    <a:solidFill>
                      <a:srgbClr val="FFFFFF"/>
                    </a:solidFill>
                  </a:tcPr>
                </a:tc>
                <a:tc>
                  <a:txBody>
                    <a:bodyPr/>
                    <a:lstStyle/>
                    <a:p>
                      <a:pPr>
                        <a:lnSpc>
                          <a:spcPct val="104000"/>
                        </a:lnSpc>
                        <a:spcAft>
                          <a:spcPts val="0"/>
                        </a:spcAft>
                        <a:defRPr sz="1600" b="0">
                          <a:solidFill>
                            <a:srgbClr val="243A49"/>
                          </a:solidFill>
                          <a:latin typeface="Calibri"/>
                        </a:defRPr>
                      </a:pPr>
                      <a:r>
                        <a:t>Results, failures + limitations</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20" name="Rounded Rectangle 19"/>
          <p:cNvSpPr/>
          <p:nvPr/>
        </p:nvSpPr>
        <p:spPr>
          <a:xfrm>
            <a:off x="457200" y="4361688"/>
            <a:ext cx="6647688" cy="1097280"/>
          </a:xfrm>
          <a:prstGeom prst="roundRect">
            <a:avLst>
              <a:gd name="adj" fmla="val 8000"/>
            </a:avLst>
          </a:prstGeom>
          <a:solidFill>
            <a:srgbClr val="E7F3F1"/>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 y="4480559"/>
            <a:ext cx="6318503"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TEAM RECOMMENDATION — NOT AN OFFICIAL APPROVAL</a:t>
            </a:r>
          </a:p>
        </p:txBody>
      </p:sp>
      <p:sp>
        <p:nvSpPr>
          <p:cNvPr id="22" name="TextBox 21"/>
          <p:cNvSpPr txBox="1"/>
          <p:nvPr/>
        </p:nvSpPr>
        <p:spPr>
          <a:xfrm>
            <a:off x="621792" y="4727448"/>
            <a:ext cx="6318503" cy="649224"/>
          </a:xfrm>
          <a:prstGeom prst="rect">
            <a:avLst/>
          </a:prstGeom>
          <a:noFill/>
        </p:spPr>
        <p:txBody>
          <a:bodyPr wrap="square" lIns="0" tIns="0" rIns="0" bIns="0">
            <a:spAutoFit/>
          </a:bodyPr>
          <a:lstStyle/>
          <a:p>
            <a:pPr>
              <a:lnSpc>
                <a:spcPct val="104000"/>
              </a:lnSpc>
              <a:spcBef>
                <a:spcPts val="0"/>
              </a:spcBef>
              <a:spcAft>
                <a:spcPts val="200"/>
              </a:spcAft>
              <a:defRPr sz="1700" b="0">
                <a:solidFill>
                  <a:srgbClr val="243A49"/>
                </a:solidFill>
                <a:latin typeface="Calibri"/>
              </a:defRPr>
            </a:pPr>
            <a:r>
              <a:t>Revise: do a bounded I02 PoC only if feedback and Mentor support it; else return to validation. No approval claimed.</a:t>
            </a:r>
          </a:p>
        </p:txBody>
      </p:sp>
      <p:sp>
        <p:nvSpPr>
          <p:cNvPr id="23" name="Rounded Rectangle 22"/>
          <p:cNvSpPr/>
          <p:nvPr/>
        </p:nvSpPr>
        <p:spPr>
          <a:xfrm>
            <a:off x="7287768" y="4361688"/>
            <a:ext cx="4443984" cy="1097280"/>
          </a:xfrm>
          <a:prstGeom prst="roundRect">
            <a:avLst>
              <a:gd name="adj" fmla="val 8000"/>
            </a:avLst>
          </a:prstGeom>
          <a:solidFill>
            <a:srgbClr val="FFFFFF"/>
          </a:solidFill>
          <a:ln w="8255">
            <a:solidFill>
              <a:srgbClr val="D7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52360" y="4480559"/>
            <a:ext cx="4114800" cy="228600"/>
          </a:xfrm>
          <a:prstGeom prst="rect">
            <a:avLst/>
          </a:prstGeom>
          <a:noFill/>
        </p:spPr>
        <p:txBody>
          <a:bodyPr wrap="square" lIns="0" tIns="0" rIns="0" bIns="0">
            <a:spAutoFit/>
          </a:bodyPr>
          <a:lstStyle/>
          <a:p>
            <a:pPr>
              <a:lnSpc>
                <a:spcPct val="104000"/>
              </a:lnSpc>
              <a:spcBef>
                <a:spcPts val="0"/>
              </a:spcBef>
              <a:spcAft>
                <a:spcPts val="200"/>
              </a:spcAft>
              <a:defRPr sz="1150" b="1">
                <a:solidFill>
                  <a:srgbClr val="006E75"/>
                </a:solidFill>
                <a:latin typeface="Calibri"/>
              </a:defRPr>
            </a:pPr>
            <a:r>
              <a:t>EVIDENCE ACCESS</a:t>
            </a:r>
          </a:p>
        </p:txBody>
      </p:sp>
      <p:sp>
        <p:nvSpPr>
          <p:cNvPr id="25" name="TextBox 24"/>
          <p:cNvSpPr txBox="1"/>
          <p:nvPr/>
        </p:nvSpPr>
        <p:spPr>
          <a:xfrm>
            <a:off x="7452360" y="4727448"/>
            <a:ext cx="4114800" cy="649224"/>
          </a:xfrm>
          <a:prstGeom prst="rect">
            <a:avLst/>
          </a:prstGeom>
          <a:noFill/>
        </p:spPr>
        <p:txBody>
          <a:bodyPr wrap="square" lIns="0" tIns="0" rIns="0" bIns="0">
            <a:spAutoFit/>
          </a:bodyPr>
          <a:lstStyle/>
          <a:p>
            <a:pPr>
              <a:lnSpc>
                <a:spcPct val="104000"/>
              </a:lnSpc>
              <a:spcBef>
                <a:spcPts val="0"/>
              </a:spcBef>
              <a:spcAft>
                <a:spcPts val="200"/>
              </a:spcAft>
              <a:defRPr sz="1550" b="0">
                <a:solidFill>
                  <a:srgbClr val="243A49"/>
                </a:solidFill>
                <a:latin typeface="Calibri"/>
              </a:defRPr>
            </a:pPr>
            <a:r>
              <a:t>https://github.com/Ragavendhar25/Team-Titans (add P2_Ideation folder; confirm public access)</a:t>
            </a:r>
          </a:p>
        </p:txBody>
      </p:sp>
      <p:sp>
        <p:nvSpPr>
          <p:cNvPr id="26" name="TextBox 25"/>
          <p:cNvSpPr txBox="1"/>
          <p:nvPr/>
        </p:nvSpPr>
        <p:spPr>
          <a:xfrm>
            <a:off x="475488" y="5632704"/>
            <a:ext cx="11183112" cy="365760"/>
          </a:xfrm>
          <a:prstGeom prst="rect">
            <a:avLst/>
          </a:prstGeom>
          <a:noFill/>
        </p:spPr>
        <p:txBody>
          <a:bodyPr wrap="square" lIns="0" tIns="0" rIns="0" bIns="0">
            <a:spAutoFit/>
          </a:bodyPr>
          <a:lstStyle/>
          <a:p>
            <a:pPr>
              <a:lnSpc>
                <a:spcPct val="104000"/>
              </a:lnSpc>
              <a:spcBef>
                <a:spcPts val="0"/>
              </a:spcBef>
              <a:spcAft>
                <a:spcPts val="200"/>
              </a:spcAft>
              <a:defRPr sz="1500" b="1">
                <a:solidFill>
                  <a:srgbClr val="006E75"/>
                </a:solidFill>
                <a:latin typeface="Calibri"/>
              </a:defRPr>
            </a:pPr>
            <a:r>
              <a:t>Final check: 11 editable slides • 3+ distinct ideas • genuine feedback • clear selection • bounded P3 plan • sources + AI disclosure</a:t>
            </a:r>
          </a:p>
        </p:txBody>
      </p:sp>
      <p:sp>
        <p:nvSpPr>
          <p:cNvPr id="27" name="TextBox 26"/>
          <p:cNvSpPr txBox="1"/>
          <p:nvPr/>
        </p:nvSpPr>
        <p:spPr>
          <a:xfrm>
            <a:off x="475488" y="6099048"/>
            <a:ext cx="11183112" cy="184731"/>
          </a:xfrm>
          <a:prstGeom prst="rect">
            <a:avLst/>
          </a:prstGeom>
          <a:noFill/>
        </p:spPr>
        <p:txBody>
          <a:bodyPr wrap="square" lIns="0" tIns="0" rIns="0" bIns="0">
            <a:spAutoFit/>
          </a:bodyPr>
          <a:lstStyle/>
          <a:p>
            <a:pPr>
              <a:lnSpc>
                <a:spcPct val="104000"/>
              </a:lnSpc>
              <a:spcBef>
                <a:spcPts val="0"/>
              </a:spcBef>
              <a:spcAft>
                <a:spcPts val="200"/>
              </a:spcAft>
              <a:defRPr sz="1200" b="0">
                <a:solidFill>
                  <a:srgbClr val="597080"/>
                </a:solidFill>
                <a:latin typeface="Calibri"/>
              </a:defRPr>
            </a:pPr>
            <a:r>
              <a:t>Filename: SoI_P2_</a:t>
            </a:r>
            <a:r>
              <a:rPr err="1"/>
              <a:t>P-2026-29-CD-003-AY26-27</a:t>
            </a:r>
            <a:r>
              <a:t>_</a:t>
            </a:r>
            <a:r>
              <a:rPr err="1"/>
              <a:t>LabelGuard</a:t>
            </a:r>
            <a:r>
              <a:t>_v01.pptx  |  P3 (tentative): 26 Oct 2026  |  Pre-Demo Day after P3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3d7fd87-1c27-4ecb-a552-d269452aef4a">
      <Terms xmlns="http://schemas.microsoft.com/office/infopath/2007/PartnerControls"/>
    </lcf76f155ced4ddcb4097134ff3c332f>
    <TaxCatchAll xmlns="24568d75-822a-4910-be19-a93b1047f65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9FE0E13DD1E8D4290B307E444056CF7" ma:contentTypeVersion="9" ma:contentTypeDescription="Create a new document." ma:contentTypeScope="" ma:versionID="bd95f0b967197f3f5f201eb6118f6a9b">
  <xsd:schema xmlns:xsd="http://www.w3.org/2001/XMLSchema" xmlns:xs="http://www.w3.org/2001/XMLSchema" xmlns:p="http://schemas.microsoft.com/office/2006/metadata/properties" xmlns:ns2="d3d7fd87-1c27-4ecb-a552-d269452aef4a" xmlns:ns3="24568d75-822a-4910-be19-a93b1047f652" targetNamespace="http://schemas.microsoft.com/office/2006/metadata/properties" ma:root="true" ma:fieldsID="24f263be06a898740c07302d5e9db6cb" ns2:_="" ns3:_="">
    <xsd:import namespace="d3d7fd87-1c27-4ecb-a552-d269452aef4a"/>
    <xsd:import namespace="24568d75-822a-4910-be19-a93b1047f6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d7fd87-1c27-4ecb-a552-d269452aef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7d36ee0-516a-46d7-9c37-891188aa7a36"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4568d75-822a-4910-be19-a93b1047f6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03bc995-53ff-4816-8bc9-b634ee589b7c}" ma:internalName="TaxCatchAll" ma:showField="CatchAllData" ma:web="24568d75-822a-4910-be19-a93b1047f6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47B185-0D88-4C67-A492-BBA1B56AABFA}">
  <ds:schemaRefs>
    <ds:schemaRef ds:uri="24568d75-822a-4910-be19-a93b1047f652"/>
    <ds:schemaRef ds:uri="d3d7fd87-1c27-4ecb-a552-d269452aef4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8FD590B-342D-4EDE-A054-33DEC208ECA8}">
  <ds:schemaRefs>
    <ds:schemaRef ds:uri="24568d75-822a-4910-be19-a93b1047f652"/>
    <ds:schemaRef ds:uri="d3d7fd87-1c27-4ecb-a552-d269452aef4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A0F52F1-6B08-402D-B0C2-8D6FC21B9C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 Phase 2 Ideation — [Problem-oriented project title]</dc:title>
  <dc:subject>AY2026–27 | 16 October 2026 | Student submission</dc:subject>
  <dc:creator>School of Innovation, KGiSL Institute of Technology</dc:creator>
  <cp:keywords>SoI; P2; Ideation; AY2026-27</cp:keywords>
  <dc:description>generated using python-pptx</dc:description>
  <cp:revision>1</cp:revision>
  <dcterms:created xsi:type="dcterms:W3CDTF">2013-01-27T09:14:16Z</dcterms:created>
  <dcterms:modified xsi:type="dcterms:W3CDTF">2026-10-14T15:44:36Z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0x010100E9FE0E13DD1E8D4290B307E444056CF7</vt:lpwstr>
  </property>
  <property fmtid="{D5CDD505-2E9C-101B-9397-08002B2CF9AE}" pid="3" name="MediaServiceImageTags">
    <vt:lpwstr/>
  </property>
</Properties>
</file>