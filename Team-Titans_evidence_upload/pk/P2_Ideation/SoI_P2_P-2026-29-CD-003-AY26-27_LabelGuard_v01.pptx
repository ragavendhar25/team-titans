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6"/>
  </p:notesMasterIdLst>
  <p:sldIdLst>
    <p:sldId id="256" r:id="rId5"/>
    <p:sldId id="257" r:id="rId6"/>
    <p:sldId id="258" r:id="rId7"/>
    <p:sldId id="259" r:id="rId8"/>
    <p:sldId id="260" r:id="rId9"/>
    <p:sldId id="261" r:id="rId10"/>
    <p:sldId id="262" r:id="rId11"/>
    <p:sldId id="263" r:id="rId12"/>
    <p:sldId id="264" r:id="rId13"/>
    <p:sldId id="265" r:id="rId14"/>
    <p:sldId id="266"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9" dt="2026-10-14T06:58:16.219"/>
    <p1510:client id="{0D1D7992-A937-420F-63CB-AF89D7C1349A}" v="1" dt="2026-10-14T10:04:35.463"/>
    <p1510:client id="{34942ABA-6D2A-BF55-D4EE-499E3F34F020}" v="1" dt="2026-10-14T06:01:35.178"/>
    <p1510:client id="{91B57637-C231-7013-7AA9-B14A8BA76A78}" v="1" dt="2026-10-14T06:43:05.072"/>
    <p1510:client id="{C2CC542F-9F46-D703-1785-DC5236AADF86}" v="1" dt="2026-10-14T15:44:29.902"/>
    <p1510:client id="{F270F15E-499B-02D3-A49C-D443CBA12477}" v="3" dt="2026-10-14T07:04:20.12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6/11/relationships/changesInfo" Target="changesInfos/changesInfo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barimanikandan Devaraj" userId="S::sabarimanikandan.d_25me@soi.kgkite.ac.in::31d503e1-2f0b-476c-85e6-38d39685c869" providerId="AD" clId="Web-{00000000-0000-0000-0000-000000000000}"/>
    <pc:docChg chg="modSld">
      <pc:chgData name="Sabarimanikandan Devaraj" userId="S::sabarimanikandan.d_25me@soi.kgkite.ac.in::31d503e1-2f0b-476c-85e6-38d39685c869" providerId="AD" clId="Web-{00000000-0000-0000-0000-000000000000}" dt="2026-10-14T06:58:14.828" v="3" actId="20577"/>
      <pc:docMkLst>
        <pc:docMk/>
      </pc:docMkLst>
      <pc:sldChg chg="modSp">
        <pc:chgData name="Sabarimanikandan Devaraj" userId="S::sabarimanikandan.d_25me@soi.kgkite.ac.in::31d503e1-2f0b-476c-85e6-38d39685c869" providerId="AD" clId="Web-{00000000-0000-0000-0000-000000000000}" dt="2026-10-14T06:58:14.828" v="3" actId="20577"/>
        <pc:sldMkLst>
          <pc:docMk/>
          <pc:sldMk cId="0" sldId="256"/>
        </pc:sldMkLst>
        <pc:spChg chg="mod">
          <ac:chgData name="Sabarimanikandan Devaraj" userId="S::sabarimanikandan.d_25me@soi.kgkite.ac.in::31d503e1-2f0b-476c-85e6-38d39685c869" providerId="AD" clId="Web-{00000000-0000-0000-0000-000000000000}" dt="2026-10-14T06:58:14.828" v="3" actId="20577"/>
          <ac:spMkLst>
            <pc:docMk/>
            <pc:sldMk cId="0" sldId="256"/>
            <ac:spMk id="26" creationId="{00000000-0000-0000-0000-000000000000}"/>
          </ac:spMkLst>
        </pc:spChg>
      </pc:sldChg>
    </pc:docChg>
  </pc:docChgLst>
  <pc:docChgLst>
    <pc:chgData name="Sivarengini Vibheeshan" userId="S::sivarengini.v_25cs@soi.kgkite.ac.in::175d2022-f934-461f-b420-66c4c41c54e1" providerId="AD" clId="Web-{34942ABA-6D2A-BF55-D4EE-499E3F34F020}"/>
    <pc:docChg chg="delSld">
      <pc:chgData name="Sivarengini Vibheeshan" userId="S::sivarengini.v_25cs@soi.kgkite.ac.in::175d2022-f934-461f-b420-66c4c41c54e1" providerId="AD" clId="Web-{34942ABA-6D2A-BF55-D4EE-499E3F34F020}" dt="2026-10-14T06:01:35.178" v="0"/>
      <pc:docMkLst>
        <pc:docMk/>
      </pc:docMkLst>
      <pc:sldChg chg="del">
        <pc:chgData name="Sivarengini Vibheeshan" userId="S::sivarengini.v_25cs@soi.kgkite.ac.in::175d2022-f934-461f-b420-66c4c41c54e1" providerId="AD" clId="Web-{34942ABA-6D2A-BF55-D4EE-499E3F34F020}" dt="2026-10-14T06:01:35.178" v="0"/>
        <pc:sldMkLst>
          <pc:docMk/>
          <pc:sldMk cId="2620070453" sldId="267"/>
        </pc:sldMkLst>
      </pc:sldChg>
    </pc:docChg>
  </pc:docChgLst>
  <pc:docChgLst>
    <pc:chgData name="Vinith Poovarasan" userId="S::vinith.p_25am@soi.kgkite.ac.in::4f767adb-d152-4c3e-8151-56a2a4475e82" providerId="AD" clId="Web-{91B57637-C231-7013-7AA9-B14A8BA76A78}"/>
    <pc:docChg chg="addSld">
      <pc:chgData name="Vinith Poovarasan" userId="S::vinith.p_25am@soi.kgkite.ac.in::4f767adb-d152-4c3e-8151-56a2a4475e82" providerId="AD" clId="Web-{91B57637-C231-7013-7AA9-B14A8BA76A78}" dt="2026-10-14T06:43:05.072" v="0"/>
      <pc:docMkLst>
        <pc:docMk/>
      </pc:docMkLst>
      <pc:sldChg chg="new">
        <pc:chgData name="Vinith Poovarasan" userId="S::vinith.p_25am@soi.kgkite.ac.in::4f767adb-d152-4c3e-8151-56a2a4475e82" providerId="AD" clId="Web-{91B57637-C231-7013-7AA9-B14A8BA76A78}" dt="2026-10-14T06:43:05.072" v="0"/>
        <pc:sldMkLst>
          <pc:docMk/>
          <pc:sldMk cId="2267646241" sldId="267"/>
        </pc:sldMkLst>
      </pc:sldChg>
    </pc:docChg>
  </pc:docChgLst>
  <pc:docChgLst>
    <pc:chgData name="Harun Balasubramaniam" userId="S::harun.b_25am@soi.kgkite.ac.in::aa82e4c3-1a75-487c-b0c9-09a84982e8ef" providerId="AD" clId="Web-{D7C825DF-99A3-4CB4-E699-B7EF045D4DE0}"/>
    <pc:docChg chg="addSld">
      <pc:chgData name="Harun Balasubramaniam" userId="S::harun.b_25am@soi.kgkite.ac.in::aa82e4c3-1a75-487c-b0c9-09a84982e8ef" providerId="AD" clId="Web-{D7C825DF-99A3-4CB4-E699-B7EF045D4DE0}" dt="2026-10-08T10:33:54.334" v="0"/>
      <pc:docMkLst>
        <pc:docMk/>
      </pc:docMkLst>
    </pc:docChg>
  </pc:docChgLst>
  <pc:docChgLst>
    <pc:chgData name="Rama Rohith Ramasubramanian" userId="S::ramarohith.r_25ec@soi.kgkite.ac.in::9a9b8f42-468f-4c07-8602-b07243b0a0fe" providerId="AD" clId="Web-{C2CC542F-9F46-D703-1785-DC5236AADF86}"/>
    <pc:docChg chg="modSld">
      <pc:chgData name="Rama Rohith Ramasubramanian" userId="S::ramarohith.r_25ec@soi.kgkite.ac.in::9a9b8f42-468f-4c07-8602-b07243b0a0fe" providerId="AD" clId="Web-{C2CC542F-9F46-D703-1785-DC5236AADF86}" dt="2026-10-14T15:44:29.902" v="0" actId="14100"/>
      <pc:docMkLst>
        <pc:docMk/>
      </pc:docMkLst>
      <pc:sldChg chg="modSp">
        <pc:chgData name="Rama Rohith Ramasubramanian" userId="S::ramarohith.r_25ec@soi.kgkite.ac.in::9a9b8f42-468f-4c07-8602-b07243b0a0fe" providerId="AD" clId="Web-{C2CC542F-9F46-D703-1785-DC5236AADF86}" dt="2026-10-14T15:44:29.902" v="0" actId="14100"/>
        <pc:sldMkLst>
          <pc:docMk/>
          <pc:sldMk cId="0" sldId="257"/>
        </pc:sldMkLst>
        <pc:spChg chg="mod">
          <ac:chgData name="Rama Rohith Ramasubramanian" userId="S::ramarohith.r_25ec@soi.kgkite.ac.in::9a9b8f42-468f-4c07-8602-b07243b0a0fe" providerId="AD" clId="Web-{C2CC542F-9F46-D703-1785-DC5236AADF86}" dt="2026-10-14T15:44:29.902" v="0" actId="14100"/>
          <ac:spMkLst>
            <pc:docMk/>
            <pc:sldMk cId="0" sldId="257"/>
            <ac:spMk id="29" creationId="{00000000-0000-0000-0000-000000000000}"/>
          </ac:spMkLst>
        </pc:spChg>
      </pc:sldChg>
    </pc:docChg>
  </pc:docChgLst>
  <pc:docChgLst>
    <pc:chgData name="Nikitha Palaniyappan" userId="S::nikitha.p_25ec@soi.kgkite.ac.in::a5ec22fa-75d9-48ef-b70d-2ce7aa90b5e7" providerId="AD" clId="Web-{F270F15E-499B-02D3-A49C-D443CBA12477}"/>
    <pc:docChg chg="modSld">
      <pc:chgData name="Nikitha Palaniyappan" userId="S::nikitha.p_25ec@soi.kgkite.ac.in::a5ec22fa-75d9-48ef-b70d-2ce7aa90b5e7" providerId="AD" clId="Web-{F270F15E-499B-02D3-A49C-D443CBA12477}" dt="2026-10-14T07:04:20.120" v="2" actId="1076"/>
      <pc:docMkLst>
        <pc:docMk/>
      </pc:docMkLst>
      <pc:sldChg chg="modSp">
        <pc:chgData name="Nikitha Palaniyappan" userId="S::nikitha.p_25ec@soi.kgkite.ac.in::a5ec22fa-75d9-48ef-b70d-2ce7aa90b5e7" providerId="AD" clId="Web-{F270F15E-499B-02D3-A49C-D443CBA12477}" dt="2026-10-14T07:04:20.120" v="2" actId="1076"/>
        <pc:sldMkLst>
          <pc:docMk/>
          <pc:sldMk cId="0" sldId="256"/>
        </pc:sldMkLst>
        <pc:spChg chg="mod">
          <ac:chgData name="Nikitha Palaniyappan" userId="S::nikitha.p_25ec@soi.kgkite.ac.in::a5ec22fa-75d9-48ef-b70d-2ce7aa90b5e7" providerId="AD" clId="Web-{F270F15E-499B-02D3-A49C-D443CBA12477}" dt="2026-10-14T06:56:41.851" v="1" actId="1076"/>
          <ac:spMkLst>
            <pc:docMk/>
            <pc:sldMk cId="0" sldId="256"/>
            <ac:spMk id="19" creationId="{00000000-0000-0000-0000-000000000000}"/>
          </ac:spMkLst>
        </pc:spChg>
        <pc:spChg chg="mod">
          <ac:chgData name="Nikitha Palaniyappan" userId="S::nikitha.p_25ec@soi.kgkite.ac.in::a5ec22fa-75d9-48ef-b70d-2ce7aa90b5e7" providerId="AD" clId="Web-{F270F15E-499B-02D3-A49C-D443CBA12477}" dt="2026-10-14T07:04:20.120" v="2" actId="1076"/>
          <ac:spMkLst>
            <pc:docMk/>
            <pc:sldMk cId="0" sldId="256"/>
            <ac:spMk id="26" creationId="{00000000-0000-0000-0000-000000000000}"/>
          </ac:spMkLst>
        </pc:spChg>
      </pc:sldChg>
    </pc:docChg>
  </pc:docChgLst>
  <pc:docChgLst>
    <pc:chgData name="Hariathish Kannan" userId="S::hariathish.k_25ec@soi.kgkite.ac.in::9699afca-da34-4d15-a8d0-80bf5788732b" providerId="AD" clId="Web-{0D1D7992-A937-420F-63CB-AF89D7C1349A}"/>
    <pc:docChg chg="delSld">
      <pc:chgData name="Hariathish Kannan" userId="S::hariathish.k_25ec@soi.kgkite.ac.in::9699afca-da34-4d15-a8d0-80bf5788732b" providerId="AD" clId="Web-{0D1D7992-A937-420F-63CB-AF89D7C1349A}" dt="2026-10-14T10:04:35.463" v="0"/>
      <pc:docMkLst>
        <pc:docMk/>
      </pc:docMkLst>
      <pc:sldChg chg="del">
        <pc:chgData name="Hariathish Kannan" userId="S::hariathish.k_25ec@soi.kgkite.ac.in::9699afca-da34-4d15-a8d0-80bf5788732b" providerId="AD" clId="Web-{0D1D7992-A937-420F-63CB-AF89D7C1349A}" dt="2026-10-14T10:04:35.463" v="0"/>
        <pc:sldMkLst>
          <pc:docMk/>
          <pc:sldMk cId="2267646241" sldId="26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691800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STUDENT FORMAT — PHASE 2 / IDEATION — AY2026–27</a:t>
            </a:r>
          </a:p>
          <a:p>
            <a:r>
              <a:t>Deadline: 16 October 2026. Applies to all 2025–29 teams and 2024–28 teams starting NEW AY2026–27 projects. It does not reset continuing AY2025–26 projects.</a:t>
            </a:r>
          </a:p>
          <a:p>
            <a:r>
              <a:t>Submit this 11-slide editable PPTX and a reviewer-accessible evidence-folder link through the Microsoft Form when announced. A working PoC, two-minute video or new paper/patent draft is not required for this P2 submission. P3 submission is tentatively scheduled for 26 October 2026; Pre-Demo Day follows P3.</a:t>
            </a:r>
          </a:p>
          <a:p>
            <a:r>
              <a:t>Preserve the official full Team ID from P1. Do not create a new ID for a new phase or relabel a vertical without coordinator approval. Use SoI_P2_&lt;TeamID&gt;_&lt;ProjectShortName&gt;_v01.pptx.</a:t>
            </a:r>
          </a:p>
          <a:p>
            <a:r>
              <a:t>Mentor / Project In-charge recommendations and Lab Head decisions remain in a separate official record. A team recommendation is not an approval. A P1 review pending or required action must remain visible.</a:t>
            </a:r>
          </a:p>
          <a:p>
            <a:r>
              <a:t>Use evidence IDs, labelled Measured / Reported / Estimated / Planned. Distinguish synthetic demonstrations from customer evidence. Keep sources and raw evidence in the existing project folder under P2_Ideation. Keep private data and unpublished IP restricted to authorised reviewers; a public link is not required.</a:t>
            </a:r>
          </a:p>
          <a:p>
            <a:r>
              <a:t>Keep slide order, labels and native tables for consistent review. Replace all prompts and check copied example text. Put full sources and extra evidence context in Notes, not tiny text.</a:t>
            </a:r>
          </a:p>
          <a:p>
            <a:endParaRPr/>
          </a:p>
          <a:p>
            <a:r>
              <a:t>FIELD KEYS: team_id, batch, project_title, primary_vertical, mentor, submission_version, p1_submission_ref, p1_gate_status, p1_open_actions</a:t>
            </a:r>
          </a:p>
          <a:p>
            <a:endParaRPr/>
          </a:p>
          <a:p>
            <a:r>
              <a:t>Carry P1 reference + recorded status + action closure forward. A submitted or mentor-reviewed Form is not necessarily Lab Head approval. Open critical evidence/permission actions must not disappear at P2. A significant change of customer/problem must be revalidated and reviewed.</a:t>
            </a:r>
          </a:p>
          <a:p>
            <a:endParaRPr/>
          </a:p>
          <a:p>
            <a:r>
              <a:t>REFERENCES (accessed 5 October 2026; public method/capability references, not primary user evidence)</a:t>
            </a:r>
          </a:p>
          <a:p>
            <a:r>
              <a:t>M1: Design Council — Double Diamond</a:t>
            </a:r>
          </a:p>
          <a:p>
            <a:r>
              <a:t>https://www.designcouncil.org.uk/resources/the-double-diamond/</a:t>
            </a:r>
          </a:p>
          <a:p>
            <a:r>
              <a:t>M2: Stanford d.school — How Might We questions</a:t>
            </a:r>
          </a:p>
          <a:p>
            <a:r>
              <a:t>https://dschool.stanford.edu/tools/how-might-we-questions</a:t>
            </a:r>
          </a:p>
          <a:p>
            <a:r>
              <a:t>M3: Stanford d.school — Idea Expedition</a:t>
            </a:r>
          </a:p>
          <a:p>
            <a:r>
              <a:t>https://dschool.stanford.edu/tools/idea-expedition</a:t>
            </a:r>
          </a:p>
          <a:p>
            <a:r>
              <a:t>M4: IDEO — human-centred Design Thinking</a:t>
            </a:r>
          </a:p>
          <a:p>
            <a:r>
              <a:t>https://designthinking.ideo.com/introduction</a:t>
            </a:r>
          </a:p>
          <a:p>
            <a:r>
              <a:t>M5: Agile Business Consortium — MoSCoW prioritisation</a:t>
            </a:r>
          </a:p>
          <a:p>
            <a:r>
              <a:t>https://www.agilebusiness.org/resource/what-is-moscow-prioritization/</a:t>
            </a:r>
          </a:p>
          <a:p>
            <a:r>
              <a:t>M6: UK Government Service Manual — testing risky assumptions in alpha</a:t>
            </a:r>
          </a:p>
          <a:p>
            <a:r>
              <a:t>https://www.gov.uk/service-manual/agile-delivery/how-the-alpha-phase-works</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STUDENT FORMAT — PHASE 2 / IDEATION — AY2026–27</a:t>
            </a:r>
          </a:p>
          <a:p>
            <a:r>
              <a:t>Deadline: 16 October 2026. Applies to all 2025–29 teams and 2024–28 teams starting NEW AY2026–27 projects. It does not reset continuing AY2025–26 projects.</a:t>
            </a:r>
          </a:p>
          <a:p>
            <a:r>
              <a:t>Submit this 11-slide editable PPTX and a reviewer-accessible evidence-folder link through the Microsoft Form when announced. A working PoC, two-minute video or new paper/patent draft is not required for this P2 submission. P3 submission is tentatively scheduled for 26 October 2026; Pre-Demo Day follows P3.</a:t>
            </a:r>
          </a:p>
          <a:p>
            <a:r>
              <a:t>Preserve the official full Team ID from P1. Do not create a new ID for a new phase or relabel a vertical without coordinator approval. Use SoI_P2_&lt;TeamID&gt;_&lt;ProjectShortName&gt;_v01.pptx.</a:t>
            </a:r>
          </a:p>
          <a:p>
            <a:r>
              <a:t>Mentor / Project In-charge recommendations and Lab Head decisions remain in a separate official record. A team recommendation is not an approval. A P1 review pending or required action must remain visible.</a:t>
            </a:r>
          </a:p>
          <a:p>
            <a:r>
              <a:t>Use evidence IDs, labelled Measured / Reported / Estimated / Planned. Distinguish synthetic demonstrations from customer evidence. Keep sources and raw evidence in the existing project folder under P2_Ideation. Keep private data and unpublished IP restricted to authorised reviewers; a public link is not required.</a:t>
            </a:r>
          </a:p>
          <a:p>
            <a:r>
              <a:t>Keep slide order, labels and native tables for consistent review. Replace all prompts and check copied example text. Put full sources and extra evidence context in Notes, not tiny text.</a:t>
            </a:r>
          </a:p>
          <a:p>
            <a:endParaRPr/>
          </a:p>
          <a:p>
            <a:r>
              <a:t>FIELD KEYS: primary_user, problem_statement, p1_baseline, baseline_evidence_id, hmw_question, design_requirements</a:t>
            </a:r>
          </a:p>
          <a:p>
            <a:endParaRPr/>
          </a:p>
          <a:p>
            <a:r>
              <a:t>Definitions: Baseline = the condition before the intervention. How Might We (HMW) = a solution-neutral question inviting different possible answers. A requirement should be traceable to a need or constraint, not simply a preferred feature. For quantitative claims preserve denominator, time window and evidence type.</a:t>
            </a:r>
          </a:p>
          <a:p>
            <a:endParaRPr/>
          </a:p>
          <a:p>
            <a:r>
              <a:t>REFERENCES (accessed 5 October 2026; public method/capability references, not primary user evidence)</a:t>
            </a:r>
          </a:p>
          <a:p>
            <a:r>
              <a:t>M1: Design Council — Double Diamond</a:t>
            </a:r>
          </a:p>
          <a:p>
            <a:r>
              <a:t>https://www.designcouncil.org.uk/resources/the-double-diamond/</a:t>
            </a:r>
          </a:p>
          <a:p>
            <a:r>
              <a:t>M2: Stanford d.school — How Might We questions</a:t>
            </a:r>
          </a:p>
          <a:p>
            <a:r>
              <a:t>https://dschool.stanford.edu/tools/how-might-we-questions</a:t>
            </a:r>
          </a:p>
          <a:p>
            <a:r>
              <a:t>M3: Stanford d.school — Idea Expedition</a:t>
            </a:r>
          </a:p>
          <a:p>
            <a:r>
              <a:t>https://dschool.stanford.edu/tools/idea-expedition</a:t>
            </a:r>
          </a:p>
          <a:p>
            <a:r>
              <a:t>M4: IDEO — human-centred Design Thinking</a:t>
            </a:r>
          </a:p>
          <a:p>
            <a:r>
              <a:t>https://designthinking.ideo.com/introduction</a:t>
            </a:r>
          </a:p>
          <a:p>
            <a:r>
              <a:t>M5: Agile Business Consortium — MoSCoW prioritisation</a:t>
            </a:r>
          </a:p>
          <a:p>
            <a:r>
              <a:t>https://www.agilebusiness.org/resource/what-is-moscow-prioritization/</a:t>
            </a:r>
          </a:p>
          <a:p>
            <a:r>
              <a:t>M6: UK Government Service Manual — testing risky assumptions in alpha</a:t>
            </a:r>
          </a:p>
          <a:p>
            <a:r>
              <a:t>https://www.gov.uk/service-manual/agile-delivery/how-the-alpha-phase-works</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STUDENT FORMAT — PHASE 2 / IDEATION — AY2026–27</a:t>
            </a:r>
          </a:p>
          <a:p>
            <a:r>
              <a:t>Deadline: 16 October 2026. Applies to all 2025–29 teams and 2024–28 teams starting NEW AY2026–27 projects. It does not reset continuing AY2025–26 projects.</a:t>
            </a:r>
          </a:p>
          <a:p>
            <a:r>
              <a:t>Submit this 11-slide editable PPTX and a reviewer-accessible evidence-folder link through the Microsoft Form when announced. A working PoC, two-minute video or new paper/patent draft is not required for this P2 submission. P3 submission is tentatively scheduled for 26 October 2026; Pre-Demo Day follows P3.</a:t>
            </a:r>
          </a:p>
          <a:p>
            <a:r>
              <a:t>Preserve the official full Team ID from P1. Do not create a new ID for a new phase or relabel a vertical without coordinator approval. Use SoI_P2_&lt;TeamID&gt;_&lt;ProjectShortName&gt;_v01.pptx.</a:t>
            </a:r>
          </a:p>
          <a:p>
            <a:r>
              <a:t>Mentor / Project In-charge recommendations and Lab Head decisions remain in a separate official record. A team recommendation is not an approval. A P1 review pending or required action must remain visible.</a:t>
            </a:r>
          </a:p>
          <a:p>
            <a:r>
              <a:t>Use evidence IDs, labelled Measured / Reported / Estimated / Planned. Distinguish synthetic demonstrations from customer evidence. Keep sources and raw evidence in the existing project folder under P2_Ideation. Keep private data and unpublished IP restricted to authorised reviewers; a public link is not required.</a:t>
            </a:r>
          </a:p>
          <a:p>
            <a:r>
              <a:t>Keep slide order, labels and native tables for consistent review. Replace all prompts and check copied example text. Put full sources and extra evidence context in Notes, not tiny text.</a:t>
            </a:r>
          </a:p>
          <a:p>
            <a:endParaRPr/>
          </a:p>
          <a:p>
            <a:r>
              <a:t>FIELD KEYS: alternatives, existing_strengths, unresolved_gap, source_refs</a:t>
            </a:r>
          </a:p>
          <a:p>
            <a:endParaRPr/>
          </a:p>
          <a:p>
            <a:r>
              <a:t>A0/A1/A2 denote existing alternatives, not newly generated concepts I01/I02/I03. Compare what works as well as gaps. Prefer reuse, configuration or a simple process when it meets the validated need. A new project need not claim global invention. Put source title, URL, date and locally checked limitations in the evidence register.</a:t>
            </a:r>
          </a:p>
          <a:p>
            <a:endParaRPr/>
          </a:p>
          <a:p>
            <a:r>
              <a:t>REFERENCES (accessed 5 October 2026; public method/capability references, not primary user evidence)</a:t>
            </a:r>
          </a:p>
          <a:p>
            <a:r>
              <a:t>M1: Design Council — Double Diamond</a:t>
            </a:r>
          </a:p>
          <a:p>
            <a:r>
              <a:t>https://www.designcouncil.org.uk/resources/the-double-diamond/</a:t>
            </a:r>
          </a:p>
          <a:p>
            <a:r>
              <a:t>M2: Stanford d.school — How Might We questions</a:t>
            </a:r>
          </a:p>
          <a:p>
            <a:r>
              <a:t>https://dschool.stanford.edu/tools/how-might-we-questions</a:t>
            </a:r>
          </a:p>
          <a:p>
            <a:r>
              <a:t>M3: Stanford d.school — Idea Expedition</a:t>
            </a:r>
          </a:p>
          <a:p>
            <a:r>
              <a:t>https://dschool.stanford.edu/tools/idea-expedition</a:t>
            </a:r>
          </a:p>
          <a:p>
            <a:r>
              <a:t>M4: IDEO — human-centred Design Thinking</a:t>
            </a:r>
          </a:p>
          <a:p>
            <a:r>
              <a:t>https://designthinking.ideo.com/introduction</a:t>
            </a:r>
          </a:p>
          <a:p>
            <a:r>
              <a:t>M5: Agile Business Consortium — MoSCoW prioritisation</a:t>
            </a:r>
          </a:p>
          <a:p>
            <a:r>
              <a:t>https://www.agilebusiness.org/resource/what-is-moscow-prioritization/</a:t>
            </a:r>
          </a:p>
          <a:p>
            <a:r>
              <a:t>M6: UK Government Service Manual — testing risky assumptions in alpha</a:t>
            </a:r>
          </a:p>
          <a:p>
            <a:r>
              <a:t>https://www.gov.uk/service-manual/agile-delivery/how-the-alpha-phase-works</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STUDENT FORMAT — PHASE 2 / IDEATION — AY2026–27</a:t>
            </a:r>
          </a:p>
          <a:p>
            <a:r>
              <a:t>Deadline: 16 October 2026. Applies to all 2025–29 teams and 2024–28 teams starting NEW AY2026–27 projects. It does not reset continuing AY2025–26 projects.</a:t>
            </a:r>
          </a:p>
          <a:p>
            <a:r>
              <a:t>Submit this 11-slide editable PPTX and a reviewer-accessible evidence-folder link through the Microsoft Form when announced. A working PoC, two-minute video or new paper/patent draft is not required for this P2 submission. P3 submission is tentatively scheduled for 26 October 2026; Pre-Demo Day follows P3.</a:t>
            </a:r>
          </a:p>
          <a:p>
            <a:r>
              <a:t>Preserve the official full Team ID from P1. Do not create a new ID for a new phase or relabel a vertical without coordinator approval. Use SoI_P2_&lt;TeamID&gt;_&lt;ProjectShortName&gt;_v01.pptx.</a:t>
            </a:r>
          </a:p>
          <a:p>
            <a:r>
              <a:t>Mentor / Project In-charge recommendations and Lab Head decisions remain in a separate official record. A team recommendation is not an approval. A P1 review pending or required action must remain visible.</a:t>
            </a:r>
          </a:p>
          <a:p>
            <a:r>
              <a:t>Use evidence IDs, labelled Measured / Reported / Estimated / Planned. Distinguish synthetic demonstrations from customer evidence. Keep sources and raw evidence in the existing project folder under P2_Ideation. Keep private data and unpublished IP restricted to authorised reviewers; a public link is not required.</a:t>
            </a:r>
          </a:p>
          <a:p>
            <a:r>
              <a:t>Keep slide order, labels and native tables for consistent review. Replace all prompts and check copied example text. Put full sources and extra evidence context in Notes, not tiny text.</a:t>
            </a:r>
          </a:p>
          <a:p>
            <a:endParaRPr/>
          </a:p>
          <a:p>
            <a:r>
              <a:t>FIELD KEYS: ideation_date, participants, methods, generated_ideas, shortlist_map, ai_use</a:t>
            </a:r>
          </a:p>
          <a:p>
            <a:endParaRPr/>
          </a:p>
          <a:p>
            <a:r>
              <a:t>At least three materially different ideas are required. Six raw idea slots encourage divergence, but six is not a new minimum. Independent idea writing reduces early anchoring; every team member should contribute before clustering. Use at least two suitable methods and keep the artifacts. The simplest sequence is HMW + independent writing + storyboard. Generative AI can suggest counterarguments or variations but may not manufacture customers, interviews, results or citations.</a:t>
            </a:r>
          </a:p>
          <a:p>
            <a:endParaRPr/>
          </a:p>
          <a:p>
            <a:r>
              <a:t>REFERENCES (accessed 5 October 2026; public method/capability references, not primary user evidence)</a:t>
            </a:r>
          </a:p>
          <a:p>
            <a:r>
              <a:t>M1: Design Council — Double Diamond</a:t>
            </a:r>
          </a:p>
          <a:p>
            <a:r>
              <a:t>https://www.designcouncil.org.uk/resources/the-double-diamond/</a:t>
            </a:r>
          </a:p>
          <a:p>
            <a:r>
              <a:t>M2: Stanford d.school — How Might We questions</a:t>
            </a:r>
          </a:p>
          <a:p>
            <a:r>
              <a:t>https://dschool.stanford.edu/tools/how-might-we-questions</a:t>
            </a:r>
          </a:p>
          <a:p>
            <a:r>
              <a:t>M3: Stanford d.school — Idea Expedition</a:t>
            </a:r>
          </a:p>
          <a:p>
            <a:r>
              <a:t>https://dschool.stanford.edu/tools/idea-expedition</a:t>
            </a:r>
          </a:p>
          <a:p>
            <a:r>
              <a:t>M4: IDEO — human-centred Design Thinking</a:t>
            </a:r>
          </a:p>
          <a:p>
            <a:r>
              <a:t>https://designthinking.ideo.com/introduction</a:t>
            </a:r>
          </a:p>
          <a:p>
            <a:r>
              <a:t>M5: Agile Business Consortium — MoSCoW prioritisation</a:t>
            </a:r>
          </a:p>
          <a:p>
            <a:r>
              <a:t>https://www.agilebusiness.org/resource/what-is-moscow-prioritization/</a:t>
            </a:r>
          </a:p>
          <a:p>
            <a:r>
              <a:t>M6: UK Government Service Manual — testing risky assumptions in alpha</a:t>
            </a:r>
          </a:p>
          <a:p>
            <a:r>
              <a:t>https://www.gov.uk/service-manual/agile-delivery/how-the-alpha-phase-works</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STUDENT FORMAT — PHASE 2 / IDEATION — AY2026–27</a:t>
            </a:r>
          </a:p>
          <a:p>
            <a:r>
              <a:t>Deadline: 16 October 2026. Applies to all 2025–29 teams and 2024–28 teams starting NEW AY2026–27 projects. It does not reset continuing AY2025–26 projects.</a:t>
            </a:r>
          </a:p>
          <a:p>
            <a:r>
              <a:t>Submit this 11-slide editable PPTX and a reviewer-accessible evidence-folder link through the Microsoft Form when announced. A working PoC, two-minute video or new paper/patent draft is not required for this P2 submission. P3 submission is tentatively scheduled for 26 October 2026; Pre-Demo Day follows P3.</a:t>
            </a:r>
          </a:p>
          <a:p>
            <a:r>
              <a:t>Preserve the official full Team ID from P1. Do not create a new ID for a new phase or relabel a vertical without coordinator approval. Use SoI_P2_&lt;TeamID&gt;_&lt;ProjectShortName&gt;_v01.pptx.</a:t>
            </a:r>
          </a:p>
          <a:p>
            <a:r>
              <a:t>Mentor / Project In-charge recommendations and Lab Head decisions remain in a separate official record. A team recommendation is not an approval. A P1 review pending or required action must remain visible.</a:t>
            </a:r>
          </a:p>
          <a:p>
            <a:r>
              <a:t>Use evidence IDs, labelled Measured / Reported / Estimated / Planned. Distinguish synthetic demonstrations from customer evidence. Keep sources and raw evidence in the existing project folder under P2_Ideation. Keep private data and unpublished IP restricted to authorised reviewers; a public link is not required.</a:t>
            </a:r>
          </a:p>
          <a:p>
            <a:r>
              <a:t>Keep slide order, labels and native tables for consistent review. Replace all prompts and check copied example text. Put full sources and extra evidence context in Notes, not tiny text.</a:t>
            </a:r>
          </a:p>
          <a:p>
            <a:endParaRPr/>
          </a:p>
          <a:p>
            <a:r>
              <a:t>FIELD KEYS: concept_i01, concept_i02, concept_i03, concept_artifacts</a:t>
            </a:r>
          </a:p>
          <a:p>
            <a:endParaRPr/>
          </a:p>
          <a:p>
            <a:r>
              <a:t>Use comparable-detail sketches or storyboards for all three ideas, with the same task and constraint. Distinctness means different intervention, workflow, service or mechanism, not three model names, colour choices, or platforms. These process diagrams are concept artifacts, not tested architecture. Include a low-tech/non-AI/process comparison where relevant.</a:t>
            </a:r>
          </a:p>
          <a:p>
            <a:endParaRPr/>
          </a:p>
          <a:p>
            <a:r>
              <a:t>REFERENCES (accessed 5 October 2026; public method/capability references, not primary user evidence)</a:t>
            </a:r>
          </a:p>
          <a:p>
            <a:r>
              <a:t>M1: Design Council — Double Diamond</a:t>
            </a:r>
          </a:p>
          <a:p>
            <a:r>
              <a:t>https://www.designcouncil.org.uk/resources/the-double-diamond/</a:t>
            </a:r>
          </a:p>
          <a:p>
            <a:r>
              <a:t>M2: Stanford d.school — How Might We questions</a:t>
            </a:r>
          </a:p>
          <a:p>
            <a:r>
              <a:t>https://dschool.stanford.edu/tools/how-might-we-questions</a:t>
            </a:r>
          </a:p>
          <a:p>
            <a:r>
              <a:t>M3: Stanford d.school — Idea Expedition</a:t>
            </a:r>
          </a:p>
          <a:p>
            <a:r>
              <a:t>https://dschool.stanford.edu/tools/idea-expedition</a:t>
            </a:r>
          </a:p>
          <a:p>
            <a:r>
              <a:t>M4: IDEO — human-centred Design Thinking</a:t>
            </a:r>
          </a:p>
          <a:p>
            <a:r>
              <a:t>https://designthinking.ideo.com/introduction</a:t>
            </a:r>
          </a:p>
          <a:p>
            <a:r>
              <a:t>M5: Agile Business Consortium — MoSCoW prioritisation</a:t>
            </a:r>
          </a:p>
          <a:p>
            <a:r>
              <a:t>https://www.agilebusiness.org/resource/what-is-moscow-prioritization/</a:t>
            </a:r>
          </a:p>
          <a:p>
            <a:r>
              <a:t>M6: UK Government Service Manual — testing risky assumptions in alpha</a:t>
            </a:r>
          </a:p>
          <a:p>
            <a:r>
              <a:t>https://www.gov.uk/service-manual/agile-delivery/how-the-alpha-phase-works</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STUDENT FORMAT — PHASE 2 / IDEATION — AY2026–27</a:t>
            </a:r>
          </a:p>
          <a:p>
            <a:r>
              <a:t>Deadline: 16 October 2026. Applies to all 2025–29 teams and 2024–28 teams starting NEW AY2026–27 projects. It does not reset continuing AY2025–26 projects.</a:t>
            </a:r>
          </a:p>
          <a:p>
            <a:r>
              <a:t>Submit this 11-slide editable PPTX and a reviewer-accessible evidence-folder link through the Microsoft Form when announced. A working PoC, two-minute video or new paper/patent draft is not required for this P2 submission. P3 submission is tentatively scheduled for 26 October 2026; Pre-Demo Day follows P3.</a:t>
            </a:r>
          </a:p>
          <a:p>
            <a:r>
              <a:t>Preserve the official full Team ID from P1. Do not create a new ID for a new phase or relabel a vertical without coordinator approval. Use SoI_P2_&lt;TeamID&gt;_&lt;ProjectShortName&gt;_v01.pptx.</a:t>
            </a:r>
          </a:p>
          <a:p>
            <a:r>
              <a:t>Mentor / Project In-charge recommendations and Lab Head decisions remain in a separate official record. A team recommendation is not an approval. A P1 review pending or required action must remain visible.</a:t>
            </a:r>
          </a:p>
          <a:p>
            <a:r>
              <a:t>Use evidence IDs, labelled Measured / Reported / Estimated / Planned. Distinguish synthetic demonstrations from customer evidence. Keep sources and raw evidence in the existing project folder under P2_Ideation. Keep private data and unpublished IP restricted to authorised reviewers; a public link is not required.</a:t>
            </a:r>
          </a:p>
          <a:p>
            <a:r>
              <a:t>Keep slide order, labels and native tables for consistent review. Replace all prompts and check copied example text. Put full sources and extra evidence context in Notes, not tiny text.</a:t>
            </a:r>
          </a:p>
          <a:p>
            <a:endParaRPr/>
          </a:p>
          <a:p>
            <a:r>
              <a:t>FIELD KEYS: feedback_completed_count, primary_users_count, feedback_method, feedback_evidence_ids, contradiction, revision</a:t>
            </a:r>
          </a:p>
          <a:p>
            <a:endParaRPr/>
          </a:p>
          <a:p>
            <a:r>
              <a:t>Feedback protocol: explain the current task neutrally, show all three concepts at similar detail, vary order where practical, ask the user to walk through one scenario and point out effort, confusion, missing steps and unacceptable conditions. Ask what they use today and when they would not use the concept. Report dates, roles, distinct primary users, repeated participants, method and consent. Suggested coverage: 3 relevant primary users and 1 approver/operator; Mentor may justify a different sample. This is suggested Phase 2 coverage, not an external standard or automatic acceptance rule.</a:t>
            </a:r>
          </a:p>
          <a:p>
            <a:endParaRPr/>
          </a:p>
          <a:p>
            <a:r>
              <a:t>REFERENCES (accessed 5 October 2026; public method/capability references, not primary user evidence)</a:t>
            </a:r>
          </a:p>
          <a:p>
            <a:r>
              <a:t>M1: Design Council — Double Diamond</a:t>
            </a:r>
          </a:p>
          <a:p>
            <a:r>
              <a:t>https://www.designcouncil.org.uk/resources/the-double-diamond/</a:t>
            </a:r>
          </a:p>
          <a:p>
            <a:r>
              <a:t>M2: Stanford d.school — How Might We questions</a:t>
            </a:r>
          </a:p>
          <a:p>
            <a:r>
              <a:t>https://dschool.stanford.edu/tools/how-might-we-questions</a:t>
            </a:r>
          </a:p>
          <a:p>
            <a:r>
              <a:t>M3: Stanford d.school — Idea Expedition</a:t>
            </a:r>
          </a:p>
          <a:p>
            <a:r>
              <a:t>https://dschool.stanford.edu/tools/idea-expedition</a:t>
            </a:r>
          </a:p>
          <a:p>
            <a:r>
              <a:t>M4: IDEO — human-centred Design Thinking</a:t>
            </a:r>
          </a:p>
          <a:p>
            <a:r>
              <a:t>https://designthinking.ideo.com/introduction</a:t>
            </a:r>
          </a:p>
          <a:p>
            <a:r>
              <a:t>M5: Agile Business Consortium — MoSCoW prioritisation</a:t>
            </a:r>
          </a:p>
          <a:p>
            <a:r>
              <a:t>https://www.agilebusiness.org/resource/what-is-moscow-prioritization/</a:t>
            </a:r>
          </a:p>
          <a:p>
            <a:r>
              <a:t>M6: UK Government Service Manual — testing risky assumptions in alpha</a:t>
            </a:r>
          </a:p>
          <a:p>
            <a:r>
              <a:t>https://www.gov.uk/service-manual/agile-delivery/how-the-alpha-phase-works</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STUDENT FORMAT — PHASE 2 / IDEATION — AY2026–27</a:t>
            </a:r>
          </a:p>
          <a:p>
            <a:r>
              <a:t>Deadline: 16 October 2026. Applies to all 2025–29 teams and 2024–28 teams starting NEW AY2026–27 projects. It does not reset continuing AY2025–26 projects.</a:t>
            </a:r>
          </a:p>
          <a:p>
            <a:r>
              <a:t>Submit this 11-slide editable PPTX and a reviewer-accessible evidence-folder link through the Microsoft Form when announced. A working PoC, two-minute video or new paper/patent draft is not required for this P2 submission. P3 submission is tentatively scheduled for 26 October 2026; Pre-Demo Day follows P3.</a:t>
            </a:r>
          </a:p>
          <a:p>
            <a:r>
              <a:t>Preserve the official full Team ID from P1. Do not create a new ID for a new phase or relabel a vertical without coordinator approval. Use SoI_P2_&lt;TeamID&gt;_&lt;ProjectShortName&gt;_v01.pptx.</a:t>
            </a:r>
          </a:p>
          <a:p>
            <a:r>
              <a:t>Mentor / Project In-charge recommendations and Lab Head decisions remain in a separate official record. A team recommendation is not an approval. A P1 review pending or required action must remain visible.</a:t>
            </a:r>
          </a:p>
          <a:p>
            <a:r>
              <a:t>Use evidence IDs, labelled Measured / Reported / Estimated / Planned. Distinguish synthetic demonstrations from customer evidence. Keep sources and raw evidence in the existing project folder under P2_Ideation. Keep private data and unpublished IP restricted to authorised reviewers; a public link is not required.</a:t>
            </a:r>
          </a:p>
          <a:p>
            <a:r>
              <a:t>Keep slide order, labels and native tables for consistent review. Replace all prompts and check copied example text. Put full sources and extra evidence context in Notes, not tiny text.</a:t>
            </a:r>
          </a:p>
          <a:p>
            <a:endParaRPr/>
          </a:p>
          <a:p>
            <a:r>
              <a:t>FIELD KEYS: weights, ratings, weighted_totals, responsibility_gate, selected_concept_id, selection_rationale, rejected_rationale, sensitivity</a:t>
            </a:r>
          </a:p>
          <a:p>
            <a:endParaRPr/>
          </a:p>
          <a:p>
            <a:r>
              <a:t>RECOMMENDED SCORING DEFAULT (not a research standard): Desirability 35, Feasibility 25, Viability/Value 20, Responsibility 20; weights total 100. Score each 1–5 or U (unknown). Total /100 = SUM(weight × rating / 5). A U prevents a final total; do not replace missing evidence with a convenient number. Agree weights before scoring; a Lab Head-approved change must be recorded. One point in D changes total by 7, F by 5, V or R by 4. Every rating needs an evidence reference and a short rationale in the evidence record. Serious permission, safety, privacy or evidence-integrity concerns override the total. This concept comparison is not the official 100-point assessment rubric.</a:t>
            </a:r>
          </a:p>
          <a:p>
            <a:endParaRPr/>
          </a:p>
          <a:p>
            <a:r>
              <a:t>REFERENCES (accessed 5 October 2026; public method/capability references, not primary user evidence)</a:t>
            </a:r>
          </a:p>
          <a:p>
            <a:r>
              <a:t>M1: Design Council — Double Diamond</a:t>
            </a:r>
          </a:p>
          <a:p>
            <a:r>
              <a:t>https://www.designcouncil.org.uk/resources/the-double-diamond/</a:t>
            </a:r>
          </a:p>
          <a:p>
            <a:r>
              <a:t>M2: Stanford d.school — How Might We questions</a:t>
            </a:r>
          </a:p>
          <a:p>
            <a:r>
              <a:t>https://dschool.stanford.edu/tools/how-might-we-questions</a:t>
            </a:r>
          </a:p>
          <a:p>
            <a:r>
              <a:t>M3: Stanford d.school — Idea Expedition</a:t>
            </a:r>
          </a:p>
          <a:p>
            <a:r>
              <a:t>https://dschool.stanford.edu/tools/idea-expedition</a:t>
            </a:r>
          </a:p>
          <a:p>
            <a:r>
              <a:t>M4: IDEO — human-centred Design Thinking</a:t>
            </a:r>
          </a:p>
          <a:p>
            <a:r>
              <a:t>https://designthinking.ideo.com/introduction</a:t>
            </a:r>
          </a:p>
          <a:p>
            <a:r>
              <a:t>M5: Agile Business Consortium — MoSCoW prioritisation</a:t>
            </a:r>
          </a:p>
          <a:p>
            <a:r>
              <a:t>https://www.agilebusiness.org/resource/what-is-moscow-prioritization/</a:t>
            </a:r>
          </a:p>
          <a:p>
            <a:r>
              <a:t>M6: UK Government Service Manual — testing risky assumptions in alpha</a:t>
            </a:r>
          </a:p>
          <a:p>
            <a:r>
              <a:t>https://www.gov.uk/service-manual/agile-delivery/how-the-alpha-phase-works</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STUDENT FORMAT — PHASE 2 / IDEATION — AY2026–27</a:t>
            </a:r>
          </a:p>
          <a:p>
            <a:r>
              <a:t>Deadline: 16 October 2026. Applies to all 2025–29 teams and 2024–28 teams starting NEW AY2026–27 projects. It does not reset continuing AY2025–26 projects.</a:t>
            </a:r>
          </a:p>
          <a:p>
            <a:r>
              <a:t>Submit this 11-slide editable PPTX and a reviewer-accessible evidence-folder link through the Microsoft Form when announced. A working PoC, two-minute video or new paper/patent draft is not required for this P2 submission. P3 submission is tentatively scheduled for 26 October 2026; Pre-Demo Day follows P3.</a:t>
            </a:r>
          </a:p>
          <a:p>
            <a:r>
              <a:t>Preserve the official full Team ID from P1. Do not create a new ID for a new phase or relabel a vertical without coordinator approval. Use SoI_P2_&lt;TeamID&gt;_&lt;ProjectShortName&gt;_v01.pptx.</a:t>
            </a:r>
          </a:p>
          <a:p>
            <a:r>
              <a:t>Mentor / Project In-charge recommendations and Lab Head decisions remain in a separate official record. A team recommendation is not an approval. A P1 review pending or required action must remain visible.</a:t>
            </a:r>
          </a:p>
          <a:p>
            <a:r>
              <a:t>Use evidence IDs, labelled Measured / Reported / Estimated / Planned. Distinguish synthetic demonstrations from customer evidence. Keep sources and raw evidence in the existing project folder under P2_Ideation. Keep private data and unpublished IP restricted to authorised reviewers; a public link is not required.</a:t>
            </a:r>
          </a:p>
          <a:p>
            <a:r>
              <a:t>Keep slide order, labels and native tables for consistent review. Replace all prompts and check copied example text. Put full sources and extra evidence context in Notes, not tiny text.</a:t>
            </a:r>
          </a:p>
          <a:p>
            <a:endParaRPr/>
          </a:p>
          <a:p>
            <a:r>
              <a:t>FIELD KEYS: selected_flow, value_proposition, moscow_scope, failure_fallback</a:t>
            </a:r>
          </a:p>
          <a:p>
            <a:endParaRPr/>
          </a:p>
          <a:p>
            <a:r>
              <a:t>MoSCoW = Must have (essential to the current bounded test), Should have (important, but a workaround exists), Could have (optional improvement), Won’t have this cycle (explicitly excluded). Set scope for the planned P3 test, not a lifetime feature list. Identify who can override, escalate or safely stop when the concept fails.</a:t>
            </a:r>
          </a:p>
          <a:p>
            <a:endParaRPr/>
          </a:p>
          <a:p>
            <a:r>
              <a:t>REFERENCES (accessed 5 October 2026; public method/capability references, not primary user evidence)</a:t>
            </a:r>
          </a:p>
          <a:p>
            <a:r>
              <a:t>M1: Design Council — Double Diamond</a:t>
            </a:r>
          </a:p>
          <a:p>
            <a:r>
              <a:t>https://www.designcouncil.org.uk/resources/the-double-diamond/</a:t>
            </a:r>
          </a:p>
          <a:p>
            <a:r>
              <a:t>M2: Stanford d.school — How Might We questions</a:t>
            </a:r>
          </a:p>
          <a:p>
            <a:r>
              <a:t>https://dschool.stanford.edu/tools/how-might-we-questions</a:t>
            </a:r>
          </a:p>
          <a:p>
            <a:r>
              <a:t>M3: Stanford d.school — Idea Expedition</a:t>
            </a:r>
          </a:p>
          <a:p>
            <a:r>
              <a:t>https://dschool.stanford.edu/tools/idea-expedition</a:t>
            </a:r>
          </a:p>
          <a:p>
            <a:r>
              <a:t>M4: IDEO — human-centred Design Thinking</a:t>
            </a:r>
          </a:p>
          <a:p>
            <a:r>
              <a:t>https://designthinking.ideo.com/introduction</a:t>
            </a:r>
          </a:p>
          <a:p>
            <a:r>
              <a:t>M5: Agile Business Consortium — MoSCoW prioritisation</a:t>
            </a:r>
          </a:p>
          <a:p>
            <a:r>
              <a:t>https://www.agilebusiness.org/resource/what-is-moscow-prioritization/</a:t>
            </a:r>
          </a:p>
          <a:p>
            <a:r>
              <a:t>M6: UK Government Service Manual — testing risky assumptions in alpha</a:t>
            </a:r>
          </a:p>
          <a:p>
            <a:r>
              <a:t>https://www.gov.uk/service-manual/agile-delivery/how-the-alpha-phase-works</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STUDENT FORMAT — PHASE 2 / IDEATION — AY2026–27</a:t>
            </a:r>
          </a:p>
          <a:p>
            <a:r>
              <a:t>Deadline: 16 October 2026. Applies to all 2025–29 teams and 2024–28 teams starting NEW AY2026–27 projects. It does not reset continuing AY2025–26 projects.</a:t>
            </a:r>
          </a:p>
          <a:p>
            <a:r>
              <a:t>Submit this 11-slide editable PPTX and a reviewer-accessible evidence-folder link through the Microsoft Form when announced. A working PoC, two-minute video or new paper/patent draft is not required for this P2 submission. P3 submission is tentatively scheduled for 26 October 2026; Pre-Demo Day follows P3.</a:t>
            </a:r>
          </a:p>
          <a:p>
            <a:r>
              <a:t>Preserve the official full Team ID from P1. Do not create a new ID for a new phase or relabel a vertical without coordinator approval. Use SoI_P2_&lt;TeamID&gt;_&lt;ProjectShortName&gt;_v01.pptx.</a:t>
            </a:r>
          </a:p>
          <a:p>
            <a:r>
              <a:t>Mentor / Project In-charge recommendations and Lab Head decisions remain in a separate official record. A team recommendation is not an approval. A P1 review pending or required action must remain visible.</a:t>
            </a:r>
          </a:p>
          <a:p>
            <a:r>
              <a:t>Use evidence IDs, labelled Measured / Reported / Estimated / Planned. Distinguish synthetic demonstrations from customer evidence. Keep sources and raw evidence in the existing project folder under P2_Ideation. Keep private data and unpublished IP restricted to authorised reviewers; a public link is not required.</a:t>
            </a:r>
          </a:p>
          <a:p>
            <a:r>
              <a:t>Keep slide order, labels and native tables for consistent review. Replace all prompts and check copied example text. Put full sources and extra evidence context in Notes, not tiny text.</a:t>
            </a:r>
          </a:p>
          <a:p>
            <a:endParaRPr/>
          </a:p>
          <a:p>
            <a:r>
              <a:t>FIELD KEYS: vertical_rationale, vertical_design_artifact, resources_access, vertical_risk, technical_measure</a:t>
            </a:r>
          </a:p>
          <a:p>
            <a:endParaRPr/>
          </a:p>
          <a:p>
            <a:r>
              <a:t>Use only the primary vertical on the slide. Supporting labs can be named without changing the assigned vertical. All-seven vertical guidance:</a:t>
            </a:r>
          </a:p>
          <a:p>
            <a:r>
              <a:t>AD | Artificial Intelligence and Data | Show the human decision; compare a non-AI approach and an existing model/tool. | Data and label source; permission; basic model/input-output sketch; separate development and test data. | Plan useful-task performance, wrong interruptions or missed cases, latency and coverage; keep human control.</a:t>
            </a:r>
          </a:p>
          <a:p>
            <a:r>
              <a:t>BW | Blockchain and Web3 | Show the actors and trust failure; compare a conventional database or signed record. | Who writes, verifies and corrects records; identity, key recovery and governance; why decentralisation adds value. | Plan tamper detection and legitimate correction, transaction cost/time and recovery; no live funds.</a:t>
            </a:r>
          </a:p>
          <a:p>
            <a:r>
              <a:t>CD | Cloud and DevOps | Show the developer/operator task; compare existing platform features, scripts and a manual process. | Deployment or recovery flow, integration/access, workload assumptions and cost ceiling. | Plan reliability, restore/rollback time, data loss and running cost; use an isolated environment.</a:t>
            </a:r>
          </a:p>
          <a:p>
            <a:r>
              <a:t>CS | Cyber Security | Define asset, threat and authorised defender; compare current controls and a non-tool response. | Permission, safe test boundary, representative benign and threat cases, action/false-alert handling. | Plan detection and false-alert rates, response effort and limitations; no unauthorised scans or exploitation.</a:t>
            </a:r>
          </a:p>
          <a:p>
            <a:r>
              <a:t>EI | Embedded Systems and Internet of Things | Show the physical task; compare a manual/mechanical aid with sensing or actuation. | Sensor/actuator block sketch, power/connectivity, calibration, operating environment and parts estimate. | Plan sensing error, response time, power and failure states; safe bench work before field use.</a:t>
            </a:r>
          </a:p>
          <a:p>
            <a:r>
              <a:t>FW | Full Stack Web | Show the complete user journey; compare process change, existing software and custom build. | Roles/permissions, main screens, data movement, integration, accessibility and fallback. | Plan task completion, update effort, data consistency and access checks; keep mock data separate.</a:t>
            </a:r>
          </a:p>
          <a:p>
            <a:r>
              <a:t>MA | Manufacturing and Automation | Show operator, material and process; compare layout/mistake-proofing with automation. | Mechanism sketch, dimensions/tolerances to verify, tools/materials, maintainability and safety. | Plan cycle time, wrong-fit/defect acceptance and usability; no live-machine trial without approval.</a:t>
            </a:r>
          </a:p>
          <a:p>
            <a:endParaRPr/>
          </a:p>
          <a:p>
            <a:r>
              <a:t>A diagram is not proof of technical feasibility. Name data/parts/software required, permission status and estimated cost. Uncertain labels, calibration, costs and platform coverage remain assumptions.</a:t>
            </a:r>
          </a:p>
          <a:p>
            <a:endParaRPr/>
          </a:p>
          <a:p>
            <a:r>
              <a:t>REFERENCES (accessed 5 October 2026; public method/capability references, not primary user evidence)</a:t>
            </a:r>
          </a:p>
          <a:p>
            <a:r>
              <a:t>M1: Design Council — Double Diamond</a:t>
            </a:r>
          </a:p>
          <a:p>
            <a:r>
              <a:t>https://www.designcouncil.org.uk/resources/the-double-diamond/</a:t>
            </a:r>
          </a:p>
          <a:p>
            <a:r>
              <a:t>M2: Stanford d.school — How Might We questions</a:t>
            </a:r>
          </a:p>
          <a:p>
            <a:r>
              <a:t>https://dschool.stanford.edu/tools/how-might-we-questions</a:t>
            </a:r>
          </a:p>
          <a:p>
            <a:r>
              <a:t>M3: Stanford d.school — Idea Expedition</a:t>
            </a:r>
          </a:p>
          <a:p>
            <a:r>
              <a:t>https://dschool.stanford.edu/tools/idea-expedition</a:t>
            </a:r>
          </a:p>
          <a:p>
            <a:r>
              <a:t>M4: IDEO — human-centred Design Thinking</a:t>
            </a:r>
          </a:p>
          <a:p>
            <a:r>
              <a:t>https://designthinking.ideo.com/introduction</a:t>
            </a:r>
          </a:p>
          <a:p>
            <a:r>
              <a:t>M5: Agile Business Consortium — MoSCoW prioritisation</a:t>
            </a:r>
          </a:p>
          <a:p>
            <a:r>
              <a:t>https://www.agilebusiness.org/resource/what-is-moscow-prioritization/</a:t>
            </a:r>
          </a:p>
          <a:p>
            <a:r>
              <a:t>M6: UK Government Service Manual — testing risky assumptions in alpha</a:t>
            </a:r>
          </a:p>
          <a:p>
            <a:r>
              <a:t>https://www.gov.uk/service-manual/agile-delivery/how-the-alpha-phase-works</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STUDENT FORMAT — PHASE 2 / IDEATION — AY2026–27</a:t>
            </a:r>
          </a:p>
          <a:p>
            <a:r>
              <a:t>Deadline: 16 October 2026. Applies to all 2025–29 teams and 2024–28 teams starting NEW AY2026–27 projects. It does not reset continuing AY2025–26 projects.</a:t>
            </a:r>
          </a:p>
          <a:p>
            <a:r>
              <a:t>Submit this 11-slide editable PPTX and a reviewer-accessible evidence-folder link through the Microsoft Form when announced. A working PoC, two-minute video or new paper/patent draft is not required for this P2 submission. P3 submission is tentatively scheduled for 26 October 2026; Pre-Demo Day follows P3.</a:t>
            </a:r>
          </a:p>
          <a:p>
            <a:r>
              <a:t>Preserve the official full Team ID from P1. Do not create a new ID for a new phase or relabel a vertical without coordinator approval. Use SoI_P2_&lt;TeamID&gt;_&lt;ProjectShortName&gt;_v01.pptx.</a:t>
            </a:r>
          </a:p>
          <a:p>
            <a:r>
              <a:t>Mentor / Project In-charge recommendations and Lab Head decisions remain in a separate official record. A team recommendation is not an approval. A P1 review pending or required action must remain visible.</a:t>
            </a:r>
          </a:p>
          <a:p>
            <a:r>
              <a:t>Use evidence IDs, labelled Measured / Reported / Estimated / Planned. Distinguish synthetic demonstrations from customer evidence. Keep sources and raw evidence in the existing project folder under P2_Ideation. Keep private data and unpublished IP restricted to authorised reviewers; a public link is not required.</a:t>
            </a:r>
          </a:p>
          <a:p>
            <a:r>
              <a:t>Keep slide order, labels and native tables for consistent review. Replace all prompts and check copied example text. Put full sources and extra evidence context in Notes, not tiny text.</a:t>
            </a:r>
          </a:p>
          <a:p>
            <a:endParaRPr/>
          </a:p>
          <a:p>
            <a:r>
              <a:t>FIELD KEYS: riskiest_assumption, poc_hypothesis, test_method, test_sample, comparator, pass_thresholds, stop_pivot_rule, permission_status</a:t>
            </a:r>
          </a:p>
          <a:p>
            <a:endParaRPr/>
          </a:p>
          <a:p>
            <a:r>
              <a:t>Proof of Concept (PoC) = the smallest focused test of a risky technical assumption. At P2 submit the plan, not fabricated results. Define inputs, comparator, denominator, labels/reference, sample-size rationale, thresholds, guardrails, access and stop/pivot rule before running P3. The example samples are practical small teaching-test designs, not statistically powered estimates or certification. A low-fidelity concept reaction is not a working PoC. P3 submission (tentative): 26 October 2026; Pre-Demo Day after P3.</a:t>
            </a:r>
          </a:p>
          <a:p>
            <a:endParaRPr/>
          </a:p>
          <a:p>
            <a:r>
              <a:t>REFERENCES (accessed 5 October 2026; public method/capability references, not primary user evidence)</a:t>
            </a:r>
          </a:p>
          <a:p>
            <a:r>
              <a:t>M1: Design Council — Double Diamond</a:t>
            </a:r>
          </a:p>
          <a:p>
            <a:r>
              <a:t>https://www.designcouncil.org.uk/resources/the-double-diamond/</a:t>
            </a:r>
          </a:p>
          <a:p>
            <a:r>
              <a:t>M2: Stanford d.school — How Might We questions</a:t>
            </a:r>
          </a:p>
          <a:p>
            <a:r>
              <a:t>https://dschool.stanford.edu/tools/how-might-we-questions</a:t>
            </a:r>
          </a:p>
          <a:p>
            <a:r>
              <a:t>M3: Stanford d.school — Idea Expedition</a:t>
            </a:r>
          </a:p>
          <a:p>
            <a:r>
              <a:t>https://dschool.stanford.edu/tools/idea-expedition</a:t>
            </a:r>
          </a:p>
          <a:p>
            <a:r>
              <a:t>M4: IDEO — human-centred Design Thinking</a:t>
            </a:r>
          </a:p>
          <a:p>
            <a:r>
              <a:t>https://designthinking.ideo.com/introduction</a:t>
            </a:r>
          </a:p>
          <a:p>
            <a:r>
              <a:t>M5: Agile Business Consortium — MoSCoW prioritisation</a:t>
            </a:r>
          </a:p>
          <a:p>
            <a:r>
              <a:t>https://www.agilebusiness.org/resource/what-is-moscow-prioritization/</a:t>
            </a:r>
          </a:p>
          <a:p>
            <a:r>
              <a:t>M6: UK Government Service Manual — testing risky assumptions in alpha</a:t>
            </a:r>
          </a:p>
          <a:p>
            <a:r>
              <a:t>https://www.gov.uk/service-manual/agile-delivery/how-the-alpha-phase-works</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STUDENT FORMAT — PHASE 2 / IDEATION — AY2026–27</a:t>
            </a:r>
          </a:p>
          <a:p>
            <a:r>
              <a:t>Deadline: 16 October 2026. Applies to all 2025–29 teams and 2024–28 teams starting NEW AY2026–27 projects. It does not reset continuing AY2025–26 projects.</a:t>
            </a:r>
          </a:p>
          <a:p>
            <a:r>
              <a:t>Submit this 11-slide editable PPTX and a reviewer-accessible evidence-folder link through the Microsoft Form when announced. A working PoC, two-minute video or new paper/patent draft is not required for this P2 submission. P3 submission is tentatively scheduled for 26 October 2026; Pre-Demo Day follows P3.</a:t>
            </a:r>
          </a:p>
          <a:p>
            <a:r>
              <a:t>Preserve the official full Team ID from P1. Do not create a new ID for a new phase or relabel a vertical without coordinator approval. Use SoI_P2_&lt;TeamID&gt;_&lt;ProjectShortName&gt;_v01.pptx.</a:t>
            </a:r>
          </a:p>
          <a:p>
            <a:r>
              <a:t>Mentor / Project In-charge recommendations and Lab Head decisions remain in a separate official record. A team recommendation is not an approval. A P1 review pending or required action must remain visible.</a:t>
            </a:r>
          </a:p>
          <a:p>
            <a:r>
              <a:t>Use evidence IDs, labelled Measured / Reported / Estimated / Planned. Distinguish synthetic demonstrations from customer evidence. Keep sources and raw evidence in the existing project folder under P2_Ideation. Keep private data and unpublished IP restricted to authorised reviewers; a public link is not required.</a:t>
            </a:r>
          </a:p>
          <a:p>
            <a:r>
              <a:t>Keep slide order, labels and native tables for consistent review. Replace all prompts and check copied example text. Put full sources and extra evidence context in Notes, not tiny text.</a:t>
            </a:r>
          </a:p>
          <a:p>
            <a:endParaRPr/>
          </a:p>
          <a:p>
            <a:r>
              <a:t>FIELD KEYS: poc_actions, evidence_folder_url, references, ai_disclosure, team_recommendation, submission_check</a:t>
            </a:r>
          </a:p>
          <a:p>
            <a:endParaRPr/>
          </a:p>
          <a:p>
            <a:r>
              <a:t>Only draft release materials were produced with this package. Microsoft Form will be announced later. Do not create a replacement form or send the deck to an invented URL. Before submission: 11 slides, valid unchanged Team ID, P1 status visible, three distinct ideas, genuine feedback, score arithmetic, selected-vertical artifact, prospective PoC criteria, accessible restricted evidence link, sources, team contribution and AI-use disclosure. Preserve editable tables and stable concept/evidence labels for later extraction.</a:t>
            </a:r>
          </a:p>
          <a:p>
            <a:endParaRPr/>
          </a:p>
          <a:p>
            <a:r>
              <a:t>REFERENCES (accessed 5 October 2026; public method/capability references, not primary user evidence)</a:t>
            </a:r>
          </a:p>
          <a:p>
            <a:r>
              <a:t>M1: Design Council — Double Diamond</a:t>
            </a:r>
          </a:p>
          <a:p>
            <a:r>
              <a:t>https://www.designcouncil.org.uk/resources/the-double-diamond/</a:t>
            </a:r>
          </a:p>
          <a:p>
            <a:r>
              <a:t>M2: Stanford d.school — How Might We questions</a:t>
            </a:r>
          </a:p>
          <a:p>
            <a:r>
              <a:t>https://dschool.stanford.edu/tools/how-might-we-questions</a:t>
            </a:r>
          </a:p>
          <a:p>
            <a:r>
              <a:t>M3: Stanford d.school — Idea Expedition</a:t>
            </a:r>
          </a:p>
          <a:p>
            <a:r>
              <a:t>https://dschool.stanford.edu/tools/idea-expedition</a:t>
            </a:r>
          </a:p>
          <a:p>
            <a:r>
              <a:t>M4: IDEO — human-centred Design Thinking</a:t>
            </a:r>
          </a:p>
          <a:p>
            <a:r>
              <a:t>https://designthinking.ideo.com/introduction</a:t>
            </a:r>
          </a:p>
          <a:p>
            <a:r>
              <a:t>M5: Agile Business Consortium — MoSCoW prioritisation</a:t>
            </a:r>
          </a:p>
          <a:p>
            <a:r>
              <a:t>https://www.agilebusiness.org/resource/what-is-moscow-prioritization/</a:t>
            </a:r>
          </a:p>
          <a:p>
            <a:r>
              <a:t>M6: UK Government Service Manual — testing risky assumptions in alpha</a:t>
            </a:r>
          </a:p>
          <a:p>
            <a:r>
              <a:t>https://www.gov.uk/service-manual/agile-delivery/how-the-alpha-phase-works</a:t>
            </a:r>
          </a:p>
          <a:p>
            <a:endParaRP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5F8FA"/>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91440"/>
          </a:xfrm>
          <a:prstGeom prst="rect">
            <a:avLst/>
          </a:prstGeom>
          <a:solidFill>
            <a:srgbClr val="006E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19456"/>
            <a:ext cx="7315200" cy="228600"/>
          </a:xfrm>
          <a:prstGeom prst="rect">
            <a:avLst/>
          </a:prstGeom>
          <a:noFill/>
        </p:spPr>
        <p:txBody>
          <a:bodyPr wrap="square" lIns="0" tIns="0" rIns="0" bIns="0">
            <a:spAutoFit/>
          </a:bodyPr>
          <a:lstStyle/>
          <a:p>
            <a:pPr>
              <a:lnSpc>
                <a:spcPct val="104000"/>
              </a:lnSpc>
              <a:spcBef>
                <a:spcPts val="0"/>
              </a:spcBef>
              <a:spcAft>
                <a:spcPts val="200"/>
              </a:spcAft>
              <a:defRPr sz="1150" b="1">
                <a:solidFill>
                  <a:srgbClr val="006E75"/>
                </a:solidFill>
                <a:latin typeface="Calibri"/>
              </a:defRPr>
            </a:pPr>
            <a:r>
              <a:t>SCHOOL OF INNOVATION  |  KGISL INSTITUTE OF TECHNOLOGY</a:t>
            </a:r>
          </a:p>
        </p:txBody>
      </p:sp>
      <p:sp>
        <p:nvSpPr>
          <p:cNvPr id="4" name="Rounded Rectangle 3"/>
          <p:cNvSpPr/>
          <p:nvPr/>
        </p:nvSpPr>
        <p:spPr>
          <a:xfrm>
            <a:off x="8458200" y="210312"/>
            <a:ext cx="768096" cy="237744"/>
          </a:xfrm>
          <a:prstGeom prst="roundRect">
            <a:avLst>
              <a:gd name="adj" fmla="val 8000"/>
            </a:avLst>
          </a:prstGeom>
          <a:solidFill>
            <a:srgbClr val="006E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458200" y="246888"/>
            <a:ext cx="768096" cy="128016"/>
          </a:xfrm>
          <a:prstGeom prst="rect">
            <a:avLst/>
          </a:prstGeom>
          <a:noFill/>
        </p:spPr>
        <p:txBody>
          <a:bodyPr wrap="square" lIns="0" tIns="0" rIns="0" bIns="0">
            <a:spAutoFit/>
          </a:bodyPr>
          <a:lstStyle/>
          <a:p>
            <a:pPr algn="ctr">
              <a:lnSpc>
                <a:spcPct val="104000"/>
              </a:lnSpc>
              <a:spcBef>
                <a:spcPts val="0"/>
              </a:spcBef>
              <a:spcAft>
                <a:spcPts val="200"/>
              </a:spcAft>
              <a:defRPr sz="880" b="1">
                <a:solidFill>
                  <a:srgbClr val="FFFFFF"/>
                </a:solidFill>
                <a:latin typeface="Calibri"/>
              </a:defRPr>
            </a:pPr>
            <a:r>
              <a:t>FRAME</a:t>
            </a:r>
          </a:p>
        </p:txBody>
      </p:sp>
      <p:sp>
        <p:nvSpPr>
          <p:cNvPr id="6" name="Rounded Rectangle 5"/>
          <p:cNvSpPr/>
          <p:nvPr/>
        </p:nvSpPr>
        <p:spPr>
          <a:xfrm>
            <a:off x="9281160" y="210312"/>
            <a:ext cx="768096" cy="237744"/>
          </a:xfrm>
          <a:prstGeom prst="roundRect">
            <a:avLst>
              <a:gd name="adj" fmla="val 8000"/>
            </a:avLst>
          </a:prstGeom>
          <a:solidFill>
            <a:srgbClr val="D7E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281160" y="246888"/>
            <a:ext cx="768096" cy="128016"/>
          </a:xfrm>
          <a:prstGeom prst="rect">
            <a:avLst/>
          </a:prstGeom>
          <a:noFill/>
        </p:spPr>
        <p:txBody>
          <a:bodyPr wrap="square" lIns="0" tIns="0" rIns="0" bIns="0">
            <a:spAutoFit/>
          </a:bodyPr>
          <a:lstStyle/>
          <a:p>
            <a:pPr algn="ctr">
              <a:lnSpc>
                <a:spcPct val="104000"/>
              </a:lnSpc>
              <a:spcBef>
                <a:spcPts val="0"/>
              </a:spcBef>
              <a:spcAft>
                <a:spcPts val="200"/>
              </a:spcAft>
              <a:defRPr sz="880" b="1">
                <a:solidFill>
                  <a:srgbClr val="597080"/>
                </a:solidFill>
                <a:latin typeface="Calibri"/>
              </a:defRPr>
            </a:pPr>
            <a:r>
              <a:t>EXPLORE</a:t>
            </a:r>
          </a:p>
        </p:txBody>
      </p:sp>
      <p:sp>
        <p:nvSpPr>
          <p:cNvPr id="8" name="Rounded Rectangle 7"/>
          <p:cNvSpPr/>
          <p:nvPr/>
        </p:nvSpPr>
        <p:spPr>
          <a:xfrm>
            <a:off x="10104120" y="210312"/>
            <a:ext cx="768096" cy="237744"/>
          </a:xfrm>
          <a:prstGeom prst="roundRect">
            <a:avLst>
              <a:gd name="adj" fmla="val 8000"/>
            </a:avLst>
          </a:prstGeom>
          <a:solidFill>
            <a:srgbClr val="D7E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104120" y="246888"/>
            <a:ext cx="768096" cy="128016"/>
          </a:xfrm>
          <a:prstGeom prst="rect">
            <a:avLst/>
          </a:prstGeom>
          <a:noFill/>
        </p:spPr>
        <p:txBody>
          <a:bodyPr wrap="square" lIns="0" tIns="0" rIns="0" bIns="0">
            <a:spAutoFit/>
          </a:bodyPr>
          <a:lstStyle/>
          <a:p>
            <a:pPr algn="ctr">
              <a:lnSpc>
                <a:spcPct val="104000"/>
              </a:lnSpc>
              <a:spcBef>
                <a:spcPts val="0"/>
              </a:spcBef>
              <a:spcAft>
                <a:spcPts val="200"/>
              </a:spcAft>
              <a:defRPr sz="880" b="1">
                <a:solidFill>
                  <a:srgbClr val="597080"/>
                </a:solidFill>
                <a:latin typeface="Calibri"/>
              </a:defRPr>
            </a:pPr>
            <a:r>
              <a:t>CHOOSE</a:t>
            </a:r>
          </a:p>
        </p:txBody>
      </p:sp>
      <p:sp>
        <p:nvSpPr>
          <p:cNvPr id="10" name="Rounded Rectangle 9"/>
          <p:cNvSpPr/>
          <p:nvPr/>
        </p:nvSpPr>
        <p:spPr>
          <a:xfrm>
            <a:off x="10927080" y="210312"/>
            <a:ext cx="768096" cy="237744"/>
          </a:xfrm>
          <a:prstGeom prst="roundRect">
            <a:avLst>
              <a:gd name="adj" fmla="val 8000"/>
            </a:avLst>
          </a:prstGeom>
          <a:solidFill>
            <a:srgbClr val="D7E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927080" y="246888"/>
            <a:ext cx="768096" cy="128016"/>
          </a:xfrm>
          <a:prstGeom prst="rect">
            <a:avLst/>
          </a:prstGeom>
          <a:noFill/>
        </p:spPr>
        <p:txBody>
          <a:bodyPr wrap="square" lIns="0" tIns="0" rIns="0" bIns="0">
            <a:spAutoFit/>
          </a:bodyPr>
          <a:lstStyle/>
          <a:p>
            <a:pPr algn="ctr">
              <a:lnSpc>
                <a:spcPct val="104000"/>
              </a:lnSpc>
              <a:spcBef>
                <a:spcPts val="0"/>
              </a:spcBef>
              <a:spcAft>
                <a:spcPts val="200"/>
              </a:spcAft>
              <a:defRPr sz="880" b="1">
                <a:solidFill>
                  <a:srgbClr val="597080"/>
                </a:solidFill>
                <a:latin typeface="Calibri"/>
              </a:defRPr>
            </a:pPr>
            <a:r>
              <a:t>TEST</a:t>
            </a:r>
          </a:p>
        </p:txBody>
      </p:sp>
      <p:sp>
        <p:nvSpPr>
          <p:cNvPr id="12" name="TextBox 11"/>
          <p:cNvSpPr txBox="1"/>
          <p:nvPr/>
        </p:nvSpPr>
        <p:spPr>
          <a:xfrm>
            <a:off x="457200" y="758952"/>
            <a:ext cx="585216" cy="438912"/>
          </a:xfrm>
          <a:prstGeom prst="rect">
            <a:avLst/>
          </a:prstGeom>
          <a:noFill/>
        </p:spPr>
        <p:txBody>
          <a:bodyPr wrap="square" lIns="0" tIns="0" rIns="0" bIns="0">
            <a:spAutoFit/>
          </a:bodyPr>
          <a:lstStyle/>
          <a:p>
            <a:pPr>
              <a:lnSpc>
                <a:spcPct val="104000"/>
              </a:lnSpc>
              <a:spcBef>
                <a:spcPts val="0"/>
              </a:spcBef>
              <a:spcAft>
                <a:spcPts val="200"/>
              </a:spcAft>
              <a:defRPr sz="2400" b="1">
                <a:solidFill>
                  <a:srgbClr val="006E75"/>
                </a:solidFill>
                <a:latin typeface="Calibri"/>
              </a:defRPr>
            </a:pPr>
            <a:r>
              <a:t>01</a:t>
            </a:r>
          </a:p>
        </p:txBody>
      </p:sp>
      <p:sp>
        <p:nvSpPr>
          <p:cNvPr id="13" name="TextBox 12"/>
          <p:cNvSpPr txBox="1"/>
          <p:nvPr/>
        </p:nvSpPr>
        <p:spPr>
          <a:xfrm>
            <a:off x="1143000" y="713232"/>
            <a:ext cx="10424160" cy="457200"/>
          </a:xfrm>
          <a:prstGeom prst="rect">
            <a:avLst/>
          </a:prstGeom>
          <a:noFill/>
        </p:spPr>
        <p:txBody>
          <a:bodyPr wrap="square" lIns="0" tIns="0" rIns="0" bIns="0">
            <a:spAutoFit/>
          </a:bodyPr>
          <a:lstStyle/>
          <a:p>
            <a:pPr>
              <a:lnSpc>
                <a:spcPct val="104000"/>
              </a:lnSpc>
              <a:spcBef>
                <a:spcPts val="0"/>
              </a:spcBef>
              <a:spcAft>
                <a:spcPts val="200"/>
              </a:spcAft>
              <a:defRPr sz="2700" b="1">
                <a:solidFill>
                  <a:srgbClr val="153347"/>
                </a:solidFill>
                <a:latin typeface="Calibri"/>
              </a:defRPr>
            </a:pPr>
            <a:r>
              <a:t>Project and Phase 1 handover</a:t>
            </a:r>
          </a:p>
        </p:txBody>
      </p:sp>
      <p:sp>
        <p:nvSpPr>
          <p:cNvPr id="14" name="TextBox 13"/>
          <p:cNvSpPr txBox="1"/>
          <p:nvPr/>
        </p:nvSpPr>
        <p:spPr>
          <a:xfrm>
            <a:off x="475488" y="1252728"/>
            <a:ext cx="11201400" cy="457200"/>
          </a:xfrm>
          <a:prstGeom prst="rect">
            <a:avLst/>
          </a:prstGeom>
          <a:noFill/>
        </p:spPr>
        <p:txBody>
          <a:bodyPr wrap="square" lIns="0" tIns="0" rIns="0" bIns="0">
            <a:spAutoFit/>
          </a:bodyPr>
          <a:lstStyle/>
          <a:p>
            <a:pPr>
              <a:lnSpc>
                <a:spcPct val="104000"/>
              </a:lnSpc>
              <a:spcBef>
                <a:spcPts val="0"/>
              </a:spcBef>
              <a:spcAft>
                <a:spcPts val="200"/>
              </a:spcAft>
              <a:defRPr sz="1550" b="0">
                <a:solidFill>
                  <a:srgbClr val="597080"/>
                </a:solidFill>
                <a:latin typeface="Calibri"/>
              </a:defRPr>
            </a:pPr>
            <a:r>
              <a:t>11-slide student submission • review decisions remain in the official assessment record</a:t>
            </a:r>
          </a:p>
        </p:txBody>
      </p:sp>
      <p:sp>
        <p:nvSpPr>
          <p:cNvPr id="15" name="Rectangle 14"/>
          <p:cNvSpPr/>
          <p:nvPr/>
        </p:nvSpPr>
        <p:spPr>
          <a:xfrm>
            <a:off x="457200" y="6428232"/>
            <a:ext cx="11274552" cy="9144"/>
          </a:xfrm>
          <a:prstGeom prst="rect">
            <a:avLst/>
          </a:prstGeom>
          <a:solidFill>
            <a:srgbClr val="D7E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57200" y="6528816"/>
            <a:ext cx="7589520" cy="155448"/>
          </a:xfrm>
          <a:prstGeom prst="rect">
            <a:avLst/>
          </a:prstGeom>
          <a:noFill/>
        </p:spPr>
        <p:txBody>
          <a:bodyPr wrap="square" lIns="0" tIns="0" rIns="0" bIns="0">
            <a:spAutoFit/>
          </a:bodyPr>
          <a:lstStyle/>
          <a:p>
            <a:pPr>
              <a:lnSpc>
                <a:spcPct val="104000"/>
              </a:lnSpc>
              <a:spcBef>
                <a:spcPts val="0"/>
              </a:spcBef>
              <a:spcAft>
                <a:spcPts val="200"/>
              </a:spcAft>
              <a:defRPr sz="900" b="0">
                <a:solidFill>
                  <a:srgbClr val="597080"/>
                </a:solidFill>
                <a:latin typeface="Calibri"/>
              </a:defRPr>
            </a:pPr>
            <a:r>
              <a:t>TEAM TITANS • LABELGUARD • DRAFT FOR MENTOR REVIEW</a:t>
            </a:r>
          </a:p>
        </p:txBody>
      </p:sp>
      <p:sp>
        <p:nvSpPr>
          <p:cNvPr id="17" name="TextBox 16"/>
          <p:cNvSpPr txBox="1"/>
          <p:nvPr/>
        </p:nvSpPr>
        <p:spPr>
          <a:xfrm>
            <a:off x="8321040" y="6510528"/>
            <a:ext cx="2194560" cy="201168"/>
          </a:xfrm>
          <a:prstGeom prst="rect">
            <a:avLst/>
          </a:prstGeom>
          <a:noFill/>
        </p:spPr>
        <p:txBody>
          <a:bodyPr wrap="square" lIns="0" tIns="0" rIns="0" bIns="0">
            <a:spAutoFit/>
          </a:bodyPr>
          <a:lstStyle/>
          <a:p>
            <a:pPr algn="r">
              <a:lnSpc>
                <a:spcPct val="104000"/>
              </a:lnSpc>
              <a:spcBef>
                <a:spcPts val="0"/>
              </a:spcBef>
              <a:spcAft>
                <a:spcPts val="200"/>
              </a:spcAft>
              <a:defRPr sz="1000" b="1">
                <a:solidFill>
                  <a:srgbClr val="006E75"/>
                </a:solidFill>
                <a:latin typeface="Calibri"/>
              </a:defRPr>
            </a:pPr>
            <a:r>
              <a:t>P2 • 16 OCT 2026</a:t>
            </a:r>
          </a:p>
        </p:txBody>
      </p:sp>
      <p:sp>
        <p:nvSpPr>
          <p:cNvPr id="18" name="TextBox 17"/>
          <p:cNvSpPr txBox="1"/>
          <p:nvPr/>
        </p:nvSpPr>
        <p:spPr>
          <a:xfrm>
            <a:off x="10908792" y="6510528"/>
            <a:ext cx="786384" cy="201168"/>
          </a:xfrm>
          <a:prstGeom prst="rect">
            <a:avLst/>
          </a:prstGeom>
          <a:noFill/>
        </p:spPr>
        <p:txBody>
          <a:bodyPr wrap="square" lIns="0" tIns="0" rIns="0" bIns="0">
            <a:spAutoFit/>
          </a:bodyPr>
          <a:lstStyle/>
          <a:p>
            <a:pPr algn="r">
              <a:lnSpc>
                <a:spcPct val="104000"/>
              </a:lnSpc>
              <a:spcBef>
                <a:spcPts val="0"/>
              </a:spcBef>
              <a:spcAft>
                <a:spcPts val="200"/>
              </a:spcAft>
              <a:defRPr sz="1000" b="0">
                <a:solidFill>
                  <a:srgbClr val="597080"/>
                </a:solidFill>
                <a:latin typeface="Calibri"/>
              </a:defRPr>
            </a:pPr>
            <a:r>
              <a:t>1/11</a:t>
            </a:r>
          </a:p>
        </p:txBody>
      </p:sp>
      <p:sp>
        <p:nvSpPr>
          <p:cNvPr id="19" name="Rounded Rectangle 18"/>
          <p:cNvSpPr/>
          <p:nvPr/>
        </p:nvSpPr>
        <p:spPr>
          <a:xfrm>
            <a:off x="457200" y="1828800"/>
            <a:ext cx="4069080" cy="4389120"/>
          </a:xfrm>
          <a:prstGeom prst="roundRect">
            <a:avLst>
              <a:gd name="adj" fmla="val 8000"/>
            </a:avLst>
          </a:prstGeom>
          <a:solidFill>
            <a:srgbClr val="1533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85800" y="2084831"/>
            <a:ext cx="3566160" cy="228600"/>
          </a:xfrm>
          <a:prstGeom prst="rect">
            <a:avLst/>
          </a:prstGeom>
          <a:noFill/>
        </p:spPr>
        <p:txBody>
          <a:bodyPr wrap="square" lIns="0" tIns="0" rIns="0" bIns="0">
            <a:spAutoFit/>
          </a:bodyPr>
          <a:lstStyle/>
          <a:p>
            <a:pPr>
              <a:lnSpc>
                <a:spcPct val="104000"/>
              </a:lnSpc>
              <a:spcBef>
                <a:spcPts val="0"/>
              </a:spcBef>
              <a:spcAft>
                <a:spcPts val="200"/>
              </a:spcAft>
              <a:defRPr sz="1150" b="1">
                <a:solidFill>
                  <a:srgbClr val="E7F3F1"/>
                </a:solidFill>
                <a:latin typeface="Calibri"/>
              </a:defRPr>
            </a:pPr>
            <a:r>
              <a:t>PHASE 2  /  IDEATION</a:t>
            </a:r>
          </a:p>
        </p:txBody>
      </p:sp>
      <p:sp>
        <p:nvSpPr>
          <p:cNvPr id="21" name="TextBox 20"/>
          <p:cNvSpPr txBox="1"/>
          <p:nvPr/>
        </p:nvSpPr>
        <p:spPr>
          <a:xfrm>
            <a:off x="685800" y="2651760"/>
            <a:ext cx="3566160" cy="1307592"/>
          </a:xfrm>
          <a:prstGeom prst="rect">
            <a:avLst/>
          </a:prstGeom>
          <a:noFill/>
        </p:spPr>
        <p:txBody>
          <a:bodyPr wrap="square" lIns="0" tIns="0" rIns="0" bIns="0">
            <a:spAutoFit/>
          </a:bodyPr>
          <a:lstStyle/>
          <a:p>
            <a:pPr>
              <a:lnSpc>
                <a:spcPct val="104000"/>
              </a:lnSpc>
              <a:spcBef>
                <a:spcPts val="0"/>
              </a:spcBef>
              <a:spcAft>
                <a:spcPts val="200"/>
              </a:spcAft>
              <a:defRPr sz="3100" b="1">
                <a:solidFill>
                  <a:srgbClr val="FFFFFF"/>
                </a:solidFill>
                <a:latin typeface="Calibri"/>
              </a:defRPr>
            </a:pPr>
            <a:r>
              <a:t>Slow, manual label compliance checks</a:t>
            </a:r>
          </a:p>
        </p:txBody>
      </p:sp>
      <p:sp>
        <p:nvSpPr>
          <p:cNvPr id="22" name="TextBox 21"/>
          <p:cNvSpPr txBox="1"/>
          <p:nvPr/>
        </p:nvSpPr>
        <p:spPr>
          <a:xfrm>
            <a:off x="685800" y="4224528"/>
            <a:ext cx="3566160" cy="850392"/>
          </a:xfrm>
          <a:prstGeom prst="rect">
            <a:avLst/>
          </a:prstGeom>
          <a:noFill/>
        </p:spPr>
        <p:txBody>
          <a:bodyPr wrap="square" lIns="0" tIns="0" rIns="0" bIns="0">
            <a:spAutoFit/>
          </a:bodyPr>
          <a:lstStyle/>
          <a:p>
            <a:pPr>
              <a:lnSpc>
                <a:spcPct val="104000"/>
              </a:lnSpc>
              <a:spcBef>
                <a:spcPts val="0"/>
              </a:spcBef>
              <a:spcAft>
                <a:spcPts val="200"/>
              </a:spcAft>
              <a:defRPr sz="2100" b="0">
                <a:solidFill>
                  <a:srgbClr val="FFFFFF"/>
                </a:solidFill>
                <a:latin typeface="Calibri"/>
              </a:defRPr>
            </a:pPr>
            <a:r>
              <a:t>Turn a validated problem into a justified concept choice.</a:t>
            </a:r>
          </a:p>
        </p:txBody>
      </p:sp>
      <p:sp>
        <p:nvSpPr>
          <p:cNvPr id="23" name="TextBox 22"/>
          <p:cNvSpPr txBox="1"/>
          <p:nvPr/>
        </p:nvSpPr>
        <p:spPr>
          <a:xfrm>
            <a:off x="685800" y="5266944"/>
            <a:ext cx="3566160" cy="658368"/>
          </a:xfrm>
          <a:prstGeom prst="rect">
            <a:avLst/>
          </a:prstGeom>
          <a:noFill/>
        </p:spPr>
        <p:txBody>
          <a:bodyPr wrap="square" lIns="0" tIns="0" rIns="0" bIns="0">
            <a:spAutoFit/>
          </a:bodyPr>
          <a:lstStyle/>
          <a:p>
            <a:pPr>
              <a:lnSpc>
                <a:spcPct val="104000"/>
              </a:lnSpc>
              <a:spcBef>
                <a:spcPts val="0"/>
              </a:spcBef>
              <a:spcAft>
                <a:spcPts val="200"/>
              </a:spcAft>
              <a:defRPr sz="1400" b="1">
                <a:solidFill>
                  <a:srgbClr val="E7F3F1"/>
                </a:solidFill>
                <a:latin typeface="Calibri"/>
              </a:defRPr>
            </a:pPr>
            <a:r>
              <a:t>EXPLORE 3+ IDEAS</a:t>
            </a:r>
          </a:p>
          <a:p>
            <a:pPr>
              <a:lnSpc>
                <a:spcPct val="104000"/>
              </a:lnSpc>
              <a:spcBef>
                <a:spcPts val="0"/>
              </a:spcBef>
              <a:spcAft>
                <a:spcPts val="200"/>
              </a:spcAft>
              <a:defRPr sz="1400" b="1">
                <a:solidFill>
                  <a:srgbClr val="E7F3F1"/>
                </a:solidFill>
                <a:latin typeface="Calibri"/>
              </a:defRPr>
            </a:pPr>
            <a:r>
              <a:t>CHOOSE WITH EVIDENCE</a:t>
            </a:r>
          </a:p>
          <a:p>
            <a:pPr>
              <a:lnSpc>
                <a:spcPct val="104000"/>
              </a:lnSpc>
              <a:spcBef>
                <a:spcPts val="0"/>
              </a:spcBef>
              <a:spcAft>
                <a:spcPts val="200"/>
              </a:spcAft>
              <a:defRPr sz="1400" b="1">
                <a:solidFill>
                  <a:srgbClr val="E7F3F1"/>
                </a:solidFill>
                <a:latin typeface="Calibri"/>
              </a:defRPr>
            </a:pPr>
            <a:r>
              <a:t>PLAN ONE FOCUSED TEST</a:t>
            </a:r>
          </a:p>
        </p:txBody>
      </p:sp>
      <p:sp>
        <p:nvSpPr>
          <p:cNvPr id="24" name="Rounded Rectangle 23"/>
          <p:cNvSpPr/>
          <p:nvPr/>
        </p:nvSpPr>
        <p:spPr>
          <a:xfrm>
            <a:off x="4709160" y="1828800"/>
            <a:ext cx="7022592" cy="960120"/>
          </a:xfrm>
          <a:prstGeom prst="roundRect">
            <a:avLst>
              <a:gd name="adj" fmla="val 8000"/>
            </a:avLst>
          </a:prstGeom>
          <a:solidFill>
            <a:srgbClr val="FFFFFF"/>
          </a:solidFill>
          <a:ln w="8255">
            <a:solidFill>
              <a:srgbClr val="D7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873752" y="1947672"/>
            <a:ext cx="6693407" cy="228600"/>
          </a:xfrm>
          <a:prstGeom prst="rect">
            <a:avLst/>
          </a:prstGeom>
          <a:noFill/>
        </p:spPr>
        <p:txBody>
          <a:bodyPr wrap="square" lIns="0" tIns="0" rIns="0" bIns="0">
            <a:spAutoFit/>
          </a:bodyPr>
          <a:lstStyle/>
          <a:p>
            <a:pPr>
              <a:lnSpc>
                <a:spcPct val="104000"/>
              </a:lnSpc>
              <a:spcBef>
                <a:spcPts val="0"/>
              </a:spcBef>
              <a:spcAft>
                <a:spcPts val="200"/>
              </a:spcAft>
              <a:defRPr sz="1150" b="1">
                <a:solidFill>
                  <a:srgbClr val="006E75"/>
                </a:solidFill>
                <a:latin typeface="Calibri"/>
              </a:defRPr>
            </a:pPr>
            <a:r>
              <a:t>TEAM / IDENTITY</a:t>
            </a:r>
          </a:p>
        </p:txBody>
      </p:sp>
      <p:sp>
        <p:nvSpPr>
          <p:cNvPr id="26" name="TextBox 25"/>
          <p:cNvSpPr txBox="1"/>
          <p:nvPr/>
        </p:nvSpPr>
        <p:spPr>
          <a:xfrm>
            <a:off x="4873752" y="2204456"/>
            <a:ext cx="6693407" cy="575029"/>
          </a:xfrm>
          <a:prstGeom prst="rect">
            <a:avLst/>
          </a:prstGeom>
          <a:noFill/>
        </p:spPr>
        <p:txBody>
          <a:bodyPr wrap="square" lIns="0" tIns="0" rIns="0" bIns="0">
            <a:spAutoFit/>
          </a:bodyPr>
          <a:lstStyle/>
          <a:p>
            <a:pPr>
              <a:lnSpc>
                <a:spcPct val="104000"/>
              </a:lnSpc>
              <a:spcBef>
                <a:spcPts val="0"/>
              </a:spcBef>
              <a:spcAft>
                <a:spcPts val="200"/>
              </a:spcAft>
              <a:defRPr sz="1750" b="0">
                <a:solidFill>
                  <a:srgbClr val="243A49"/>
                </a:solidFill>
                <a:latin typeface="Calibri"/>
              </a:defRPr>
            </a:pPr>
            <a:r>
              <a:t>P-2026-29-CD-003-AY26-27 | Team Titans</a:t>
            </a:r>
            <a:r>
              <a:rPr lang="en-US"/>
              <a:t/>
            </a:r>
            <a:r>
              <a:t/>
            </a:r>
          </a:p>
          <a:p>
            <a:pPr>
              <a:lnSpc>
                <a:spcPct val="104000"/>
              </a:lnSpc>
              <a:spcBef>
                <a:spcPts val="0"/>
              </a:spcBef>
              <a:spcAft>
                <a:spcPts val="200"/>
              </a:spcAft>
              <a:defRPr sz="1750" b="0">
                <a:solidFill>
                  <a:srgbClr val="243A49"/>
                </a:solidFill>
                <a:latin typeface="Calibri"/>
              </a:defRPr>
            </a:pPr>
            <a:r>
              <a:rPr lang="en-US" sz="1200"/>
              <a:t>Lead: Ragavendhar Mahesh Kumar | Members: Nithya V, Nithilla Sree S, Pravena R, Pranika Lakshmi R</a:t>
            </a:r>
          </a:p>
        </p:txBody>
      </p:sp>
      <p:sp>
        <p:nvSpPr>
          <p:cNvPr id="27" name="Rounded Rectangle 26"/>
          <p:cNvSpPr/>
          <p:nvPr/>
        </p:nvSpPr>
        <p:spPr>
          <a:xfrm>
            <a:off x="4709160" y="2926080"/>
            <a:ext cx="7022592" cy="1024128"/>
          </a:xfrm>
          <a:prstGeom prst="roundRect">
            <a:avLst>
              <a:gd name="adj" fmla="val 8000"/>
            </a:avLst>
          </a:prstGeom>
          <a:solidFill>
            <a:srgbClr val="FFFFFF"/>
          </a:solidFill>
          <a:ln w="8255">
            <a:solidFill>
              <a:srgbClr val="D7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873752" y="3044952"/>
            <a:ext cx="6693407" cy="228600"/>
          </a:xfrm>
          <a:prstGeom prst="rect">
            <a:avLst/>
          </a:prstGeom>
          <a:noFill/>
        </p:spPr>
        <p:txBody>
          <a:bodyPr wrap="square" lIns="0" tIns="0" rIns="0" bIns="0">
            <a:spAutoFit/>
          </a:bodyPr>
          <a:lstStyle/>
          <a:p>
            <a:pPr>
              <a:lnSpc>
                <a:spcPct val="104000"/>
              </a:lnSpc>
              <a:spcBef>
                <a:spcPts val="0"/>
              </a:spcBef>
              <a:spcAft>
                <a:spcPts val="200"/>
              </a:spcAft>
              <a:defRPr sz="1150" b="1">
                <a:solidFill>
                  <a:srgbClr val="006E75"/>
                </a:solidFill>
                <a:latin typeface="Calibri"/>
              </a:defRPr>
            </a:pPr>
            <a:r>
              <a:t>BATCH / VERTICAL / MENTOR</a:t>
            </a:r>
          </a:p>
        </p:txBody>
      </p:sp>
      <p:sp>
        <p:nvSpPr>
          <p:cNvPr id="29" name="TextBox 28"/>
          <p:cNvSpPr txBox="1"/>
          <p:nvPr/>
        </p:nvSpPr>
        <p:spPr>
          <a:xfrm>
            <a:off x="4873752" y="3291840"/>
            <a:ext cx="6693407" cy="576072"/>
          </a:xfrm>
          <a:prstGeom prst="rect">
            <a:avLst/>
          </a:prstGeom>
          <a:noFill/>
        </p:spPr>
        <p:txBody>
          <a:bodyPr wrap="square" lIns="0" tIns="0" rIns="0" bIns="0">
            <a:spAutoFit/>
          </a:bodyPr>
          <a:lstStyle/>
          <a:p>
            <a:pPr>
              <a:lnSpc>
                <a:spcPct val="104000"/>
              </a:lnSpc>
              <a:spcBef>
                <a:spcPts val="0"/>
              </a:spcBef>
              <a:spcAft>
                <a:spcPts val="200"/>
              </a:spcAft>
              <a:defRPr sz="1700" b="0">
                <a:solidFill>
                  <a:srgbClr val="243A49"/>
                </a:solidFill>
                <a:latin typeface="Calibri"/>
              </a:defRPr>
            </a:pPr>
            <a:r>
              <a:t>2025–29 | New AY2026–27 project | CD — Cloud &amp; DevOps</a:t>
            </a:r>
          </a:p>
          <a:p>
            <a:pPr>
              <a:lnSpc>
                <a:spcPct val="104000"/>
              </a:lnSpc>
              <a:spcBef>
                <a:spcPts val="0"/>
              </a:spcBef>
              <a:spcAft>
                <a:spcPts val="200"/>
              </a:spcAft>
              <a:defRPr sz="1700" b="0">
                <a:solidFill>
                  <a:srgbClr val="243A49"/>
                </a:solidFill>
                <a:latin typeface="Calibri"/>
              </a:defRPr>
            </a:pPr>
            <a:r>
              <a:t>Naveen Kumar (Mentor) | [add institutional email]</a:t>
            </a:r>
          </a:p>
        </p:txBody>
      </p:sp>
      <p:sp>
        <p:nvSpPr>
          <p:cNvPr id="30" name="Rounded Rectangle 29"/>
          <p:cNvSpPr/>
          <p:nvPr/>
        </p:nvSpPr>
        <p:spPr>
          <a:xfrm>
            <a:off x="4709160" y="4087368"/>
            <a:ext cx="7022592" cy="950976"/>
          </a:xfrm>
          <a:prstGeom prst="roundRect">
            <a:avLst>
              <a:gd name="adj" fmla="val 8000"/>
            </a:avLst>
          </a:prstGeom>
          <a:solidFill>
            <a:srgbClr val="FFFFFF"/>
          </a:solidFill>
          <a:ln w="8255">
            <a:solidFill>
              <a:srgbClr val="D7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873752" y="4206240"/>
            <a:ext cx="6693407" cy="228600"/>
          </a:xfrm>
          <a:prstGeom prst="rect">
            <a:avLst/>
          </a:prstGeom>
          <a:noFill/>
        </p:spPr>
        <p:txBody>
          <a:bodyPr wrap="square" lIns="0" tIns="0" rIns="0" bIns="0">
            <a:spAutoFit/>
          </a:bodyPr>
          <a:lstStyle/>
          <a:p>
            <a:pPr>
              <a:lnSpc>
                <a:spcPct val="104000"/>
              </a:lnSpc>
              <a:spcBef>
                <a:spcPts val="0"/>
              </a:spcBef>
              <a:spcAft>
                <a:spcPts val="200"/>
              </a:spcAft>
              <a:defRPr sz="1150" b="1">
                <a:solidFill>
                  <a:srgbClr val="006E75"/>
                </a:solidFill>
                <a:latin typeface="Calibri"/>
              </a:defRPr>
            </a:pPr>
            <a:r>
              <a:t>PHASE 1 REFERENCE AND RECORDED STATUS</a:t>
            </a:r>
          </a:p>
        </p:txBody>
      </p:sp>
      <p:sp>
        <p:nvSpPr>
          <p:cNvPr id="32" name="TextBox 31"/>
          <p:cNvSpPr txBox="1"/>
          <p:nvPr/>
        </p:nvSpPr>
        <p:spPr>
          <a:xfrm>
            <a:off x="4873752" y="4453128"/>
            <a:ext cx="6693407" cy="502920"/>
          </a:xfrm>
          <a:prstGeom prst="rect">
            <a:avLst/>
          </a:prstGeom>
          <a:noFill/>
        </p:spPr>
        <p:txBody>
          <a:bodyPr wrap="square" lIns="0" tIns="0" rIns="0" bIns="0">
            <a:spAutoFit/>
          </a:bodyPr>
          <a:lstStyle/>
          <a:p>
            <a:pPr>
              <a:lnSpc>
                <a:spcPct val="104000"/>
              </a:lnSpc>
              <a:spcBef>
                <a:spcPts val="0"/>
              </a:spcBef>
              <a:spcAft>
                <a:spcPts val="200"/>
              </a:spcAft>
              <a:defRPr sz="1700" b="0">
                <a:solidFill>
                  <a:srgbClr val="243A49"/>
                </a:solidFill>
                <a:latin typeface="Calibri"/>
              </a:defRPr>
            </a:pPr>
            <a:r>
              <a:t>P1: LabelGuard deck (PS SIH26034), 30 Sep 2026. Review status: not yet recorded. E01 = simulated persona.</a:t>
            </a:r>
          </a:p>
        </p:txBody>
      </p:sp>
      <p:sp>
        <p:nvSpPr>
          <p:cNvPr id="33" name="Rounded Rectangle 32"/>
          <p:cNvSpPr/>
          <p:nvPr/>
        </p:nvSpPr>
        <p:spPr>
          <a:xfrm>
            <a:off x="4709160" y="5175504"/>
            <a:ext cx="7022592" cy="1042415"/>
          </a:xfrm>
          <a:prstGeom prst="roundRect">
            <a:avLst>
              <a:gd name="adj" fmla="val 8000"/>
            </a:avLst>
          </a:prstGeom>
          <a:solidFill>
            <a:srgbClr val="FFF3DF"/>
          </a:solidFill>
          <a:ln w="8255">
            <a:solidFill>
              <a:srgbClr val="D7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4873752" y="5294376"/>
            <a:ext cx="6693407" cy="228600"/>
          </a:xfrm>
          <a:prstGeom prst="rect">
            <a:avLst/>
          </a:prstGeom>
          <a:noFill/>
        </p:spPr>
        <p:txBody>
          <a:bodyPr wrap="square" lIns="0" tIns="0" rIns="0" bIns="0">
            <a:spAutoFit/>
          </a:bodyPr>
          <a:lstStyle/>
          <a:p>
            <a:pPr>
              <a:lnSpc>
                <a:spcPct val="104000"/>
              </a:lnSpc>
              <a:spcBef>
                <a:spcPts val="0"/>
              </a:spcBef>
              <a:spcAft>
                <a:spcPts val="200"/>
              </a:spcAft>
              <a:defRPr sz="1150" b="1">
                <a:solidFill>
                  <a:srgbClr val="006E75"/>
                </a:solidFill>
                <a:latin typeface="Calibri"/>
              </a:defRPr>
            </a:pPr>
            <a:r>
              <a:t>OPEN ACTIONS CARRIED FORWARD</a:t>
            </a:r>
          </a:p>
        </p:txBody>
      </p:sp>
      <p:sp>
        <p:nvSpPr>
          <p:cNvPr id="35" name="TextBox 34"/>
          <p:cNvSpPr txBox="1"/>
          <p:nvPr/>
        </p:nvSpPr>
        <p:spPr>
          <a:xfrm>
            <a:off x="4873752" y="5541264"/>
            <a:ext cx="6693407" cy="594359"/>
          </a:xfrm>
          <a:prstGeom prst="rect">
            <a:avLst/>
          </a:prstGeom>
          <a:noFill/>
        </p:spPr>
        <p:txBody>
          <a:bodyPr wrap="square" lIns="0" tIns="0" rIns="0" bIns="0">
            <a:spAutoFit/>
          </a:bodyPr>
          <a:lstStyle/>
          <a:p>
            <a:pPr>
              <a:lnSpc>
                <a:spcPct val="104000"/>
              </a:lnSpc>
              <a:spcBef>
                <a:spcPts val="0"/>
              </a:spcBef>
              <a:spcAft>
                <a:spcPts val="200"/>
              </a:spcAft>
              <a:defRPr sz="1700" b="0">
                <a:solidFill>
                  <a:srgbClr val="243A49"/>
                </a:solidFill>
                <a:latin typeface="Calibri"/>
              </a:defRPr>
            </a:pPr>
            <a:r>
              <a:t>Open: real inspector interview + observation (0 done); IT/permission evidence; timings still reported only.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8FA"/>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91440"/>
          </a:xfrm>
          <a:prstGeom prst="rect">
            <a:avLst/>
          </a:prstGeom>
          <a:solidFill>
            <a:srgbClr val="006E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19456"/>
            <a:ext cx="7315200" cy="228600"/>
          </a:xfrm>
          <a:prstGeom prst="rect">
            <a:avLst/>
          </a:prstGeom>
          <a:noFill/>
        </p:spPr>
        <p:txBody>
          <a:bodyPr wrap="square" lIns="0" tIns="0" rIns="0" bIns="0">
            <a:spAutoFit/>
          </a:bodyPr>
          <a:lstStyle/>
          <a:p>
            <a:pPr>
              <a:lnSpc>
                <a:spcPct val="104000"/>
              </a:lnSpc>
              <a:spcBef>
                <a:spcPts val="0"/>
              </a:spcBef>
              <a:spcAft>
                <a:spcPts val="200"/>
              </a:spcAft>
              <a:defRPr sz="1150" b="1">
                <a:solidFill>
                  <a:srgbClr val="006E75"/>
                </a:solidFill>
                <a:latin typeface="Calibri"/>
              </a:defRPr>
            </a:pPr>
            <a:r>
              <a:t>SCHOOL OF INNOVATION  |  KGISL INSTITUTE OF TECHNOLOGY</a:t>
            </a:r>
          </a:p>
        </p:txBody>
      </p:sp>
      <p:sp>
        <p:nvSpPr>
          <p:cNvPr id="4" name="Rounded Rectangle 3"/>
          <p:cNvSpPr/>
          <p:nvPr/>
        </p:nvSpPr>
        <p:spPr>
          <a:xfrm>
            <a:off x="8458200" y="210312"/>
            <a:ext cx="768096" cy="237744"/>
          </a:xfrm>
          <a:prstGeom prst="roundRect">
            <a:avLst>
              <a:gd name="adj" fmla="val 8000"/>
            </a:avLst>
          </a:prstGeom>
          <a:solidFill>
            <a:srgbClr val="006E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458200" y="246888"/>
            <a:ext cx="768096" cy="128016"/>
          </a:xfrm>
          <a:prstGeom prst="rect">
            <a:avLst/>
          </a:prstGeom>
          <a:noFill/>
        </p:spPr>
        <p:txBody>
          <a:bodyPr wrap="square" lIns="0" tIns="0" rIns="0" bIns="0">
            <a:spAutoFit/>
          </a:bodyPr>
          <a:lstStyle/>
          <a:p>
            <a:pPr algn="ctr">
              <a:lnSpc>
                <a:spcPct val="104000"/>
              </a:lnSpc>
              <a:spcBef>
                <a:spcPts val="0"/>
              </a:spcBef>
              <a:spcAft>
                <a:spcPts val="200"/>
              </a:spcAft>
              <a:defRPr sz="880" b="1">
                <a:solidFill>
                  <a:srgbClr val="FFFFFF"/>
                </a:solidFill>
                <a:latin typeface="Calibri"/>
              </a:defRPr>
            </a:pPr>
            <a:r>
              <a:t>FRAME</a:t>
            </a:r>
          </a:p>
        </p:txBody>
      </p:sp>
      <p:sp>
        <p:nvSpPr>
          <p:cNvPr id="6" name="Rounded Rectangle 5"/>
          <p:cNvSpPr/>
          <p:nvPr/>
        </p:nvSpPr>
        <p:spPr>
          <a:xfrm>
            <a:off x="9281160" y="210312"/>
            <a:ext cx="768096" cy="237744"/>
          </a:xfrm>
          <a:prstGeom prst="roundRect">
            <a:avLst>
              <a:gd name="adj" fmla="val 8000"/>
            </a:avLst>
          </a:prstGeom>
          <a:solidFill>
            <a:srgbClr val="D7E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281160" y="246888"/>
            <a:ext cx="768096" cy="128016"/>
          </a:xfrm>
          <a:prstGeom prst="rect">
            <a:avLst/>
          </a:prstGeom>
          <a:noFill/>
        </p:spPr>
        <p:txBody>
          <a:bodyPr wrap="square" lIns="0" tIns="0" rIns="0" bIns="0">
            <a:spAutoFit/>
          </a:bodyPr>
          <a:lstStyle/>
          <a:p>
            <a:pPr algn="ctr">
              <a:lnSpc>
                <a:spcPct val="104000"/>
              </a:lnSpc>
              <a:spcBef>
                <a:spcPts val="0"/>
              </a:spcBef>
              <a:spcAft>
                <a:spcPts val="200"/>
              </a:spcAft>
              <a:defRPr sz="880" b="1">
                <a:solidFill>
                  <a:srgbClr val="597080"/>
                </a:solidFill>
                <a:latin typeface="Calibri"/>
              </a:defRPr>
            </a:pPr>
            <a:r>
              <a:t>EXPLORE</a:t>
            </a:r>
          </a:p>
        </p:txBody>
      </p:sp>
      <p:sp>
        <p:nvSpPr>
          <p:cNvPr id="8" name="Rounded Rectangle 7"/>
          <p:cNvSpPr/>
          <p:nvPr/>
        </p:nvSpPr>
        <p:spPr>
          <a:xfrm>
            <a:off x="10104120" y="210312"/>
            <a:ext cx="768096" cy="237744"/>
          </a:xfrm>
          <a:prstGeom prst="roundRect">
            <a:avLst>
              <a:gd name="adj" fmla="val 8000"/>
            </a:avLst>
          </a:prstGeom>
          <a:solidFill>
            <a:srgbClr val="D7E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104120" y="246888"/>
            <a:ext cx="768096" cy="128016"/>
          </a:xfrm>
          <a:prstGeom prst="rect">
            <a:avLst/>
          </a:prstGeom>
          <a:noFill/>
        </p:spPr>
        <p:txBody>
          <a:bodyPr wrap="square" lIns="0" tIns="0" rIns="0" bIns="0">
            <a:spAutoFit/>
          </a:bodyPr>
          <a:lstStyle/>
          <a:p>
            <a:pPr algn="ctr">
              <a:lnSpc>
                <a:spcPct val="104000"/>
              </a:lnSpc>
              <a:spcBef>
                <a:spcPts val="0"/>
              </a:spcBef>
              <a:spcAft>
                <a:spcPts val="200"/>
              </a:spcAft>
              <a:defRPr sz="880" b="1">
                <a:solidFill>
                  <a:srgbClr val="597080"/>
                </a:solidFill>
                <a:latin typeface="Calibri"/>
              </a:defRPr>
            </a:pPr>
            <a:r>
              <a:t>CHOOSE</a:t>
            </a:r>
          </a:p>
        </p:txBody>
      </p:sp>
      <p:sp>
        <p:nvSpPr>
          <p:cNvPr id="10" name="Rounded Rectangle 9"/>
          <p:cNvSpPr/>
          <p:nvPr/>
        </p:nvSpPr>
        <p:spPr>
          <a:xfrm>
            <a:off x="10927080" y="210312"/>
            <a:ext cx="768096" cy="237744"/>
          </a:xfrm>
          <a:prstGeom prst="roundRect">
            <a:avLst>
              <a:gd name="adj" fmla="val 8000"/>
            </a:avLst>
          </a:prstGeom>
          <a:solidFill>
            <a:srgbClr val="D7E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927080" y="246888"/>
            <a:ext cx="768096" cy="128016"/>
          </a:xfrm>
          <a:prstGeom prst="rect">
            <a:avLst/>
          </a:prstGeom>
          <a:noFill/>
        </p:spPr>
        <p:txBody>
          <a:bodyPr wrap="square" lIns="0" tIns="0" rIns="0" bIns="0">
            <a:spAutoFit/>
          </a:bodyPr>
          <a:lstStyle/>
          <a:p>
            <a:pPr algn="ctr">
              <a:lnSpc>
                <a:spcPct val="104000"/>
              </a:lnSpc>
              <a:spcBef>
                <a:spcPts val="0"/>
              </a:spcBef>
              <a:spcAft>
                <a:spcPts val="200"/>
              </a:spcAft>
              <a:defRPr sz="880" b="1">
                <a:solidFill>
                  <a:srgbClr val="597080"/>
                </a:solidFill>
                <a:latin typeface="Calibri"/>
              </a:defRPr>
            </a:pPr>
            <a:r>
              <a:t>TEST</a:t>
            </a:r>
          </a:p>
        </p:txBody>
      </p:sp>
      <p:sp>
        <p:nvSpPr>
          <p:cNvPr id="12" name="TextBox 11"/>
          <p:cNvSpPr txBox="1"/>
          <p:nvPr/>
        </p:nvSpPr>
        <p:spPr>
          <a:xfrm>
            <a:off x="457200" y="758952"/>
            <a:ext cx="585216" cy="438912"/>
          </a:xfrm>
          <a:prstGeom prst="rect">
            <a:avLst/>
          </a:prstGeom>
          <a:noFill/>
        </p:spPr>
        <p:txBody>
          <a:bodyPr wrap="square" lIns="0" tIns="0" rIns="0" bIns="0">
            <a:spAutoFit/>
          </a:bodyPr>
          <a:lstStyle/>
          <a:p>
            <a:pPr>
              <a:lnSpc>
                <a:spcPct val="104000"/>
              </a:lnSpc>
              <a:spcBef>
                <a:spcPts val="0"/>
              </a:spcBef>
              <a:spcAft>
                <a:spcPts val="200"/>
              </a:spcAft>
              <a:defRPr sz="2400" b="1">
                <a:solidFill>
                  <a:srgbClr val="006E75"/>
                </a:solidFill>
                <a:latin typeface="Calibri"/>
              </a:defRPr>
            </a:pPr>
            <a:r>
              <a:t>02</a:t>
            </a:r>
          </a:p>
        </p:txBody>
      </p:sp>
      <p:sp>
        <p:nvSpPr>
          <p:cNvPr id="13" name="TextBox 12"/>
          <p:cNvSpPr txBox="1"/>
          <p:nvPr/>
        </p:nvSpPr>
        <p:spPr>
          <a:xfrm>
            <a:off x="1143000" y="713232"/>
            <a:ext cx="10424160" cy="457200"/>
          </a:xfrm>
          <a:prstGeom prst="rect">
            <a:avLst/>
          </a:prstGeom>
          <a:noFill/>
        </p:spPr>
        <p:txBody>
          <a:bodyPr wrap="square" lIns="0" tIns="0" rIns="0" bIns="0">
            <a:spAutoFit/>
          </a:bodyPr>
          <a:lstStyle/>
          <a:p>
            <a:pPr>
              <a:lnSpc>
                <a:spcPct val="104000"/>
              </a:lnSpc>
              <a:spcBef>
                <a:spcPts val="0"/>
              </a:spcBef>
              <a:spcAft>
                <a:spcPts val="200"/>
              </a:spcAft>
              <a:defRPr sz="2700" b="1">
                <a:solidFill>
                  <a:srgbClr val="153347"/>
                </a:solidFill>
                <a:latin typeface="Calibri"/>
              </a:defRPr>
            </a:pPr>
            <a:r>
              <a:t>Validated need → design challenge</a:t>
            </a:r>
          </a:p>
        </p:txBody>
      </p:sp>
      <p:sp>
        <p:nvSpPr>
          <p:cNvPr id="14" name="TextBox 13"/>
          <p:cNvSpPr txBox="1"/>
          <p:nvPr/>
        </p:nvSpPr>
        <p:spPr>
          <a:xfrm>
            <a:off x="475488" y="1252728"/>
            <a:ext cx="11201400" cy="457200"/>
          </a:xfrm>
          <a:prstGeom prst="rect">
            <a:avLst/>
          </a:prstGeom>
          <a:noFill/>
        </p:spPr>
        <p:txBody>
          <a:bodyPr wrap="square" lIns="0" tIns="0" rIns="0" bIns="0">
            <a:spAutoFit/>
          </a:bodyPr>
          <a:lstStyle/>
          <a:p>
            <a:pPr>
              <a:lnSpc>
                <a:spcPct val="104000"/>
              </a:lnSpc>
              <a:spcBef>
                <a:spcPts val="0"/>
              </a:spcBef>
              <a:spcAft>
                <a:spcPts val="200"/>
              </a:spcAft>
              <a:defRPr sz="1550" b="0">
                <a:solidFill>
                  <a:srgbClr val="597080"/>
                </a:solidFill>
                <a:latin typeface="Calibri"/>
              </a:defRPr>
            </a:pPr>
            <a:r>
              <a:t>Carry the evidence forward. Do not restart with a preferred app, model or machine.</a:t>
            </a:r>
          </a:p>
        </p:txBody>
      </p:sp>
      <p:sp>
        <p:nvSpPr>
          <p:cNvPr id="15" name="Rectangle 14"/>
          <p:cNvSpPr/>
          <p:nvPr/>
        </p:nvSpPr>
        <p:spPr>
          <a:xfrm>
            <a:off x="457200" y="6428232"/>
            <a:ext cx="11274552" cy="9144"/>
          </a:xfrm>
          <a:prstGeom prst="rect">
            <a:avLst/>
          </a:prstGeom>
          <a:solidFill>
            <a:srgbClr val="D7E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57200" y="6528816"/>
            <a:ext cx="7589520" cy="155448"/>
          </a:xfrm>
          <a:prstGeom prst="rect">
            <a:avLst/>
          </a:prstGeom>
          <a:noFill/>
        </p:spPr>
        <p:txBody>
          <a:bodyPr wrap="square" lIns="0" tIns="0" rIns="0" bIns="0">
            <a:spAutoFit/>
          </a:bodyPr>
          <a:lstStyle/>
          <a:p>
            <a:pPr>
              <a:lnSpc>
                <a:spcPct val="104000"/>
              </a:lnSpc>
              <a:spcBef>
                <a:spcPts val="0"/>
              </a:spcBef>
              <a:spcAft>
                <a:spcPts val="200"/>
              </a:spcAft>
              <a:defRPr sz="900" b="0">
                <a:solidFill>
                  <a:srgbClr val="597080"/>
                </a:solidFill>
                <a:latin typeface="Calibri"/>
              </a:defRPr>
            </a:pPr>
            <a:r>
              <a:t>TEAM TITANS • LABELGUARD • DRAFT FOR MENTOR REVIEW</a:t>
            </a:r>
          </a:p>
        </p:txBody>
      </p:sp>
      <p:sp>
        <p:nvSpPr>
          <p:cNvPr id="17" name="TextBox 16"/>
          <p:cNvSpPr txBox="1"/>
          <p:nvPr/>
        </p:nvSpPr>
        <p:spPr>
          <a:xfrm>
            <a:off x="8321040" y="6510528"/>
            <a:ext cx="2194560" cy="201168"/>
          </a:xfrm>
          <a:prstGeom prst="rect">
            <a:avLst/>
          </a:prstGeom>
          <a:noFill/>
        </p:spPr>
        <p:txBody>
          <a:bodyPr wrap="square" lIns="0" tIns="0" rIns="0" bIns="0">
            <a:spAutoFit/>
          </a:bodyPr>
          <a:lstStyle/>
          <a:p>
            <a:pPr algn="r">
              <a:lnSpc>
                <a:spcPct val="104000"/>
              </a:lnSpc>
              <a:spcBef>
                <a:spcPts val="0"/>
              </a:spcBef>
              <a:spcAft>
                <a:spcPts val="200"/>
              </a:spcAft>
              <a:defRPr sz="1000" b="1">
                <a:solidFill>
                  <a:srgbClr val="006E75"/>
                </a:solidFill>
                <a:latin typeface="Calibri"/>
              </a:defRPr>
            </a:pPr>
            <a:r>
              <a:t>P2 • 16 OCT 2026</a:t>
            </a:r>
          </a:p>
        </p:txBody>
      </p:sp>
      <p:sp>
        <p:nvSpPr>
          <p:cNvPr id="18" name="TextBox 17"/>
          <p:cNvSpPr txBox="1"/>
          <p:nvPr/>
        </p:nvSpPr>
        <p:spPr>
          <a:xfrm>
            <a:off x="10908792" y="6510528"/>
            <a:ext cx="786384" cy="201168"/>
          </a:xfrm>
          <a:prstGeom prst="rect">
            <a:avLst/>
          </a:prstGeom>
          <a:noFill/>
        </p:spPr>
        <p:txBody>
          <a:bodyPr wrap="square" lIns="0" tIns="0" rIns="0" bIns="0">
            <a:spAutoFit/>
          </a:bodyPr>
          <a:lstStyle/>
          <a:p>
            <a:pPr algn="r">
              <a:lnSpc>
                <a:spcPct val="104000"/>
              </a:lnSpc>
              <a:spcBef>
                <a:spcPts val="0"/>
              </a:spcBef>
              <a:spcAft>
                <a:spcPts val="200"/>
              </a:spcAft>
              <a:defRPr sz="1000" b="0">
                <a:solidFill>
                  <a:srgbClr val="597080"/>
                </a:solidFill>
                <a:latin typeface="Calibri"/>
              </a:defRPr>
            </a:pPr>
            <a:r>
              <a:t>2/11</a:t>
            </a:r>
          </a:p>
        </p:txBody>
      </p:sp>
      <p:sp>
        <p:nvSpPr>
          <p:cNvPr id="19" name="Rounded Rectangle 18"/>
          <p:cNvSpPr/>
          <p:nvPr/>
        </p:nvSpPr>
        <p:spPr>
          <a:xfrm>
            <a:off x="457200" y="1828800"/>
            <a:ext cx="3401568" cy="1353312"/>
          </a:xfrm>
          <a:prstGeom prst="roundRect">
            <a:avLst>
              <a:gd name="adj" fmla="val 8000"/>
            </a:avLst>
          </a:prstGeom>
          <a:solidFill>
            <a:srgbClr val="FFFFFF"/>
          </a:solidFill>
          <a:ln w="8255">
            <a:solidFill>
              <a:srgbClr val="D7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21792" y="1947672"/>
            <a:ext cx="3072384" cy="228600"/>
          </a:xfrm>
          <a:prstGeom prst="rect">
            <a:avLst/>
          </a:prstGeom>
          <a:noFill/>
        </p:spPr>
        <p:txBody>
          <a:bodyPr wrap="square" lIns="0" tIns="0" rIns="0" bIns="0">
            <a:spAutoFit/>
          </a:bodyPr>
          <a:lstStyle/>
          <a:p>
            <a:pPr>
              <a:lnSpc>
                <a:spcPct val="104000"/>
              </a:lnSpc>
              <a:spcBef>
                <a:spcPts val="0"/>
              </a:spcBef>
              <a:spcAft>
                <a:spcPts val="200"/>
              </a:spcAft>
              <a:defRPr sz="1150" b="1">
                <a:solidFill>
                  <a:srgbClr val="006E75"/>
                </a:solidFill>
                <a:latin typeface="Calibri"/>
              </a:defRPr>
            </a:pPr>
            <a:r>
              <a:t>PRIMARY END USER</a:t>
            </a:r>
          </a:p>
        </p:txBody>
      </p:sp>
      <p:sp>
        <p:nvSpPr>
          <p:cNvPr id="21" name="TextBox 20"/>
          <p:cNvSpPr txBox="1"/>
          <p:nvPr/>
        </p:nvSpPr>
        <p:spPr>
          <a:xfrm>
            <a:off x="621792" y="2194560"/>
            <a:ext cx="3072384" cy="905256"/>
          </a:xfrm>
          <a:prstGeom prst="rect">
            <a:avLst/>
          </a:prstGeom>
          <a:noFill/>
        </p:spPr>
        <p:txBody>
          <a:bodyPr wrap="square" lIns="0" tIns="0" rIns="0" bIns="0">
            <a:spAutoFit/>
          </a:bodyPr>
          <a:lstStyle/>
          <a:p>
            <a:pPr>
              <a:lnSpc>
                <a:spcPct val="104000"/>
              </a:lnSpc>
              <a:spcBef>
                <a:spcPts val="0"/>
              </a:spcBef>
              <a:spcAft>
                <a:spcPts val="200"/>
              </a:spcAft>
              <a:defRPr sz="1700" b="0">
                <a:solidFill>
                  <a:srgbClr val="243A49"/>
                </a:solidFill>
                <a:latin typeface="Calibri"/>
              </a:defRPr>
            </a:pPr>
            <a:r>
              <a:t>Legal Metrology inspectors in a district office, checking 15–20 packaged food and personal-care packs per retail shop.</a:t>
            </a:r>
          </a:p>
        </p:txBody>
      </p:sp>
      <p:sp>
        <p:nvSpPr>
          <p:cNvPr id="22" name="Rounded Rectangle 21"/>
          <p:cNvSpPr/>
          <p:nvPr/>
        </p:nvSpPr>
        <p:spPr>
          <a:xfrm>
            <a:off x="4023360" y="1828800"/>
            <a:ext cx="3767328" cy="1353312"/>
          </a:xfrm>
          <a:prstGeom prst="roundRect">
            <a:avLst>
              <a:gd name="adj" fmla="val 8000"/>
            </a:avLst>
          </a:prstGeom>
          <a:solidFill>
            <a:srgbClr val="FFFFFF"/>
          </a:solidFill>
          <a:ln w="8255">
            <a:solidFill>
              <a:srgbClr val="D7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187952" y="1947672"/>
            <a:ext cx="3438144" cy="228600"/>
          </a:xfrm>
          <a:prstGeom prst="rect">
            <a:avLst/>
          </a:prstGeom>
          <a:noFill/>
        </p:spPr>
        <p:txBody>
          <a:bodyPr wrap="square" lIns="0" tIns="0" rIns="0" bIns="0">
            <a:spAutoFit/>
          </a:bodyPr>
          <a:lstStyle/>
          <a:p>
            <a:pPr>
              <a:lnSpc>
                <a:spcPct val="104000"/>
              </a:lnSpc>
              <a:spcBef>
                <a:spcPts val="0"/>
              </a:spcBef>
              <a:spcAft>
                <a:spcPts val="200"/>
              </a:spcAft>
              <a:defRPr sz="1150" b="1">
                <a:solidFill>
                  <a:srgbClr val="006E75"/>
                </a:solidFill>
                <a:latin typeface="Calibri"/>
              </a:defRPr>
            </a:pPr>
            <a:r>
              <a:t>PROBLEM TO ADDRESS</a:t>
            </a:r>
          </a:p>
        </p:txBody>
      </p:sp>
      <p:sp>
        <p:nvSpPr>
          <p:cNvPr id="24" name="TextBox 23"/>
          <p:cNvSpPr txBox="1"/>
          <p:nvPr/>
        </p:nvSpPr>
        <p:spPr>
          <a:xfrm>
            <a:off x="4187952" y="2194560"/>
            <a:ext cx="3438144" cy="905256"/>
          </a:xfrm>
          <a:prstGeom prst="rect">
            <a:avLst/>
          </a:prstGeom>
          <a:noFill/>
        </p:spPr>
        <p:txBody>
          <a:bodyPr wrap="square" lIns="0" tIns="0" rIns="0" bIns="0">
            <a:spAutoFit/>
          </a:bodyPr>
          <a:lstStyle/>
          <a:p>
            <a:pPr>
              <a:lnSpc>
                <a:spcPct val="104000"/>
              </a:lnSpc>
              <a:spcBef>
                <a:spcPts val="0"/>
              </a:spcBef>
              <a:spcAft>
                <a:spcPts val="200"/>
              </a:spcAft>
              <a:defRPr sz="1700" b="0">
                <a:solidFill>
                  <a:srgbClr val="243A49"/>
                </a:solidFill>
                <a:latin typeface="Calibri"/>
              </a:defRPr>
            </a:pPr>
            <a:r>
              <a:t>Inspectors struggle to verify every mandatory declaration on many packs because checking is manual and labels vary in language, format and pack shape, causing long checks, missed items and re-checks (reported).</a:t>
            </a:r>
          </a:p>
        </p:txBody>
      </p:sp>
      <p:sp>
        <p:nvSpPr>
          <p:cNvPr id="25" name="Rounded Rectangle 24"/>
          <p:cNvSpPr/>
          <p:nvPr/>
        </p:nvSpPr>
        <p:spPr>
          <a:xfrm>
            <a:off x="7955279" y="1828800"/>
            <a:ext cx="3776472" cy="1353312"/>
          </a:xfrm>
          <a:prstGeom prst="roundRect">
            <a:avLst>
              <a:gd name="adj" fmla="val 8000"/>
            </a:avLst>
          </a:prstGeom>
          <a:solidFill>
            <a:srgbClr val="FFFFFF"/>
          </a:solidFill>
          <a:ln w="8255">
            <a:solidFill>
              <a:srgbClr val="D7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119871" y="1947672"/>
            <a:ext cx="3447288" cy="228600"/>
          </a:xfrm>
          <a:prstGeom prst="rect">
            <a:avLst/>
          </a:prstGeom>
          <a:noFill/>
        </p:spPr>
        <p:txBody>
          <a:bodyPr wrap="square" lIns="0" tIns="0" rIns="0" bIns="0">
            <a:spAutoFit/>
          </a:bodyPr>
          <a:lstStyle/>
          <a:p>
            <a:pPr>
              <a:lnSpc>
                <a:spcPct val="104000"/>
              </a:lnSpc>
              <a:spcBef>
                <a:spcPts val="0"/>
              </a:spcBef>
              <a:spcAft>
                <a:spcPts val="200"/>
              </a:spcAft>
              <a:defRPr sz="1150" b="1">
                <a:solidFill>
                  <a:srgbClr val="006E75"/>
                </a:solidFill>
                <a:latin typeface="Calibri"/>
              </a:defRPr>
            </a:pPr>
            <a:r>
              <a:t>P1 BASELINE AND EVIDENCE</a:t>
            </a:r>
          </a:p>
        </p:txBody>
      </p:sp>
      <p:sp>
        <p:nvSpPr>
          <p:cNvPr id="27" name="TextBox 26"/>
          <p:cNvSpPr txBox="1"/>
          <p:nvPr/>
        </p:nvSpPr>
        <p:spPr>
          <a:xfrm>
            <a:off x="8119871" y="2194560"/>
            <a:ext cx="3447288" cy="905256"/>
          </a:xfrm>
          <a:prstGeom prst="rect">
            <a:avLst/>
          </a:prstGeom>
          <a:noFill/>
        </p:spPr>
        <p:txBody>
          <a:bodyPr wrap="square" lIns="0" tIns="0" rIns="0" bIns="0">
            <a:spAutoFit/>
          </a:bodyPr>
          <a:lstStyle/>
          <a:p>
            <a:pPr>
              <a:lnSpc>
                <a:spcPct val="104000"/>
              </a:lnSpc>
              <a:spcBef>
                <a:spcPts val="0"/>
              </a:spcBef>
              <a:spcAft>
                <a:spcPts val="200"/>
              </a:spcAft>
              <a:defRPr sz="1700" b="0">
                <a:solidFill>
                  <a:srgbClr val="243A49"/>
                </a:solidFill>
                <a:latin typeface="Calibri"/>
              </a:defRPr>
            </a:pPr>
            <a:r>
              <a:t>NOT YET MEASURED. Reported (simulated persona E01, n=1): 5–8 min per clean label; 15+ min if complex.</a:t>
            </a:r>
          </a:p>
        </p:txBody>
      </p:sp>
      <p:sp>
        <p:nvSpPr>
          <p:cNvPr id="28" name="Rounded Rectangle 27"/>
          <p:cNvSpPr/>
          <p:nvPr/>
        </p:nvSpPr>
        <p:spPr>
          <a:xfrm>
            <a:off x="457200" y="3374136"/>
            <a:ext cx="11274552" cy="1143000"/>
          </a:xfrm>
          <a:prstGeom prst="roundRect">
            <a:avLst>
              <a:gd name="adj" fmla="val 8000"/>
            </a:avLst>
          </a:prstGeom>
          <a:solidFill>
            <a:srgbClr val="1533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37824" y="3528832"/>
            <a:ext cx="10839400" cy="176972"/>
          </a:xfrm>
          <a:prstGeom prst="rect">
            <a:avLst/>
          </a:prstGeom>
          <a:noFill/>
        </p:spPr>
        <p:txBody>
          <a:bodyPr wrap="square" lIns="0" tIns="0" rIns="0" bIns="0">
            <a:spAutoFit/>
          </a:bodyPr>
          <a:lstStyle/>
          <a:p>
            <a:pPr>
              <a:lnSpc>
                <a:spcPct val="104000"/>
              </a:lnSpc>
              <a:spcBef>
                <a:spcPts val="0"/>
              </a:spcBef>
              <a:spcAft>
                <a:spcPts val="200"/>
              </a:spcAft>
              <a:defRPr sz="1150" b="1">
                <a:solidFill>
                  <a:srgbClr val="E7F3F1"/>
                </a:solidFill>
                <a:latin typeface="Calibri"/>
              </a:defRPr>
            </a:pPr>
            <a:r>
              <a:t>HOW MIGHT WE … ?</a:t>
            </a:r>
          </a:p>
        </p:txBody>
      </p:sp>
      <p:sp>
        <p:nvSpPr>
          <p:cNvPr id="30" name="TextBox 29"/>
          <p:cNvSpPr txBox="1"/>
          <p:nvPr/>
        </p:nvSpPr>
        <p:spPr>
          <a:xfrm>
            <a:off x="667512" y="3785615"/>
            <a:ext cx="10826496" cy="630936"/>
          </a:xfrm>
          <a:prstGeom prst="rect">
            <a:avLst/>
          </a:prstGeom>
          <a:noFill/>
        </p:spPr>
        <p:txBody>
          <a:bodyPr wrap="square" lIns="0" tIns="0" rIns="0" bIns="0">
            <a:spAutoFit/>
          </a:bodyPr>
          <a:lstStyle/>
          <a:p>
            <a:pPr>
              <a:lnSpc>
                <a:spcPct val="104000"/>
              </a:lnSpc>
              <a:spcBef>
                <a:spcPts val="0"/>
              </a:spcBef>
              <a:spcAft>
                <a:spcPts val="200"/>
              </a:spcAft>
              <a:defRPr sz="2250" b="1">
                <a:solidFill>
                  <a:srgbClr val="FFFFFF"/>
                </a:solidFill>
                <a:latin typeface="Calibri"/>
              </a:defRPr>
            </a:pPr>
            <a:r>
              <a:t>How might we help inspectors verify every mandatory declaration quickly and consistently despite varied languages and pack shapes, without replacing their legal judgement?</a:t>
            </a:r>
          </a:p>
        </p:txBody>
      </p:sp>
      <p:sp>
        <p:nvSpPr>
          <p:cNvPr id="31" name="TextBox 30"/>
          <p:cNvSpPr txBox="1"/>
          <p:nvPr/>
        </p:nvSpPr>
        <p:spPr>
          <a:xfrm>
            <a:off x="475488" y="4773168"/>
            <a:ext cx="10881360" cy="228600"/>
          </a:xfrm>
          <a:prstGeom prst="rect">
            <a:avLst/>
          </a:prstGeom>
          <a:noFill/>
        </p:spPr>
        <p:txBody>
          <a:bodyPr wrap="square" lIns="0" tIns="0" rIns="0" bIns="0">
            <a:spAutoFit/>
          </a:bodyPr>
          <a:lstStyle/>
          <a:p>
            <a:pPr>
              <a:lnSpc>
                <a:spcPct val="104000"/>
              </a:lnSpc>
              <a:spcBef>
                <a:spcPts val="0"/>
              </a:spcBef>
              <a:spcAft>
                <a:spcPts val="200"/>
              </a:spcAft>
              <a:defRPr sz="1150" b="1">
                <a:solidFill>
                  <a:srgbClr val="006E75"/>
                </a:solidFill>
                <a:latin typeface="Calibri"/>
              </a:defRPr>
            </a:pPr>
            <a:r>
              <a:t>DESIGN REQUIREMENTS — VALUE, ADOPTION AND BOUNDARIES</a:t>
            </a:r>
          </a:p>
        </p:txBody>
      </p:sp>
      <p:sp>
        <p:nvSpPr>
          <p:cNvPr id="32" name="Rounded Rectangle 31"/>
          <p:cNvSpPr/>
          <p:nvPr/>
        </p:nvSpPr>
        <p:spPr>
          <a:xfrm>
            <a:off x="457200" y="5111496"/>
            <a:ext cx="3630168" cy="1097280"/>
          </a:xfrm>
          <a:prstGeom prst="roundRect">
            <a:avLst>
              <a:gd name="adj" fmla="val 8000"/>
            </a:avLst>
          </a:prstGeom>
          <a:solidFill>
            <a:srgbClr val="FFFFFF"/>
          </a:solidFill>
          <a:ln w="8255">
            <a:solidFill>
              <a:srgbClr val="D7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21792" y="5230368"/>
            <a:ext cx="3300984" cy="228600"/>
          </a:xfrm>
          <a:prstGeom prst="rect">
            <a:avLst/>
          </a:prstGeom>
          <a:noFill/>
        </p:spPr>
        <p:txBody>
          <a:bodyPr wrap="square" lIns="0" tIns="0" rIns="0" bIns="0">
            <a:spAutoFit/>
          </a:bodyPr>
          <a:lstStyle/>
          <a:p>
            <a:pPr>
              <a:lnSpc>
                <a:spcPct val="104000"/>
              </a:lnSpc>
              <a:spcBef>
                <a:spcPts val="0"/>
              </a:spcBef>
              <a:spcAft>
                <a:spcPts val="200"/>
              </a:spcAft>
              <a:defRPr sz="1150" b="1">
                <a:solidFill>
                  <a:srgbClr val="006E75"/>
                </a:solidFill>
                <a:latin typeface="Calibri"/>
              </a:defRPr>
            </a:pPr>
            <a:r>
              <a:t>R1</a:t>
            </a:r>
          </a:p>
        </p:txBody>
      </p:sp>
      <p:sp>
        <p:nvSpPr>
          <p:cNvPr id="34" name="TextBox 33"/>
          <p:cNvSpPr txBox="1"/>
          <p:nvPr/>
        </p:nvSpPr>
        <p:spPr>
          <a:xfrm>
            <a:off x="621792" y="5477256"/>
            <a:ext cx="3300984" cy="649224"/>
          </a:xfrm>
          <a:prstGeom prst="rect">
            <a:avLst/>
          </a:prstGeom>
          <a:noFill/>
        </p:spPr>
        <p:txBody>
          <a:bodyPr wrap="square" lIns="0" tIns="0" rIns="0" bIns="0">
            <a:spAutoFit/>
          </a:bodyPr>
          <a:lstStyle/>
          <a:p>
            <a:pPr>
              <a:lnSpc>
                <a:spcPct val="104000"/>
              </a:lnSpc>
              <a:spcBef>
                <a:spcPts val="0"/>
              </a:spcBef>
              <a:spcAft>
                <a:spcPts val="200"/>
              </a:spcAft>
              <a:defRPr sz="1550" b="0">
                <a:solidFill>
                  <a:srgbClr val="243A49"/>
                </a:solidFill>
                <a:latin typeface="Calibri"/>
              </a:defRPr>
            </a:pPr>
            <a:r>
              <a:t>R1: Flag every missing or unreadable declaration so none is missed (E01, simulated).</a:t>
            </a:r>
          </a:p>
        </p:txBody>
      </p:sp>
      <p:sp>
        <p:nvSpPr>
          <p:cNvPr id="35" name="Rounded Rectangle 34"/>
          <p:cNvSpPr/>
          <p:nvPr/>
        </p:nvSpPr>
        <p:spPr>
          <a:xfrm>
            <a:off x="4279392" y="5111496"/>
            <a:ext cx="3630168" cy="1097280"/>
          </a:xfrm>
          <a:prstGeom prst="roundRect">
            <a:avLst>
              <a:gd name="adj" fmla="val 8000"/>
            </a:avLst>
          </a:prstGeom>
          <a:solidFill>
            <a:srgbClr val="FFFFFF"/>
          </a:solidFill>
          <a:ln w="8255">
            <a:solidFill>
              <a:srgbClr val="D7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4443983" y="5230368"/>
            <a:ext cx="3300984" cy="228600"/>
          </a:xfrm>
          <a:prstGeom prst="rect">
            <a:avLst/>
          </a:prstGeom>
          <a:noFill/>
        </p:spPr>
        <p:txBody>
          <a:bodyPr wrap="square" lIns="0" tIns="0" rIns="0" bIns="0">
            <a:spAutoFit/>
          </a:bodyPr>
          <a:lstStyle/>
          <a:p>
            <a:pPr>
              <a:lnSpc>
                <a:spcPct val="104000"/>
              </a:lnSpc>
              <a:spcBef>
                <a:spcPts val="0"/>
              </a:spcBef>
              <a:spcAft>
                <a:spcPts val="200"/>
              </a:spcAft>
              <a:defRPr sz="1150" b="1">
                <a:solidFill>
                  <a:srgbClr val="006E75"/>
                </a:solidFill>
                <a:latin typeface="Calibri"/>
              </a:defRPr>
            </a:pPr>
            <a:r>
              <a:t>R2</a:t>
            </a:r>
          </a:p>
        </p:txBody>
      </p:sp>
      <p:sp>
        <p:nvSpPr>
          <p:cNvPr id="37" name="TextBox 36"/>
          <p:cNvSpPr txBox="1"/>
          <p:nvPr/>
        </p:nvSpPr>
        <p:spPr>
          <a:xfrm>
            <a:off x="4443983" y="5477256"/>
            <a:ext cx="3300984" cy="649224"/>
          </a:xfrm>
          <a:prstGeom prst="rect">
            <a:avLst/>
          </a:prstGeom>
          <a:noFill/>
        </p:spPr>
        <p:txBody>
          <a:bodyPr wrap="square" lIns="0" tIns="0" rIns="0" bIns="0">
            <a:spAutoFit/>
          </a:bodyPr>
          <a:lstStyle/>
          <a:p>
            <a:pPr>
              <a:lnSpc>
                <a:spcPct val="104000"/>
              </a:lnSpc>
              <a:spcBef>
                <a:spcPts val="0"/>
              </a:spcBef>
              <a:spcAft>
                <a:spcPts val="200"/>
              </a:spcAft>
              <a:defRPr sz="1550" b="0">
                <a:solidFill>
                  <a:srgbClr val="243A49"/>
                </a:solidFill>
                <a:latin typeface="Calibri"/>
              </a:defRPr>
            </a:pPr>
            <a:r>
              <a:t>R2: Work on a phone or paper, handle local languages, fit the current register and report (to test).</a:t>
            </a:r>
          </a:p>
        </p:txBody>
      </p:sp>
      <p:sp>
        <p:nvSpPr>
          <p:cNvPr id="38" name="Rounded Rectangle 37"/>
          <p:cNvSpPr/>
          <p:nvPr/>
        </p:nvSpPr>
        <p:spPr>
          <a:xfrm>
            <a:off x="8101583" y="5111496"/>
            <a:ext cx="3630168" cy="1097280"/>
          </a:xfrm>
          <a:prstGeom prst="roundRect">
            <a:avLst>
              <a:gd name="adj" fmla="val 8000"/>
            </a:avLst>
          </a:prstGeom>
          <a:solidFill>
            <a:srgbClr val="FFFFFF"/>
          </a:solidFill>
          <a:ln w="8255">
            <a:solidFill>
              <a:srgbClr val="D7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8266175" y="5230368"/>
            <a:ext cx="3300984" cy="228600"/>
          </a:xfrm>
          <a:prstGeom prst="rect">
            <a:avLst/>
          </a:prstGeom>
          <a:noFill/>
        </p:spPr>
        <p:txBody>
          <a:bodyPr wrap="square" lIns="0" tIns="0" rIns="0" bIns="0">
            <a:spAutoFit/>
          </a:bodyPr>
          <a:lstStyle/>
          <a:p>
            <a:pPr>
              <a:lnSpc>
                <a:spcPct val="104000"/>
              </a:lnSpc>
              <a:spcBef>
                <a:spcPts val="0"/>
              </a:spcBef>
              <a:spcAft>
                <a:spcPts val="200"/>
              </a:spcAft>
              <a:defRPr sz="1150" b="1">
                <a:solidFill>
                  <a:srgbClr val="006E75"/>
                </a:solidFill>
                <a:latin typeface="Calibri"/>
              </a:defRPr>
            </a:pPr>
            <a:r>
              <a:t>R3</a:t>
            </a:r>
          </a:p>
        </p:txBody>
      </p:sp>
      <p:sp>
        <p:nvSpPr>
          <p:cNvPr id="40" name="TextBox 39"/>
          <p:cNvSpPr txBox="1"/>
          <p:nvPr/>
        </p:nvSpPr>
        <p:spPr>
          <a:xfrm>
            <a:off x="8266175" y="5477256"/>
            <a:ext cx="3300984" cy="649224"/>
          </a:xfrm>
          <a:prstGeom prst="rect">
            <a:avLst/>
          </a:prstGeom>
          <a:noFill/>
        </p:spPr>
        <p:txBody>
          <a:bodyPr wrap="square" lIns="0" tIns="0" rIns="0" bIns="0">
            <a:spAutoFit/>
          </a:bodyPr>
          <a:lstStyle/>
          <a:p>
            <a:pPr>
              <a:lnSpc>
                <a:spcPct val="104000"/>
              </a:lnSpc>
              <a:spcBef>
                <a:spcPts val="0"/>
              </a:spcBef>
              <a:spcAft>
                <a:spcPts val="200"/>
              </a:spcAft>
              <a:defRPr sz="1550" b="0">
                <a:solidFill>
                  <a:srgbClr val="243A49"/>
                </a:solidFill>
                <a:latin typeface="Calibri"/>
              </a:defRPr>
            </a:pPr>
            <a:r>
              <a:t>R3: Inspector decides; no personal data; test only team-photographed packs; cost ≤ ₹1,000 (Estimated).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8FA"/>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91440"/>
          </a:xfrm>
          <a:prstGeom prst="rect">
            <a:avLst/>
          </a:prstGeom>
          <a:solidFill>
            <a:srgbClr val="006E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19456"/>
            <a:ext cx="7315200" cy="228600"/>
          </a:xfrm>
          <a:prstGeom prst="rect">
            <a:avLst/>
          </a:prstGeom>
          <a:noFill/>
        </p:spPr>
        <p:txBody>
          <a:bodyPr wrap="square" lIns="0" tIns="0" rIns="0" bIns="0">
            <a:spAutoFit/>
          </a:bodyPr>
          <a:lstStyle/>
          <a:p>
            <a:pPr>
              <a:lnSpc>
                <a:spcPct val="104000"/>
              </a:lnSpc>
              <a:spcBef>
                <a:spcPts val="0"/>
              </a:spcBef>
              <a:spcAft>
                <a:spcPts val="200"/>
              </a:spcAft>
              <a:defRPr sz="1150" b="1">
                <a:solidFill>
                  <a:srgbClr val="006E75"/>
                </a:solidFill>
                <a:latin typeface="Calibri"/>
              </a:defRPr>
            </a:pPr>
            <a:r>
              <a:t>SCHOOL OF INNOVATION  |  KGISL INSTITUTE OF TECHNOLOGY</a:t>
            </a:r>
          </a:p>
        </p:txBody>
      </p:sp>
      <p:sp>
        <p:nvSpPr>
          <p:cNvPr id="4" name="Rounded Rectangle 3"/>
          <p:cNvSpPr/>
          <p:nvPr/>
        </p:nvSpPr>
        <p:spPr>
          <a:xfrm>
            <a:off x="8458200" y="210312"/>
            <a:ext cx="768096" cy="237744"/>
          </a:xfrm>
          <a:prstGeom prst="roundRect">
            <a:avLst>
              <a:gd name="adj" fmla="val 8000"/>
            </a:avLst>
          </a:prstGeom>
          <a:solidFill>
            <a:srgbClr val="D7E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458200" y="246888"/>
            <a:ext cx="768096" cy="128016"/>
          </a:xfrm>
          <a:prstGeom prst="rect">
            <a:avLst/>
          </a:prstGeom>
          <a:noFill/>
        </p:spPr>
        <p:txBody>
          <a:bodyPr wrap="square" lIns="0" tIns="0" rIns="0" bIns="0">
            <a:spAutoFit/>
          </a:bodyPr>
          <a:lstStyle/>
          <a:p>
            <a:pPr algn="ctr">
              <a:lnSpc>
                <a:spcPct val="104000"/>
              </a:lnSpc>
              <a:spcBef>
                <a:spcPts val="0"/>
              </a:spcBef>
              <a:spcAft>
                <a:spcPts val="200"/>
              </a:spcAft>
              <a:defRPr sz="880" b="1">
                <a:solidFill>
                  <a:srgbClr val="597080"/>
                </a:solidFill>
                <a:latin typeface="Calibri"/>
              </a:defRPr>
            </a:pPr>
            <a:r>
              <a:t>FRAME</a:t>
            </a:r>
          </a:p>
        </p:txBody>
      </p:sp>
      <p:sp>
        <p:nvSpPr>
          <p:cNvPr id="6" name="Rounded Rectangle 5"/>
          <p:cNvSpPr/>
          <p:nvPr/>
        </p:nvSpPr>
        <p:spPr>
          <a:xfrm>
            <a:off x="9281160" y="210312"/>
            <a:ext cx="768096" cy="237744"/>
          </a:xfrm>
          <a:prstGeom prst="roundRect">
            <a:avLst>
              <a:gd name="adj" fmla="val 8000"/>
            </a:avLst>
          </a:prstGeom>
          <a:solidFill>
            <a:srgbClr val="006E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281160" y="246888"/>
            <a:ext cx="768096" cy="128016"/>
          </a:xfrm>
          <a:prstGeom prst="rect">
            <a:avLst/>
          </a:prstGeom>
          <a:noFill/>
        </p:spPr>
        <p:txBody>
          <a:bodyPr wrap="square" lIns="0" tIns="0" rIns="0" bIns="0">
            <a:spAutoFit/>
          </a:bodyPr>
          <a:lstStyle/>
          <a:p>
            <a:pPr algn="ctr">
              <a:lnSpc>
                <a:spcPct val="104000"/>
              </a:lnSpc>
              <a:spcBef>
                <a:spcPts val="0"/>
              </a:spcBef>
              <a:spcAft>
                <a:spcPts val="200"/>
              </a:spcAft>
              <a:defRPr sz="880" b="1">
                <a:solidFill>
                  <a:srgbClr val="FFFFFF"/>
                </a:solidFill>
                <a:latin typeface="Calibri"/>
              </a:defRPr>
            </a:pPr>
            <a:r>
              <a:t>EXPLORE</a:t>
            </a:r>
          </a:p>
        </p:txBody>
      </p:sp>
      <p:sp>
        <p:nvSpPr>
          <p:cNvPr id="8" name="Rounded Rectangle 7"/>
          <p:cNvSpPr/>
          <p:nvPr/>
        </p:nvSpPr>
        <p:spPr>
          <a:xfrm>
            <a:off x="10104120" y="210312"/>
            <a:ext cx="768096" cy="237744"/>
          </a:xfrm>
          <a:prstGeom prst="roundRect">
            <a:avLst>
              <a:gd name="adj" fmla="val 8000"/>
            </a:avLst>
          </a:prstGeom>
          <a:solidFill>
            <a:srgbClr val="D7E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104120" y="246888"/>
            <a:ext cx="768096" cy="128016"/>
          </a:xfrm>
          <a:prstGeom prst="rect">
            <a:avLst/>
          </a:prstGeom>
          <a:noFill/>
        </p:spPr>
        <p:txBody>
          <a:bodyPr wrap="square" lIns="0" tIns="0" rIns="0" bIns="0">
            <a:spAutoFit/>
          </a:bodyPr>
          <a:lstStyle/>
          <a:p>
            <a:pPr algn="ctr">
              <a:lnSpc>
                <a:spcPct val="104000"/>
              </a:lnSpc>
              <a:spcBef>
                <a:spcPts val="0"/>
              </a:spcBef>
              <a:spcAft>
                <a:spcPts val="200"/>
              </a:spcAft>
              <a:defRPr sz="880" b="1">
                <a:solidFill>
                  <a:srgbClr val="597080"/>
                </a:solidFill>
                <a:latin typeface="Calibri"/>
              </a:defRPr>
            </a:pPr>
            <a:r>
              <a:t>CHOOSE</a:t>
            </a:r>
          </a:p>
        </p:txBody>
      </p:sp>
      <p:sp>
        <p:nvSpPr>
          <p:cNvPr id="10" name="Rounded Rectangle 9"/>
          <p:cNvSpPr/>
          <p:nvPr/>
        </p:nvSpPr>
        <p:spPr>
          <a:xfrm>
            <a:off x="10927080" y="210312"/>
            <a:ext cx="768096" cy="237744"/>
          </a:xfrm>
          <a:prstGeom prst="roundRect">
            <a:avLst>
              <a:gd name="adj" fmla="val 8000"/>
            </a:avLst>
          </a:prstGeom>
          <a:solidFill>
            <a:srgbClr val="D7E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927080" y="246888"/>
            <a:ext cx="768096" cy="128016"/>
          </a:xfrm>
          <a:prstGeom prst="rect">
            <a:avLst/>
          </a:prstGeom>
          <a:noFill/>
        </p:spPr>
        <p:txBody>
          <a:bodyPr wrap="square" lIns="0" tIns="0" rIns="0" bIns="0">
            <a:spAutoFit/>
          </a:bodyPr>
          <a:lstStyle/>
          <a:p>
            <a:pPr algn="ctr">
              <a:lnSpc>
                <a:spcPct val="104000"/>
              </a:lnSpc>
              <a:spcBef>
                <a:spcPts val="0"/>
              </a:spcBef>
              <a:spcAft>
                <a:spcPts val="200"/>
              </a:spcAft>
              <a:defRPr sz="880" b="1">
                <a:solidFill>
                  <a:srgbClr val="597080"/>
                </a:solidFill>
                <a:latin typeface="Calibri"/>
              </a:defRPr>
            </a:pPr>
            <a:r>
              <a:t>TEST</a:t>
            </a:r>
          </a:p>
        </p:txBody>
      </p:sp>
      <p:sp>
        <p:nvSpPr>
          <p:cNvPr id="12" name="TextBox 11"/>
          <p:cNvSpPr txBox="1"/>
          <p:nvPr/>
        </p:nvSpPr>
        <p:spPr>
          <a:xfrm>
            <a:off x="457200" y="758952"/>
            <a:ext cx="585216" cy="438912"/>
          </a:xfrm>
          <a:prstGeom prst="rect">
            <a:avLst/>
          </a:prstGeom>
          <a:noFill/>
        </p:spPr>
        <p:txBody>
          <a:bodyPr wrap="square" lIns="0" tIns="0" rIns="0" bIns="0">
            <a:spAutoFit/>
          </a:bodyPr>
          <a:lstStyle/>
          <a:p>
            <a:pPr>
              <a:lnSpc>
                <a:spcPct val="104000"/>
              </a:lnSpc>
              <a:spcBef>
                <a:spcPts val="0"/>
              </a:spcBef>
              <a:spcAft>
                <a:spcPts val="200"/>
              </a:spcAft>
              <a:defRPr sz="2400" b="1">
                <a:solidFill>
                  <a:srgbClr val="006E75"/>
                </a:solidFill>
                <a:latin typeface="Calibri"/>
              </a:defRPr>
            </a:pPr>
            <a:r>
              <a:t>03</a:t>
            </a:r>
          </a:p>
        </p:txBody>
      </p:sp>
      <p:sp>
        <p:nvSpPr>
          <p:cNvPr id="13" name="TextBox 12"/>
          <p:cNvSpPr txBox="1"/>
          <p:nvPr/>
        </p:nvSpPr>
        <p:spPr>
          <a:xfrm>
            <a:off x="1143000" y="713232"/>
            <a:ext cx="10424160" cy="457200"/>
          </a:xfrm>
          <a:prstGeom prst="rect">
            <a:avLst/>
          </a:prstGeom>
          <a:noFill/>
        </p:spPr>
        <p:txBody>
          <a:bodyPr wrap="square" lIns="0" tIns="0" rIns="0" bIns="0">
            <a:spAutoFit/>
          </a:bodyPr>
          <a:lstStyle/>
          <a:p>
            <a:pPr>
              <a:lnSpc>
                <a:spcPct val="104000"/>
              </a:lnSpc>
              <a:spcBef>
                <a:spcPts val="0"/>
              </a:spcBef>
              <a:spcAft>
                <a:spcPts val="200"/>
              </a:spcAft>
              <a:defRPr sz="2700" b="1">
                <a:solidFill>
                  <a:srgbClr val="153347"/>
                </a:solidFill>
                <a:latin typeface="Calibri"/>
              </a:defRPr>
            </a:pPr>
            <a:r>
              <a:t>Compare what already exists</a:t>
            </a:r>
          </a:p>
        </p:txBody>
      </p:sp>
      <p:sp>
        <p:nvSpPr>
          <p:cNvPr id="14" name="TextBox 13"/>
          <p:cNvSpPr txBox="1"/>
          <p:nvPr/>
        </p:nvSpPr>
        <p:spPr>
          <a:xfrm>
            <a:off x="475488" y="1252728"/>
            <a:ext cx="11201400" cy="457200"/>
          </a:xfrm>
          <a:prstGeom prst="rect">
            <a:avLst/>
          </a:prstGeom>
          <a:noFill/>
        </p:spPr>
        <p:txBody>
          <a:bodyPr wrap="square" lIns="0" tIns="0" rIns="0" bIns="0">
            <a:spAutoFit/>
          </a:bodyPr>
          <a:lstStyle/>
          <a:p>
            <a:pPr>
              <a:lnSpc>
                <a:spcPct val="104000"/>
              </a:lnSpc>
              <a:spcBef>
                <a:spcPts val="0"/>
              </a:spcBef>
              <a:spcAft>
                <a:spcPts val="200"/>
              </a:spcAft>
              <a:defRPr sz="1550" b="0">
                <a:solidFill>
                  <a:srgbClr val="597080"/>
                </a:solidFill>
                <a:latin typeface="Calibri"/>
              </a:defRPr>
            </a:pPr>
            <a:r>
              <a:t>Acknowledge what works. A credible existing solution can be reused instead of reinvented.</a:t>
            </a:r>
          </a:p>
        </p:txBody>
      </p:sp>
      <p:sp>
        <p:nvSpPr>
          <p:cNvPr id="15" name="Rectangle 14"/>
          <p:cNvSpPr/>
          <p:nvPr/>
        </p:nvSpPr>
        <p:spPr>
          <a:xfrm>
            <a:off x="457200" y="6428232"/>
            <a:ext cx="11274552" cy="9144"/>
          </a:xfrm>
          <a:prstGeom prst="rect">
            <a:avLst/>
          </a:prstGeom>
          <a:solidFill>
            <a:srgbClr val="D7E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57200" y="6528816"/>
            <a:ext cx="7589520" cy="155448"/>
          </a:xfrm>
          <a:prstGeom prst="rect">
            <a:avLst/>
          </a:prstGeom>
          <a:noFill/>
        </p:spPr>
        <p:txBody>
          <a:bodyPr wrap="square" lIns="0" tIns="0" rIns="0" bIns="0">
            <a:spAutoFit/>
          </a:bodyPr>
          <a:lstStyle/>
          <a:p>
            <a:pPr>
              <a:lnSpc>
                <a:spcPct val="104000"/>
              </a:lnSpc>
              <a:spcBef>
                <a:spcPts val="0"/>
              </a:spcBef>
              <a:spcAft>
                <a:spcPts val="200"/>
              </a:spcAft>
              <a:defRPr sz="900" b="0">
                <a:solidFill>
                  <a:srgbClr val="597080"/>
                </a:solidFill>
                <a:latin typeface="Calibri"/>
              </a:defRPr>
            </a:pPr>
            <a:r>
              <a:t>TEAM TITANS • LABELGUARD • DRAFT FOR MENTOR REVIEW</a:t>
            </a:r>
          </a:p>
        </p:txBody>
      </p:sp>
      <p:sp>
        <p:nvSpPr>
          <p:cNvPr id="17" name="TextBox 16"/>
          <p:cNvSpPr txBox="1"/>
          <p:nvPr/>
        </p:nvSpPr>
        <p:spPr>
          <a:xfrm>
            <a:off x="8321040" y="6510528"/>
            <a:ext cx="2194560" cy="201168"/>
          </a:xfrm>
          <a:prstGeom prst="rect">
            <a:avLst/>
          </a:prstGeom>
          <a:noFill/>
        </p:spPr>
        <p:txBody>
          <a:bodyPr wrap="square" lIns="0" tIns="0" rIns="0" bIns="0">
            <a:spAutoFit/>
          </a:bodyPr>
          <a:lstStyle/>
          <a:p>
            <a:pPr algn="r">
              <a:lnSpc>
                <a:spcPct val="104000"/>
              </a:lnSpc>
              <a:spcBef>
                <a:spcPts val="0"/>
              </a:spcBef>
              <a:spcAft>
                <a:spcPts val="200"/>
              </a:spcAft>
              <a:defRPr sz="1000" b="1">
                <a:solidFill>
                  <a:srgbClr val="006E75"/>
                </a:solidFill>
                <a:latin typeface="Calibri"/>
              </a:defRPr>
            </a:pPr>
            <a:r>
              <a:t>P2 • 16 OCT 2026</a:t>
            </a:r>
          </a:p>
        </p:txBody>
      </p:sp>
      <p:sp>
        <p:nvSpPr>
          <p:cNvPr id="18" name="TextBox 17"/>
          <p:cNvSpPr txBox="1"/>
          <p:nvPr/>
        </p:nvSpPr>
        <p:spPr>
          <a:xfrm>
            <a:off x="10908792" y="6510528"/>
            <a:ext cx="786384" cy="201168"/>
          </a:xfrm>
          <a:prstGeom prst="rect">
            <a:avLst/>
          </a:prstGeom>
          <a:noFill/>
        </p:spPr>
        <p:txBody>
          <a:bodyPr wrap="square" lIns="0" tIns="0" rIns="0" bIns="0">
            <a:spAutoFit/>
          </a:bodyPr>
          <a:lstStyle/>
          <a:p>
            <a:pPr algn="r">
              <a:lnSpc>
                <a:spcPct val="104000"/>
              </a:lnSpc>
              <a:spcBef>
                <a:spcPts val="0"/>
              </a:spcBef>
              <a:spcAft>
                <a:spcPts val="200"/>
              </a:spcAft>
              <a:defRPr sz="1000" b="0">
                <a:solidFill>
                  <a:srgbClr val="597080"/>
                </a:solidFill>
                <a:latin typeface="Calibri"/>
              </a:defRPr>
            </a:pPr>
            <a:r>
              <a:t>3/11</a:t>
            </a:r>
          </a:p>
        </p:txBody>
      </p:sp>
      <p:graphicFrame>
        <p:nvGraphicFramePr>
          <p:cNvPr id="19" name="Table 18"/>
          <p:cNvGraphicFramePr>
            <a:graphicFrameLocks noGrp="1"/>
          </p:cNvGraphicFramePr>
          <p:nvPr/>
        </p:nvGraphicFramePr>
        <p:xfrm>
          <a:off x="457200" y="1828800"/>
          <a:ext cx="11274552" cy="3209544"/>
        </p:xfrm>
        <a:graphic>
          <a:graphicData uri="http://schemas.openxmlformats.org/drawingml/2006/table">
            <a:tbl>
              <a:tblPr firstRow="1" bandRow="1">
                <a:tableStyleId>{5C22544A-7EE6-4342-B048-85BDC9FD1C3A}</a:tableStyleId>
              </a:tblPr>
              <a:tblGrid>
                <a:gridCol w="457200">
                  <a:extLst>
                    <a:ext uri="{9D8B030D-6E8A-4147-A177-3AD203B41FA5}">
                      <a16:colId xmlns:a16="http://schemas.microsoft.com/office/drawing/2014/main" val="20000"/>
                    </a:ext>
                  </a:extLst>
                </a:gridCol>
                <a:gridCol w="214884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gridCol w="3621024">
                  <a:extLst>
                    <a:ext uri="{9D8B030D-6E8A-4147-A177-3AD203B41FA5}">
                      <a16:colId xmlns:a16="http://schemas.microsoft.com/office/drawing/2014/main" val="20003"/>
                    </a:ext>
                  </a:extLst>
                </a:gridCol>
                <a:gridCol w="2304288">
                  <a:extLst>
                    <a:ext uri="{9D8B030D-6E8A-4147-A177-3AD203B41FA5}">
                      <a16:colId xmlns:a16="http://schemas.microsoft.com/office/drawing/2014/main" val="20004"/>
                    </a:ext>
                  </a:extLst>
                </a:gridCol>
              </a:tblGrid>
              <a:tr h="411480">
                <a:tc>
                  <a:txBody>
                    <a:bodyPr/>
                    <a:lstStyle/>
                    <a:p>
                      <a:pPr>
                        <a:lnSpc>
                          <a:spcPct val="104000"/>
                        </a:lnSpc>
                        <a:spcAft>
                          <a:spcPts val="0"/>
                        </a:spcAft>
                        <a:defRPr sz="1300" b="1">
                          <a:solidFill>
                            <a:srgbClr val="FFFFFF"/>
                          </a:solidFill>
                          <a:latin typeface="Calibri"/>
                        </a:defRPr>
                      </a:pPr>
                      <a:r>
                        <a:t>ID</a:t>
                      </a:r>
                    </a:p>
                  </a:txBody>
                  <a:tcPr marL="109728" marR="109728" marT="64008" marB="64008" anchor="ctr">
                    <a:solidFill>
                      <a:srgbClr val="153347"/>
                    </a:solidFill>
                  </a:tcPr>
                </a:tc>
                <a:tc>
                  <a:txBody>
                    <a:bodyPr/>
                    <a:lstStyle/>
                    <a:p>
                      <a:pPr>
                        <a:lnSpc>
                          <a:spcPct val="104000"/>
                        </a:lnSpc>
                        <a:spcAft>
                          <a:spcPts val="0"/>
                        </a:spcAft>
                        <a:defRPr sz="1300" b="1">
                          <a:solidFill>
                            <a:srgbClr val="FFFFFF"/>
                          </a:solidFill>
                          <a:latin typeface="Calibri"/>
                        </a:defRPr>
                      </a:pPr>
                      <a:r>
                        <a:t>Existing alternative</a:t>
                      </a:r>
                    </a:p>
                  </a:txBody>
                  <a:tcPr marL="109728" marR="109728" marT="64008" marB="64008" anchor="ctr">
                    <a:solidFill>
                      <a:srgbClr val="153347"/>
                    </a:solidFill>
                  </a:tcPr>
                </a:tc>
                <a:tc>
                  <a:txBody>
                    <a:bodyPr/>
                    <a:lstStyle/>
                    <a:p>
                      <a:pPr>
                        <a:lnSpc>
                          <a:spcPct val="104000"/>
                        </a:lnSpc>
                        <a:spcAft>
                          <a:spcPts val="0"/>
                        </a:spcAft>
                        <a:defRPr sz="1300" b="1">
                          <a:solidFill>
                            <a:srgbClr val="FFFFFF"/>
                          </a:solidFill>
                          <a:latin typeface="Calibri"/>
                        </a:defRPr>
                      </a:pPr>
                      <a:r>
                        <a:t>What it does well</a:t>
                      </a:r>
                    </a:p>
                  </a:txBody>
                  <a:tcPr marL="109728" marR="109728" marT="64008" marB="64008" anchor="ctr">
                    <a:solidFill>
                      <a:srgbClr val="153347"/>
                    </a:solidFill>
                  </a:tcPr>
                </a:tc>
                <a:tc>
                  <a:txBody>
                    <a:bodyPr/>
                    <a:lstStyle/>
                    <a:p>
                      <a:pPr>
                        <a:lnSpc>
                          <a:spcPct val="104000"/>
                        </a:lnSpc>
                        <a:spcAft>
                          <a:spcPts val="0"/>
                        </a:spcAft>
                        <a:defRPr sz="1300" b="1">
                          <a:solidFill>
                            <a:srgbClr val="FFFFFF"/>
                          </a:solidFill>
                          <a:latin typeface="Calibri"/>
                        </a:defRPr>
                      </a:pPr>
                      <a:r>
                        <a:t>Gap in this context</a:t>
                      </a:r>
                    </a:p>
                  </a:txBody>
                  <a:tcPr marL="109728" marR="109728" marT="64008" marB="64008" anchor="ctr">
                    <a:solidFill>
                      <a:srgbClr val="153347"/>
                    </a:solidFill>
                  </a:tcPr>
                </a:tc>
                <a:tc>
                  <a:txBody>
                    <a:bodyPr/>
                    <a:lstStyle/>
                    <a:p>
                      <a:pPr>
                        <a:lnSpc>
                          <a:spcPct val="104000"/>
                        </a:lnSpc>
                        <a:spcAft>
                          <a:spcPts val="0"/>
                        </a:spcAft>
                        <a:defRPr sz="1300" b="1">
                          <a:solidFill>
                            <a:srgbClr val="FFFFFF"/>
                          </a:solidFill>
                          <a:latin typeface="Calibri"/>
                        </a:defRPr>
                      </a:pPr>
                      <a:r>
                        <a:t>Evidence / source</a:t>
                      </a:r>
                    </a:p>
                  </a:txBody>
                  <a:tcPr marL="109728" marR="109728" marT="64008" marB="64008" anchor="ctr">
                    <a:solidFill>
                      <a:srgbClr val="153347"/>
                    </a:solidFill>
                  </a:tcPr>
                </a:tc>
                <a:extLst>
                  <a:ext uri="{0D108BD9-81ED-4DB2-BD59-A6C34878D82A}">
                    <a16:rowId xmlns:a16="http://schemas.microsoft.com/office/drawing/2014/main" val="10000"/>
                  </a:ext>
                </a:extLst>
              </a:tr>
              <a:tr h="932688">
                <a:tc>
                  <a:txBody>
                    <a:bodyPr/>
                    <a:lstStyle/>
                    <a:p>
                      <a:pPr>
                        <a:lnSpc>
                          <a:spcPct val="104000"/>
                        </a:lnSpc>
                        <a:spcAft>
                          <a:spcPts val="0"/>
                        </a:spcAft>
                        <a:defRPr sz="1600" b="0">
                          <a:solidFill>
                            <a:srgbClr val="243A49"/>
                          </a:solidFill>
                          <a:latin typeface="Calibri"/>
                        </a:defRPr>
                      </a:pPr>
                      <a:r>
                        <a:t>A0</a:t>
                      </a:r>
                    </a:p>
                  </a:txBody>
                  <a:tcPr marL="109728" marR="109728" marT="64008" marB="64008" anchor="ctr">
                    <a:solidFill>
                      <a:srgbClr val="FFFFFF"/>
                    </a:solidFill>
                  </a:tcPr>
                </a:tc>
                <a:tc>
                  <a:txBody>
                    <a:bodyPr/>
                    <a:lstStyle/>
                    <a:p>
                      <a:pPr>
                        <a:lnSpc>
                          <a:spcPct val="104000"/>
                        </a:lnSpc>
                        <a:spcAft>
                          <a:spcPts val="0"/>
                        </a:spcAft>
                        <a:defRPr sz="1600" b="0">
                          <a:solidFill>
                            <a:srgbClr val="243A49"/>
                          </a:solidFill>
                          <a:latin typeface="Calibri"/>
                        </a:defRPr>
                      </a:pPr>
                      <a:r>
                        <a:t>Current workaround</a:t>
                      </a:r>
                    </a:p>
                  </a:txBody>
                  <a:tcPr marL="109728" marR="109728" marT="64008" marB="64008" anchor="ctr">
                    <a:solidFill>
                      <a:srgbClr val="FFFFFF"/>
                    </a:solidFill>
                  </a:tcPr>
                </a:tc>
                <a:tc>
                  <a:txBody>
                    <a:bodyPr/>
                    <a:lstStyle/>
                    <a:p>
                      <a:pPr>
                        <a:lnSpc>
                          <a:spcPct val="104000"/>
                        </a:lnSpc>
                        <a:spcAft>
                          <a:spcPts val="0"/>
                        </a:spcAft>
                        <a:defRPr sz="1600" b="0">
                          <a:solidFill>
                            <a:srgbClr val="243A49"/>
                          </a:solidFill>
                          <a:latin typeface="Calibri"/>
                        </a:defRPr>
                      </a:pPr>
                      <a:r>
                        <a:t>Familiar to trained officers; works on site; scale check of net quantity</a:t>
                      </a:r>
                    </a:p>
                  </a:txBody>
                  <a:tcPr marL="109728" marR="109728" marT="64008" marB="64008" anchor="ctr">
                    <a:solidFill>
                      <a:srgbClr val="FFFFFF"/>
                    </a:solidFill>
                  </a:tcPr>
                </a:tc>
                <a:tc>
                  <a:txBody>
                    <a:bodyPr/>
                    <a:lstStyle/>
                    <a:p>
                      <a:pPr>
                        <a:lnSpc>
                          <a:spcPct val="104000"/>
                        </a:lnSpc>
                        <a:spcAft>
                          <a:spcPts val="0"/>
                        </a:spcAft>
                        <a:defRPr sz="1600" b="0">
                          <a:solidFill>
                            <a:srgbClr val="243A49"/>
                          </a:solidFill>
                          <a:latin typeface="Calibri"/>
                        </a:defRPr>
                      </a:pPr>
                      <a:r>
                        <a:t>Slow; items missed; no shared record; hard on curved or multi-language labels (reported)</a:t>
                      </a:r>
                    </a:p>
                  </a:txBody>
                  <a:tcPr marL="109728" marR="109728" marT="64008" marB="64008" anchor="ctr">
                    <a:solidFill>
                      <a:srgbClr val="FFFFFF"/>
                    </a:solidFill>
                  </a:tcPr>
                </a:tc>
                <a:tc>
                  <a:txBody>
                    <a:bodyPr/>
                    <a:lstStyle/>
                    <a:p>
                      <a:pPr>
                        <a:lnSpc>
                          <a:spcPct val="104000"/>
                        </a:lnSpc>
                        <a:spcAft>
                          <a:spcPts val="0"/>
                        </a:spcAft>
                        <a:defRPr sz="1600" b="0">
                          <a:solidFill>
                            <a:srgbClr val="243A49"/>
                          </a:solidFill>
                          <a:latin typeface="Calibri"/>
                        </a:defRPr>
                      </a:pPr>
                      <a:r>
                        <a:t>P1 E01 (simulated)</a:t>
                      </a:r>
                    </a:p>
                  </a:txBody>
                  <a:tcPr marL="109728" marR="109728" marT="64008" marB="64008" anchor="ctr">
                    <a:solidFill>
                      <a:srgbClr val="FFFFFF"/>
                    </a:solidFill>
                  </a:tcPr>
                </a:tc>
                <a:extLst>
                  <a:ext uri="{0D108BD9-81ED-4DB2-BD59-A6C34878D82A}">
                    <a16:rowId xmlns:a16="http://schemas.microsoft.com/office/drawing/2014/main" val="10001"/>
                  </a:ext>
                </a:extLst>
              </a:tr>
              <a:tr h="932688">
                <a:tc>
                  <a:txBody>
                    <a:bodyPr/>
                    <a:lstStyle/>
                    <a:p>
                      <a:pPr>
                        <a:lnSpc>
                          <a:spcPct val="104000"/>
                        </a:lnSpc>
                        <a:spcAft>
                          <a:spcPts val="0"/>
                        </a:spcAft>
                        <a:defRPr sz="1600" b="0">
                          <a:solidFill>
                            <a:srgbClr val="243A49"/>
                          </a:solidFill>
                          <a:latin typeface="Calibri"/>
                        </a:defRPr>
                      </a:pPr>
                      <a:r>
                        <a:t>A1</a:t>
                      </a:r>
                    </a:p>
                  </a:txBody>
                  <a:tcPr marL="109728" marR="109728" marT="64008" marB="64008" anchor="ctr">
                    <a:solidFill>
                      <a:srgbClr val="E7F3F1"/>
                    </a:solidFill>
                  </a:tcPr>
                </a:tc>
                <a:tc>
                  <a:txBody>
                    <a:bodyPr/>
                    <a:lstStyle/>
                    <a:p>
                      <a:pPr>
                        <a:lnSpc>
                          <a:spcPct val="104000"/>
                        </a:lnSpc>
                        <a:spcAft>
                          <a:spcPts val="0"/>
                        </a:spcAft>
                        <a:defRPr sz="1600" b="0">
                          <a:solidFill>
                            <a:srgbClr val="243A49"/>
                          </a:solidFill>
                          <a:latin typeface="Calibri"/>
                        </a:defRPr>
                      </a:pPr>
                      <a:r>
                        <a:t>Existing product / service</a:t>
                      </a:r>
                    </a:p>
                  </a:txBody>
                  <a:tcPr marL="109728" marR="109728" marT="64008" marB="64008" anchor="ctr">
                    <a:solidFill>
                      <a:srgbClr val="E7F3F1"/>
                    </a:solidFill>
                  </a:tcPr>
                </a:tc>
                <a:tc>
                  <a:txBody>
                    <a:bodyPr/>
                    <a:lstStyle/>
                    <a:p>
                      <a:pPr>
                        <a:lnSpc>
                          <a:spcPct val="104000"/>
                        </a:lnSpc>
                        <a:spcAft>
                          <a:spcPts val="0"/>
                        </a:spcAft>
                        <a:defRPr sz="1600" b="0">
                          <a:solidFill>
                            <a:srgbClr val="243A49"/>
                          </a:solidFill>
                          <a:latin typeface="Calibri"/>
                        </a:defRPr>
                      </a:pPr>
                      <a:r>
                        <a:t>Existing OCR tools (open-source, cloud APIs) read text in many languages</a:t>
                      </a:r>
                    </a:p>
                  </a:txBody>
                  <a:tcPr marL="109728" marR="109728" marT="64008" marB="64008" anchor="ctr">
                    <a:solidFill>
                      <a:srgbClr val="E7F3F1"/>
                    </a:solidFill>
                  </a:tcPr>
                </a:tc>
                <a:tc>
                  <a:txBody>
                    <a:bodyPr/>
                    <a:lstStyle/>
                    <a:p>
                      <a:pPr>
                        <a:lnSpc>
                          <a:spcPct val="104000"/>
                        </a:lnSpc>
                        <a:spcAft>
                          <a:spcPts val="0"/>
                        </a:spcAft>
                        <a:defRPr sz="1600" b="0">
                          <a:solidFill>
                            <a:srgbClr val="243A49"/>
                          </a:solidFill>
                          <a:latin typeface="Calibri"/>
                        </a:defRPr>
                      </a:pPr>
                      <a:r>
                        <a:t>Not tuned to Legal Metrology rules; accuracy on curved or stickered packs unverified locally</a:t>
                      </a:r>
                    </a:p>
                  </a:txBody>
                  <a:tcPr marL="109728" marR="109728" marT="64008" marB="64008" anchor="ctr">
                    <a:solidFill>
                      <a:srgbClr val="E7F3F1"/>
                    </a:solidFill>
                  </a:tcPr>
                </a:tc>
                <a:tc>
                  <a:txBody>
                    <a:bodyPr/>
                    <a:lstStyle/>
                    <a:p>
                      <a:pPr>
                        <a:lnSpc>
                          <a:spcPct val="104000"/>
                        </a:lnSpc>
                        <a:spcAft>
                          <a:spcPts val="0"/>
                        </a:spcAft>
                        <a:defRPr sz="1600" b="0">
                          <a:solidFill>
                            <a:srgbClr val="243A49"/>
                          </a:solidFill>
                          <a:latin typeface="Calibri"/>
                        </a:defRPr>
                      </a:pPr>
                      <a:r>
                        <a:t>Vendor docs; capability only; date in register</a:t>
                      </a:r>
                    </a:p>
                  </a:txBody>
                  <a:tcPr marL="109728" marR="109728" marT="64008" marB="64008" anchor="ctr">
                    <a:solidFill>
                      <a:srgbClr val="E7F3F1"/>
                    </a:solidFill>
                  </a:tcPr>
                </a:tc>
                <a:extLst>
                  <a:ext uri="{0D108BD9-81ED-4DB2-BD59-A6C34878D82A}">
                    <a16:rowId xmlns:a16="http://schemas.microsoft.com/office/drawing/2014/main" val="10002"/>
                  </a:ext>
                </a:extLst>
              </a:tr>
              <a:tr h="932688">
                <a:tc>
                  <a:txBody>
                    <a:bodyPr/>
                    <a:lstStyle/>
                    <a:p>
                      <a:pPr>
                        <a:lnSpc>
                          <a:spcPct val="104000"/>
                        </a:lnSpc>
                        <a:spcAft>
                          <a:spcPts val="0"/>
                        </a:spcAft>
                        <a:defRPr sz="1600" b="0">
                          <a:solidFill>
                            <a:srgbClr val="243A49"/>
                          </a:solidFill>
                          <a:latin typeface="Calibri"/>
                        </a:defRPr>
                      </a:pPr>
                      <a:r>
                        <a:t>A2</a:t>
                      </a:r>
                    </a:p>
                  </a:txBody>
                  <a:tcPr marL="109728" marR="109728" marT="64008" marB="64008" anchor="ctr">
                    <a:solidFill>
                      <a:srgbClr val="FFFFFF"/>
                    </a:solidFill>
                  </a:tcPr>
                </a:tc>
                <a:tc>
                  <a:txBody>
                    <a:bodyPr/>
                    <a:lstStyle/>
                    <a:p>
                      <a:pPr>
                        <a:lnSpc>
                          <a:spcPct val="104000"/>
                        </a:lnSpc>
                        <a:spcAft>
                          <a:spcPts val="0"/>
                        </a:spcAft>
                        <a:defRPr sz="1600" b="0">
                          <a:solidFill>
                            <a:srgbClr val="243A49"/>
                          </a:solidFill>
                          <a:latin typeface="Calibri"/>
                        </a:defRPr>
                      </a:pPr>
                      <a:r>
                        <a:t>Another credible approach</a:t>
                      </a:r>
                    </a:p>
                  </a:txBody>
                  <a:tcPr marL="109728" marR="109728" marT="64008" marB="64008" anchor="ctr">
                    <a:solidFill>
                      <a:srgbClr val="FFFFFF"/>
                    </a:solidFill>
                  </a:tcPr>
                </a:tc>
                <a:tc>
                  <a:txBody>
                    <a:bodyPr/>
                    <a:lstStyle/>
                    <a:p>
                      <a:pPr>
                        <a:lnSpc>
                          <a:spcPct val="104000"/>
                        </a:lnSpc>
                        <a:spcAft>
                          <a:spcPts val="0"/>
                        </a:spcAft>
                        <a:defRPr sz="1600" b="0">
                          <a:solidFill>
                            <a:srgbClr val="243A49"/>
                          </a:solidFill>
                          <a:latin typeface="Calibri"/>
                        </a:defRPr>
                      </a:pPr>
                      <a:r>
                        <a:t>Printed pack-size checklist + training: cheap, offline, no IT approval</a:t>
                      </a:r>
                    </a:p>
                  </a:txBody>
                  <a:tcPr marL="109728" marR="109728" marT="64008" marB="64008" anchor="ctr">
                    <a:solidFill>
                      <a:srgbClr val="FFFFFF"/>
                    </a:solidFill>
                  </a:tcPr>
                </a:tc>
                <a:tc>
                  <a:txBody>
                    <a:bodyPr/>
                    <a:lstStyle/>
                    <a:p>
                      <a:pPr>
                        <a:lnSpc>
                          <a:spcPct val="104000"/>
                        </a:lnSpc>
                        <a:spcAft>
                          <a:spcPts val="0"/>
                        </a:spcAft>
                        <a:defRPr sz="1600" b="0">
                          <a:solidFill>
                            <a:srgbClr val="243A49"/>
                          </a:solidFill>
                          <a:latin typeface="Calibri"/>
                        </a:defRPr>
                      </a:pPr>
                      <a:r>
                        <a:t>Still manual reading; no photo evidence or report draft; misses may remain</a:t>
                      </a:r>
                    </a:p>
                  </a:txBody>
                  <a:tcPr marL="109728" marR="109728" marT="64008" marB="64008" anchor="ctr">
                    <a:solidFill>
                      <a:srgbClr val="FFFFFF"/>
                    </a:solidFill>
                  </a:tcPr>
                </a:tc>
                <a:tc>
                  <a:txBody>
                    <a:bodyPr/>
                    <a:lstStyle/>
                    <a:p>
                      <a:pPr>
                        <a:lnSpc>
                          <a:spcPct val="104000"/>
                        </a:lnSpc>
                        <a:spcAft>
                          <a:spcPts val="0"/>
                        </a:spcAft>
                        <a:defRPr sz="1600" b="0">
                          <a:solidFill>
                            <a:srgbClr val="243A49"/>
                          </a:solidFill>
                          <a:latin typeface="Calibri"/>
                        </a:defRPr>
                      </a:pPr>
                      <a:r>
                        <a:t>To check with inspectors; not yet evidenced</a:t>
                      </a:r>
                    </a:p>
                  </a:txBody>
                  <a:tcPr marL="109728" marR="109728" marT="64008" marB="64008" anchor="ctr">
                    <a:solidFill>
                      <a:srgbClr val="FFFFFF"/>
                    </a:solidFill>
                  </a:tcPr>
                </a:tc>
                <a:extLst>
                  <a:ext uri="{0D108BD9-81ED-4DB2-BD59-A6C34878D82A}">
                    <a16:rowId xmlns:a16="http://schemas.microsoft.com/office/drawing/2014/main" val="10003"/>
                  </a:ext>
                </a:extLst>
              </a:tr>
            </a:tbl>
          </a:graphicData>
        </a:graphic>
      </p:graphicFrame>
      <p:sp>
        <p:nvSpPr>
          <p:cNvPr id="20" name="Rounded Rectangle 19"/>
          <p:cNvSpPr/>
          <p:nvPr/>
        </p:nvSpPr>
        <p:spPr>
          <a:xfrm>
            <a:off x="457200" y="5321808"/>
            <a:ext cx="11274552" cy="859536"/>
          </a:xfrm>
          <a:prstGeom prst="roundRect">
            <a:avLst>
              <a:gd name="adj" fmla="val 8000"/>
            </a:avLst>
          </a:prstGeom>
          <a:solidFill>
            <a:srgbClr val="E7F3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03504" y="5413248"/>
            <a:ext cx="10981944" cy="676656"/>
          </a:xfrm>
          <a:prstGeom prst="rect">
            <a:avLst/>
          </a:prstGeom>
          <a:noFill/>
        </p:spPr>
        <p:txBody>
          <a:bodyPr wrap="square" lIns="0" tIns="0" rIns="0" bIns="0">
            <a:spAutoFit/>
          </a:bodyPr>
          <a:lstStyle/>
          <a:p>
            <a:pPr>
              <a:lnSpc>
                <a:spcPct val="104000"/>
              </a:lnSpc>
              <a:spcBef>
                <a:spcPts val="0"/>
              </a:spcBef>
              <a:spcAft>
                <a:spcPts val="200"/>
              </a:spcAft>
              <a:defRPr sz="2000" b="1">
                <a:solidFill>
                  <a:srgbClr val="243A49"/>
                </a:solidFill>
                <a:latin typeface="Calibri"/>
              </a:defRPr>
            </a:pPr>
            <a:r>
              <a:t>Reuse existing OCR as a component. Build only rule checks, uncertainty flags and report draft, and only if a checklist (A2) cannot meet the need.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8FA"/>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91440"/>
          </a:xfrm>
          <a:prstGeom prst="rect">
            <a:avLst/>
          </a:prstGeom>
          <a:solidFill>
            <a:srgbClr val="006E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19456"/>
            <a:ext cx="7315200" cy="228600"/>
          </a:xfrm>
          <a:prstGeom prst="rect">
            <a:avLst/>
          </a:prstGeom>
          <a:noFill/>
        </p:spPr>
        <p:txBody>
          <a:bodyPr wrap="square" lIns="0" tIns="0" rIns="0" bIns="0">
            <a:spAutoFit/>
          </a:bodyPr>
          <a:lstStyle/>
          <a:p>
            <a:pPr>
              <a:lnSpc>
                <a:spcPct val="104000"/>
              </a:lnSpc>
              <a:spcBef>
                <a:spcPts val="0"/>
              </a:spcBef>
              <a:spcAft>
                <a:spcPts val="200"/>
              </a:spcAft>
              <a:defRPr sz="1150" b="1">
                <a:solidFill>
                  <a:srgbClr val="006E75"/>
                </a:solidFill>
                <a:latin typeface="Calibri"/>
              </a:defRPr>
            </a:pPr>
            <a:r>
              <a:t>SCHOOL OF INNOVATION  |  KGISL INSTITUTE OF TECHNOLOGY</a:t>
            </a:r>
          </a:p>
        </p:txBody>
      </p:sp>
      <p:sp>
        <p:nvSpPr>
          <p:cNvPr id="4" name="Rounded Rectangle 3"/>
          <p:cNvSpPr/>
          <p:nvPr/>
        </p:nvSpPr>
        <p:spPr>
          <a:xfrm>
            <a:off x="8458200" y="210312"/>
            <a:ext cx="768096" cy="237744"/>
          </a:xfrm>
          <a:prstGeom prst="roundRect">
            <a:avLst>
              <a:gd name="adj" fmla="val 8000"/>
            </a:avLst>
          </a:prstGeom>
          <a:solidFill>
            <a:srgbClr val="D7E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458200" y="246888"/>
            <a:ext cx="768096" cy="128016"/>
          </a:xfrm>
          <a:prstGeom prst="rect">
            <a:avLst/>
          </a:prstGeom>
          <a:noFill/>
        </p:spPr>
        <p:txBody>
          <a:bodyPr wrap="square" lIns="0" tIns="0" rIns="0" bIns="0">
            <a:spAutoFit/>
          </a:bodyPr>
          <a:lstStyle/>
          <a:p>
            <a:pPr algn="ctr">
              <a:lnSpc>
                <a:spcPct val="104000"/>
              </a:lnSpc>
              <a:spcBef>
                <a:spcPts val="0"/>
              </a:spcBef>
              <a:spcAft>
                <a:spcPts val="200"/>
              </a:spcAft>
              <a:defRPr sz="880" b="1">
                <a:solidFill>
                  <a:srgbClr val="597080"/>
                </a:solidFill>
                <a:latin typeface="Calibri"/>
              </a:defRPr>
            </a:pPr>
            <a:r>
              <a:t>FRAME</a:t>
            </a:r>
          </a:p>
        </p:txBody>
      </p:sp>
      <p:sp>
        <p:nvSpPr>
          <p:cNvPr id="6" name="Rounded Rectangle 5"/>
          <p:cNvSpPr/>
          <p:nvPr/>
        </p:nvSpPr>
        <p:spPr>
          <a:xfrm>
            <a:off x="9281160" y="210312"/>
            <a:ext cx="768096" cy="237744"/>
          </a:xfrm>
          <a:prstGeom prst="roundRect">
            <a:avLst>
              <a:gd name="adj" fmla="val 8000"/>
            </a:avLst>
          </a:prstGeom>
          <a:solidFill>
            <a:srgbClr val="006E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281160" y="246888"/>
            <a:ext cx="768096" cy="128016"/>
          </a:xfrm>
          <a:prstGeom prst="rect">
            <a:avLst/>
          </a:prstGeom>
          <a:noFill/>
        </p:spPr>
        <p:txBody>
          <a:bodyPr wrap="square" lIns="0" tIns="0" rIns="0" bIns="0">
            <a:spAutoFit/>
          </a:bodyPr>
          <a:lstStyle/>
          <a:p>
            <a:pPr algn="ctr">
              <a:lnSpc>
                <a:spcPct val="104000"/>
              </a:lnSpc>
              <a:spcBef>
                <a:spcPts val="0"/>
              </a:spcBef>
              <a:spcAft>
                <a:spcPts val="200"/>
              </a:spcAft>
              <a:defRPr sz="880" b="1">
                <a:solidFill>
                  <a:srgbClr val="FFFFFF"/>
                </a:solidFill>
                <a:latin typeface="Calibri"/>
              </a:defRPr>
            </a:pPr>
            <a:r>
              <a:t>EXPLORE</a:t>
            </a:r>
          </a:p>
        </p:txBody>
      </p:sp>
      <p:sp>
        <p:nvSpPr>
          <p:cNvPr id="8" name="Rounded Rectangle 7"/>
          <p:cNvSpPr/>
          <p:nvPr/>
        </p:nvSpPr>
        <p:spPr>
          <a:xfrm>
            <a:off x="10104120" y="210312"/>
            <a:ext cx="768096" cy="237744"/>
          </a:xfrm>
          <a:prstGeom prst="roundRect">
            <a:avLst>
              <a:gd name="adj" fmla="val 8000"/>
            </a:avLst>
          </a:prstGeom>
          <a:solidFill>
            <a:srgbClr val="D7E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104120" y="246888"/>
            <a:ext cx="768096" cy="128016"/>
          </a:xfrm>
          <a:prstGeom prst="rect">
            <a:avLst/>
          </a:prstGeom>
          <a:noFill/>
        </p:spPr>
        <p:txBody>
          <a:bodyPr wrap="square" lIns="0" tIns="0" rIns="0" bIns="0">
            <a:spAutoFit/>
          </a:bodyPr>
          <a:lstStyle/>
          <a:p>
            <a:pPr algn="ctr">
              <a:lnSpc>
                <a:spcPct val="104000"/>
              </a:lnSpc>
              <a:spcBef>
                <a:spcPts val="0"/>
              </a:spcBef>
              <a:spcAft>
                <a:spcPts val="200"/>
              </a:spcAft>
              <a:defRPr sz="880" b="1">
                <a:solidFill>
                  <a:srgbClr val="597080"/>
                </a:solidFill>
                <a:latin typeface="Calibri"/>
              </a:defRPr>
            </a:pPr>
            <a:r>
              <a:t>CHOOSE</a:t>
            </a:r>
          </a:p>
        </p:txBody>
      </p:sp>
      <p:sp>
        <p:nvSpPr>
          <p:cNvPr id="10" name="Rounded Rectangle 9"/>
          <p:cNvSpPr/>
          <p:nvPr/>
        </p:nvSpPr>
        <p:spPr>
          <a:xfrm>
            <a:off x="10927080" y="210312"/>
            <a:ext cx="768096" cy="237744"/>
          </a:xfrm>
          <a:prstGeom prst="roundRect">
            <a:avLst>
              <a:gd name="adj" fmla="val 8000"/>
            </a:avLst>
          </a:prstGeom>
          <a:solidFill>
            <a:srgbClr val="D7E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927080" y="246888"/>
            <a:ext cx="768096" cy="128016"/>
          </a:xfrm>
          <a:prstGeom prst="rect">
            <a:avLst/>
          </a:prstGeom>
          <a:noFill/>
        </p:spPr>
        <p:txBody>
          <a:bodyPr wrap="square" lIns="0" tIns="0" rIns="0" bIns="0">
            <a:spAutoFit/>
          </a:bodyPr>
          <a:lstStyle/>
          <a:p>
            <a:pPr algn="ctr">
              <a:lnSpc>
                <a:spcPct val="104000"/>
              </a:lnSpc>
              <a:spcBef>
                <a:spcPts val="0"/>
              </a:spcBef>
              <a:spcAft>
                <a:spcPts val="200"/>
              </a:spcAft>
              <a:defRPr sz="880" b="1">
                <a:solidFill>
                  <a:srgbClr val="597080"/>
                </a:solidFill>
                <a:latin typeface="Calibri"/>
              </a:defRPr>
            </a:pPr>
            <a:r>
              <a:t>TEST</a:t>
            </a:r>
          </a:p>
        </p:txBody>
      </p:sp>
      <p:sp>
        <p:nvSpPr>
          <p:cNvPr id="12" name="TextBox 11"/>
          <p:cNvSpPr txBox="1"/>
          <p:nvPr/>
        </p:nvSpPr>
        <p:spPr>
          <a:xfrm>
            <a:off x="457200" y="758952"/>
            <a:ext cx="585216" cy="438912"/>
          </a:xfrm>
          <a:prstGeom prst="rect">
            <a:avLst/>
          </a:prstGeom>
          <a:noFill/>
        </p:spPr>
        <p:txBody>
          <a:bodyPr wrap="square" lIns="0" tIns="0" rIns="0" bIns="0">
            <a:spAutoFit/>
          </a:bodyPr>
          <a:lstStyle/>
          <a:p>
            <a:pPr>
              <a:lnSpc>
                <a:spcPct val="104000"/>
              </a:lnSpc>
              <a:spcBef>
                <a:spcPts val="0"/>
              </a:spcBef>
              <a:spcAft>
                <a:spcPts val="200"/>
              </a:spcAft>
              <a:defRPr sz="2400" b="1">
                <a:solidFill>
                  <a:srgbClr val="006E75"/>
                </a:solidFill>
                <a:latin typeface="Calibri"/>
              </a:defRPr>
            </a:pPr>
            <a:r>
              <a:t>04</a:t>
            </a:r>
          </a:p>
        </p:txBody>
      </p:sp>
      <p:sp>
        <p:nvSpPr>
          <p:cNvPr id="13" name="TextBox 12"/>
          <p:cNvSpPr txBox="1"/>
          <p:nvPr/>
        </p:nvSpPr>
        <p:spPr>
          <a:xfrm>
            <a:off x="1143000" y="713232"/>
            <a:ext cx="10424160" cy="457200"/>
          </a:xfrm>
          <a:prstGeom prst="rect">
            <a:avLst/>
          </a:prstGeom>
          <a:noFill/>
        </p:spPr>
        <p:txBody>
          <a:bodyPr wrap="square" lIns="0" tIns="0" rIns="0" bIns="0">
            <a:spAutoFit/>
          </a:bodyPr>
          <a:lstStyle/>
          <a:p>
            <a:pPr>
              <a:lnSpc>
                <a:spcPct val="104000"/>
              </a:lnSpc>
              <a:spcBef>
                <a:spcPts val="0"/>
              </a:spcBef>
              <a:spcAft>
                <a:spcPts val="200"/>
              </a:spcAft>
              <a:defRPr sz="2700" b="1">
                <a:solidFill>
                  <a:srgbClr val="153347"/>
                </a:solidFill>
                <a:latin typeface="Calibri"/>
              </a:defRPr>
            </a:pPr>
            <a:r>
              <a:t>Show how you generated new ideas</a:t>
            </a:r>
          </a:p>
        </p:txBody>
      </p:sp>
      <p:sp>
        <p:nvSpPr>
          <p:cNvPr id="14" name="TextBox 13"/>
          <p:cNvSpPr txBox="1"/>
          <p:nvPr/>
        </p:nvSpPr>
        <p:spPr>
          <a:xfrm>
            <a:off x="475488" y="1252728"/>
            <a:ext cx="11201400" cy="457200"/>
          </a:xfrm>
          <a:prstGeom prst="rect">
            <a:avLst/>
          </a:prstGeom>
          <a:noFill/>
        </p:spPr>
        <p:txBody>
          <a:bodyPr wrap="square" lIns="0" tIns="0" rIns="0" bIns="0">
            <a:spAutoFit/>
          </a:bodyPr>
          <a:lstStyle/>
          <a:p>
            <a:pPr>
              <a:lnSpc>
                <a:spcPct val="104000"/>
              </a:lnSpc>
              <a:spcBef>
                <a:spcPts val="0"/>
              </a:spcBef>
              <a:spcAft>
                <a:spcPts val="200"/>
              </a:spcAft>
              <a:defRPr sz="1550" b="0">
                <a:solidFill>
                  <a:srgbClr val="597080"/>
                </a:solidFill>
                <a:latin typeface="Calibri"/>
              </a:defRPr>
            </a:pPr>
            <a:r>
              <a:t>Diverge before judging: preserve the raw ideas, then build three distinct concepts.</a:t>
            </a:r>
          </a:p>
        </p:txBody>
      </p:sp>
      <p:sp>
        <p:nvSpPr>
          <p:cNvPr id="15" name="Rectangle 14"/>
          <p:cNvSpPr/>
          <p:nvPr/>
        </p:nvSpPr>
        <p:spPr>
          <a:xfrm>
            <a:off x="457200" y="6428232"/>
            <a:ext cx="11274552" cy="9144"/>
          </a:xfrm>
          <a:prstGeom prst="rect">
            <a:avLst/>
          </a:prstGeom>
          <a:solidFill>
            <a:srgbClr val="D7E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57200" y="6528816"/>
            <a:ext cx="7589520" cy="155448"/>
          </a:xfrm>
          <a:prstGeom prst="rect">
            <a:avLst/>
          </a:prstGeom>
          <a:noFill/>
        </p:spPr>
        <p:txBody>
          <a:bodyPr wrap="square" lIns="0" tIns="0" rIns="0" bIns="0">
            <a:spAutoFit/>
          </a:bodyPr>
          <a:lstStyle/>
          <a:p>
            <a:pPr>
              <a:lnSpc>
                <a:spcPct val="104000"/>
              </a:lnSpc>
              <a:spcBef>
                <a:spcPts val="0"/>
              </a:spcBef>
              <a:spcAft>
                <a:spcPts val="200"/>
              </a:spcAft>
              <a:defRPr sz="900" b="0">
                <a:solidFill>
                  <a:srgbClr val="597080"/>
                </a:solidFill>
                <a:latin typeface="Calibri"/>
              </a:defRPr>
            </a:pPr>
            <a:r>
              <a:t>TEAM TITANS • LABELGUARD • DRAFT FOR MENTOR REVIEW</a:t>
            </a:r>
          </a:p>
        </p:txBody>
      </p:sp>
      <p:sp>
        <p:nvSpPr>
          <p:cNvPr id="17" name="TextBox 16"/>
          <p:cNvSpPr txBox="1"/>
          <p:nvPr/>
        </p:nvSpPr>
        <p:spPr>
          <a:xfrm>
            <a:off x="8321040" y="6510528"/>
            <a:ext cx="2194560" cy="201168"/>
          </a:xfrm>
          <a:prstGeom prst="rect">
            <a:avLst/>
          </a:prstGeom>
          <a:noFill/>
        </p:spPr>
        <p:txBody>
          <a:bodyPr wrap="square" lIns="0" tIns="0" rIns="0" bIns="0">
            <a:spAutoFit/>
          </a:bodyPr>
          <a:lstStyle/>
          <a:p>
            <a:pPr algn="r">
              <a:lnSpc>
                <a:spcPct val="104000"/>
              </a:lnSpc>
              <a:spcBef>
                <a:spcPts val="0"/>
              </a:spcBef>
              <a:spcAft>
                <a:spcPts val="200"/>
              </a:spcAft>
              <a:defRPr sz="1000" b="1">
                <a:solidFill>
                  <a:srgbClr val="006E75"/>
                </a:solidFill>
                <a:latin typeface="Calibri"/>
              </a:defRPr>
            </a:pPr>
            <a:r>
              <a:t>P2 • 16 OCT 2026</a:t>
            </a:r>
          </a:p>
        </p:txBody>
      </p:sp>
      <p:sp>
        <p:nvSpPr>
          <p:cNvPr id="18" name="TextBox 17"/>
          <p:cNvSpPr txBox="1"/>
          <p:nvPr/>
        </p:nvSpPr>
        <p:spPr>
          <a:xfrm>
            <a:off x="10908792" y="6510528"/>
            <a:ext cx="786384" cy="201168"/>
          </a:xfrm>
          <a:prstGeom prst="rect">
            <a:avLst/>
          </a:prstGeom>
          <a:noFill/>
        </p:spPr>
        <p:txBody>
          <a:bodyPr wrap="square" lIns="0" tIns="0" rIns="0" bIns="0">
            <a:spAutoFit/>
          </a:bodyPr>
          <a:lstStyle/>
          <a:p>
            <a:pPr algn="r">
              <a:lnSpc>
                <a:spcPct val="104000"/>
              </a:lnSpc>
              <a:spcBef>
                <a:spcPts val="0"/>
              </a:spcBef>
              <a:spcAft>
                <a:spcPts val="200"/>
              </a:spcAft>
              <a:defRPr sz="1000" b="0">
                <a:solidFill>
                  <a:srgbClr val="597080"/>
                </a:solidFill>
                <a:latin typeface="Calibri"/>
              </a:defRPr>
            </a:pPr>
            <a:r>
              <a:t>4/11</a:t>
            </a:r>
          </a:p>
        </p:txBody>
      </p:sp>
      <p:sp>
        <p:nvSpPr>
          <p:cNvPr id="19" name="Rounded Rectangle 18"/>
          <p:cNvSpPr/>
          <p:nvPr/>
        </p:nvSpPr>
        <p:spPr>
          <a:xfrm>
            <a:off x="457200" y="1828800"/>
            <a:ext cx="11274552" cy="557784"/>
          </a:xfrm>
          <a:prstGeom prst="roundRect">
            <a:avLst>
              <a:gd name="adj" fmla="val 8000"/>
            </a:avLst>
          </a:prstGeom>
          <a:solidFill>
            <a:srgbClr val="E7F3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03504" y="1920240"/>
            <a:ext cx="10981944" cy="374904"/>
          </a:xfrm>
          <a:prstGeom prst="rect">
            <a:avLst/>
          </a:prstGeom>
          <a:noFill/>
        </p:spPr>
        <p:txBody>
          <a:bodyPr wrap="square" lIns="0" tIns="0" rIns="0" bIns="0">
            <a:spAutoFit/>
          </a:bodyPr>
          <a:lstStyle/>
          <a:p>
            <a:pPr>
              <a:lnSpc>
                <a:spcPct val="104000"/>
              </a:lnSpc>
              <a:spcBef>
                <a:spcPts val="0"/>
              </a:spcBef>
              <a:spcAft>
                <a:spcPts val="200"/>
              </a:spcAft>
              <a:defRPr sz="1700" b="0">
                <a:solidFill>
                  <a:srgbClr val="243A49"/>
                </a:solidFill>
                <a:latin typeface="Calibri"/>
              </a:defRPr>
            </a:pPr>
            <a:r>
              <a:t>Draft list prepared 15 Oct 2026 with AI help; team independent-writing session to be logged before submission; artifact P2-E01.</a:t>
            </a:r>
          </a:p>
        </p:txBody>
      </p:sp>
      <p:sp>
        <p:nvSpPr>
          <p:cNvPr id="21" name="TextBox 20"/>
          <p:cNvSpPr txBox="1"/>
          <p:nvPr/>
        </p:nvSpPr>
        <p:spPr>
          <a:xfrm>
            <a:off x="493776" y="2578608"/>
            <a:ext cx="11192256" cy="548640"/>
          </a:xfrm>
          <a:prstGeom prst="rect">
            <a:avLst/>
          </a:prstGeom>
          <a:noFill/>
        </p:spPr>
        <p:txBody>
          <a:bodyPr wrap="square" lIns="0" tIns="0" rIns="0" bIns="0">
            <a:spAutoFit/>
          </a:bodyPr>
          <a:lstStyle/>
          <a:p>
            <a:pPr>
              <a:lnSpc>
                <a:spcPct val="104000"/>
              </a:lnSpc>
              <a:spcBef>
                <a:spcPts val="0"/>
              </a:spcBef>
              <a:spcAft>
                <a:spcPts val="200"/>
              </a:spcAft>
              <a:defRPr sz="1900" b="0">
                <a:solidFill>
                  <a:srgbClr val="243A49"/>
                </a:solidFill>
                <a:latin typeface="Calibri"/>
              </a:defRPr>
            </a:pPr>
            <a:r>
              <a:t>Use a How Might We question, independent idea-writing, then sketches/storyboards. Preserve the raw ideas before scoring.</a:t>
            </a:r>
          </a:p>
        </p:txBody>
      </p:sp>
      <p:sp>
        <p:nvSpPr>
          <p:cNvPr id="22" name="Rounded Rectangle 21"/>
          <p:cNvSpPr/>
          <p:nvPr/>
        </p:nvSpPr>
        <p:spPr>
          <a:xfrm>
            <a:off x="457200" y="3282696"/>
            <a:ext cx="3630168" cy="658368"/>
          </a:xfrm>
          <a:prstGeom prst="roundRect">
            <a:avLst>
              <a:gd name="adj" fmla="val 8000"/>
            </a:avLst>
          </a:prstGeom>
          <a:solidFill>
            <a:srgbClr val="FFFFFF"/>
          </a:solidFill>
          <a:ln w="8255">
            <a:solidFill>
              <a:srgbClr val="D7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12648" y="3410712"/>
            <a:ext cx="3319272" cy="420624"/>
          </a:xfrm>
          <a:prstGeom prst="rect">
            <a:avLst/>
          </a:prstGeom>
          <a:noFill/>
        </p:spPr>
        <p:txBody>
          <a:bodyPr wrap="square" lIns="0" tIns="0" rIns="0" bIns="0">
            <a:spAutoFit/>
          </a:bodyPr>
          <a:lstStyle/>
          <a:p>
            <a:pPr>
              <a:lnSpc>
                <a:spcPct val="104000"/>
              </a:lnSpc>
              <a:spcBef>
                <a:spcPts val="0"/>
              </a:spcBef>
              <a:spcAft>
                <a:spcPts val="200"/>
              </a:spcAft>
              <a:defRPr sz="1700" b="1">
                <a:solidFill>
                  <a:srgbClr val="006E75"/>
                </a:solidFill>
                <a:latin typeface="Calibri"/>
              </a:defRPr>
            </a:pPr>
            <a:r>
              <a:t>G01 • pack-size paper checklist + font gauge</a:t>
            </a:r>
          </a:p>
        </p:txBody>
      </p:sp>
      <p:sp>
        <p:nvSpPr>
          <p:cNvPr id="24" name="Rounded Rectangle 23"/>
          <p:cNvSpPr/>
          <p:nvPr/>
        </p:nvSpPr>
        <p:spPr>
          <a:xfrm>
            <a:off x="4279392" y="3282696"/>
            <a:ext cx="3630168" cy="658368"/>
          </a:xfrm>
          <a:prstGeom prst="roundRect">
            <a:avLst>
              <a:gd name="adj" fmla="val 8000"/>
            </a:avLst>
          </a:prstGeom>
          <a:solidFill>
            <a:srgbClr val="FFFFFF"/>
          </a:solidFill>
          <a:ln w="8255">
            <a:solidFill>
              <a:srgbClr val="D7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434840" y="3410712"/>
            <a:ext cx="3319272" cy="420624"/>
          </a:xfrm>
          <a:prstGeom prst="rect">
            <a:avLst/>
          </a:prstGeom>
          <a:noFill/>
        </p:spPr>
        <p:txBody>
          <a:bodyPr wrap="square" lIns="0" tIns="0" rIns="0" bIns="0">
            <a:spAutoFit/>
          </a:bodyPr>
          <a:lstStyle/>
          <a:p>
            <a:pPr>
              <a:lnSpc>
                <a:spcPct val="104000"/>
              </a:lnSpc>
              <a:spcBef>
                <a:spcPts val="0"/>
              </a:spcBef>
              <a:spcAft>
                <a:spcPts val="200"/>
              </a:spcAft>
              <a:defRPr sz="1700" b="1">
                <a:solidFill>
                  <a:srgbClr val="006E75"/>
                </a:solidFill>
                <a:latin typeface="Calibri"/>
              </a:defRPr>
            </a:pPr>
            <a:r>
              <a:t>G02 • photo → OCR → rule-check assistant</a:t>
            </a:r>
          </a:p>
        </p:txBody>
      </p:sp>
      <p:sp>
        <p:nvSpPr>
          <p:cNvPr id="26" name="Rounded Rectangle 25"/>
          <p:cNvSpPr/>
          <p:nvPr/>
        </p:nvSpPr>
        <p:spPr>
          <a:xfrm>
            <a:off x="8101583" y="3282696"/>
            <a:ext cx="3630168" cy="658368"/>
          </a:xfrm>
          <a:prstGeom prst="roundRect">
            <a:avLst>
              <a:gd name="adj" fmla="val 8000"/>
            </a:avLst>
          </a:prstGeom>
          <a:solidFill>
            <a:srgbClr val="FFFFFF"/>
          </a:solidFill>
          <a:ln w="8255">
            <a:solidFill>
              <a:srgbClr val="D7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257031" y="3410712"/>
            <a:ext cx="3319272" cy="420624"/>
          </a:xfrm>
          <a:prstGeom prst="rect">
            <a:avLst/>
          </a:prstGeom>
          <a:noFill/>
        </p:spPr>
        <p:txBody>
          <a:bodyPr wrap="square" lIns="0" tIns="0" rIns="0" bIns="0">
            <a:spAutoFit/>
          </a:bodyPr>
          <a:lstStyle/>
          <a:p>
            <a:pPr>
              <a:lnSpc>
                <a:spcPct val="104000"/>
              </a:lnSpc>
              <a:spcBef>
                <a:spcPts val="0"/>
              </a:spcBef>
              <a:spcAft>
                <a:spcPts val="200"/>
              </a:spcAft>
              <a:defRPr sz="1700" b="1">
                <a:solidFill>
                  <a:srgbClr val="006E75"/>
                </a:solidFill>
                <a:latin typeface="Calibri"/>
              </a:defRPr>
            </a:pPr>
            <a:r>
              <a:t>G03 • shared verified-label registry</a:t>
            </a:r>
          </a:p>
        </p:txBody>
      </p:sp>
      <p:sp>
        <p:nvSpPr>
          <p:cNvPr id="28" name="Rounded Rectangle 27"/>
          <p:cNvSpPr/>
          <p:nvPr/>
        </p:nvSpPr>
        <p:spPr>
          <a:xfrm>
            <a:off x="457200" y="4096511"/>
            <a:ext cx="3630168" cy="658368"/>
          </a:xfrm>
          <a:prstGeom prst="roundRect">
            <a:avLst>
              <a:gd name="adj" fmla="val 8000"/>
            </a:avLst>
          </a:prstGeom>
          <a:solidFill>
            <a:srgbClr val="FFFFFF"/>
          </a:solidFill>
          <a:ln w="8255">
            <a:solidFill>
              <a:srgbClr val="D7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12648" y="4224527"/>
            <a:ext cx="3319272" cy="420624"/>
          </a:xfrm>
          <a:prstGeom prst="rect">
            <a:avLst/>
          </a:prstGeom>
          <a:noFill/>
        </p:spPr>
        <p:txBody>
          <a:bodyPr wrap="square" lIns="0" tIns="0" rIns="0" bIns="0">
            <a:spAutoFit/>
          </a:bodyPr>
          <a:lstStyle/>
          <a:p>
            <a:pPr>
              <a:lnSpc>
                <a:spcPct val="104000"/>
              </a:lnSpc>
              <a:spcBef>
                <a:spcPts val="0"/>
              </a:spcBef>
              <a:spcAft>
                <a:spcPts val="200"/>
              </a:spcAft>
              <a:defRPr sz="1700" b="1">
                <a:solidFill>
                  <a:srgbClr val="006E75"/>
                </a:solidFill>
                <a:latin typeface="Calibri"/>
              </a:defRPr>
            </a:pPr>
            <a:r>
              <a:t>G04 • packer / platform pre-print label check</a:t>
            </a:r>
          </a:p>
        </p:txBody>
      </p:sp>
      <p:sp>
        <p:nvSpPr>
          <p:cNvPr id="30" name="Rounded Rectangle 29"/>
          <p:cNvSpPr/>
          <p:nvPr/>
        </p:nvSpPr>
        <p:spPr>
          <a:xfrm>
            <a:off x="4279392" y="4096511"/>
            <a:ext cx="3630168" cy="658368"/>
          </a:xfrm>
          <a:prstGeom prst="roundRect">
            <a:avLst>
              <a:gd name="adj" fmla="val 8000"/>
            </a:avLst>
          </a:prstGeom>
          <a:solidFill>
            <a:srgbClr val="FFFFFF"/>
          </a:solidFill>
          <a:ln w="8255">
            <a:solidFill>
              <a:srgbClr val="D7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434840" y="4224527"/>
            <a:ext cx="3319272" cy="420624"/>
          </a:xfrm>
          <a:prstGeom prst="rect">
            <a:avLst/>
          </a:prstGeom>
          <a:noFill/>
        </p:spPr>
        <p:txBody>
          <a:bodyPr wrap="square" lIns="0" tIns="0" rIns="0" bIns="0">
            <a:spAutoFit/>
          </a:bodyPr>
          <a:lstStyle/>
          <a:p>
            <a:pPr>
              <a:lnSpc>
                <a:spcPct val="104000"/>
              </a:lnSpc>
              <a:spcBef>
                <a:spcPts val="0"/>
              </a:spcBef>
              <a:spcAft>
                <a:spcPts val="200"/>
              </a:spcAft>
              <a:defRPr sz="1700" b="1">
                <a:solidFill>
                  <a:srgbClr val="006E75"/>
                </a:solidFill>
                <a:latin typeface="Calibri"/>
              </a:defRPr>
            </a:pPr>
            <a:r>
              <a:t>G05 • voice-note inspection log</a:t>
            </a:r>
          </a:p>
        </p:txBody>
      </p:sp>
      <p:sp>
        <p:nvSpPr>
          <p:cNvPr id="32" name="Rounded Rectangle 31"/>
          <p:cNvSpPr/>
          <p:nvPr/>
        </p:nvSpPr>
        <p:spPr>
          <a:xfrm>
            <a:off x="8101583" y="4096511"/>
            <a:ext cx="3630168" cy="658368"/>
          </a:xfrm>
          <a:prstGeom prst="roundRect">
            <a:avLst>
              <a:gd name="adj" fmla="val 8000"/>
            </a:avLst>
          </a:prstGeom>
          <a:solidFill>
            <a:srgbClr val="FFFFFF"/>
          </a:solidFill>
          <a:ln w="8255">
            <a:solidFill>
              <a:srgbClr val="D7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257031" y="4224527"/>
            <a:ext cx="3319272" cy="420624"/>
          </a:xfrm>
          <a:prstGeom prst="rect">
            <a:avLst/>
          </a:prstGeom>
          <a:noFill/>
        </p:spPr>
        <p:txBody>
          <a:bodyPr wrap="square" lIns="0" tIns="0" rIns="0" bIns="0">
            <a:spAutoFit/>
          </a:bodyPr>
          <a:lstStyle/>
          <a:p>
            <a:pPr>
              <a:lnSpc>
                <a:spcPct val="104000"/>
              </a:lnSpc>
              <a:spcBef>
                <a:spcPts val="0"/>
              </a:spcBef>
              <a:spcAft>
                <a:spcPts val="200"/>
              </a:spcAft>
              <a:defRPr sz="1700" b="1">
                <a:solidFill>
                  <a:srgbClr val="006E75"/>
                </a:solidFill>
                <a:latin typeface="Calibri"/>
              </a:defRPr>
            </a:pPr>
            <a:r>
              <a:t>G06 • consumer scan-and-report app (parked)</a:t>
            </a:r>
          </a:p>
        </p:txBody>
      </p:sp>
      <p:sp>
        <p:nvSpPr>
          <p:cNvPr id="34" name="TextBox 33"/>
          <p:cNvSpPr txBox="1"/>
          <p:nvPr/>
        </p:nvSpPr>
        <p:spPr>
          <a:xfrm>
            <a:off x="457200" y="5056632"/>
            <a:ext cx="10881360" cy="228600"/>
          </a:xfrm>
          <a:prstGeom prst="rect">
            <a:avLst/>
          </a:prstGeom>
          <a:noFill/>
        </p:spPr>
        <p:txBody>
          <a:bodyPr wrap="square" lIns="0" tIns="0" rIns="0" bIns="0">
            <a:spAutoFit/>
          </a:bodyPr>
          <a:lstStyle/>
          <a:p>
            <a:pPr>
              <a:lnSpc>
                <a:spcPct val="104000"/>
              </a:lnSpc>
              <a:spcBef>
                <a:spcPts val="0"/>
              </a:spcBef>
              <a:spcAft>
                <a:spcPts val="200"/>
              </a:spcAft>
              <a:defRPr sz="1150" b="1">
                <a:solidFill>
                  <a:srgbClr val="006E75"/>
                </a:solidFill>
                <a:latin typeface="Calibri"/>
              </a:defRPr>
            </a:pPr>
            <a:r>
              <a:t>HOW THE SHORTLIST WAS FORMED</a:t>
            </a:r>
          </a:p>
        </p:txBody>
      </p:sp>
      <p:sp>
        <p:nvSpPr>
          <p:cNvPr id="35" name="TextBox 34"/>
          <p:cNvSpPr txBox="1"/>
          <p:nvPr/>
        </p:nvSpPr>
        <p:spPr>
          <a:xfrm>
            <a:off x="457200" y="5376672"/>
            <a:ext cx="11201400" cy="384048"/>
          </a:xfrm>
          <a:prstGeom prst="rect">
            <a:avLst/>
          </a:prstGeom>
          <a:noFill/>
        </p:spPr>
        <p:txBody>
          <a:bodyPr wrap="square" lIns="0" tIns="0" rIns="0" bIns="0">
            <a:spAutoFit/>
          </a:bodyPr>
          <a:lstStyle/>
          <a:p>
            <a:pPr>
              <a:lnSpc>
                <a:spcPct val="104000"/>
              </a:lnSpc>
              <a:spcBef>
                <a:spcPts val="0"/>
              </a:spcBef>
              <a:spcAft>
                <a:spcPts val="200"/>
              </a:spcAft>
              <a:defRPr sz="1700" b="0">
                <a:solidFill>
                  <a:srgbClr val="243A49"/>
                </a:solidFill>
                <a:latin typeface="Calibri"/>
              </a:defRPr>
            </a:pPr>
            <a:r>
              <a:t>G01 → I01; G02 (+G05) → I02; G03 (+G04 later) → I03. G06 parked: different user. Ideas are not copied from P1.</a:t>
            </a:r>
          </a:p>
        </p:txBody>
      </p:sp>
      <p:sp>
        <p:nvSpPr>
          <p:cNvPr id="36" name="TextBox 35"/>
          <p:cNvSpPr txBox="1"/>
          <p:nvPr/>
        </p:nvSpPr>
        <p:spPr>
          <a:xfrm>
            <a:off x="457200" y="5916168"/>
            <a:ext cx="11201400" cy="292608"/>
          </a:xfrm>
          <a:prstGeom prst="rect">
            <a:avLst/>
          </a:prstGeom>
          <a:noFill/>
        </p:spPr>
        <p:txBody>
          <a:bodyPr wrap="square" lIns="0" tIns="0" rIns="0" bIns="0">
            <a:spAutoFit/>
          </a:bodyPr>
          <a:lstStyle/>
          <a:p>
            <a:pPr>
              <a:lnSpc>
                <a:spcPct val="104000"/>
              </a:lnSpc>
              <a:spcBef>
                <a:spcPts val="0"/>
              </a:spcBef>
              <a:spcAft>
                <a:spcPts val="200"/>
              </a:spcAft>
              <a:defRPr sz="1350" b="0">
                <a:solidFill>
                  <a:srgbClr val="597080"/>
                </a:solidFill>
                <a:latin typeface="Calibri"/>
              </a:defRPr>
            </a:pPr>
            <a:r>
              <a:t>AI use: Claude suggested idea variations and deck structure; team checked them. No interviews, results or citations were AI-generated.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8FA"/>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91440"/>
          </a:xfrm>
          <a:prstGeom prst="rect">
            <a:avLst/>
          </a:prstGeom>
          <a:solidFill>
            <a:srgbClr val="006E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19456"/>
            <a:ext cx="7315200" cy="228600"/>
          </a:xfrm>
          <a:prstGeom prst="rect">
            <a:avLst/>
          </a:prstGeom>
          <a:noFill/>
        </p:spPr>
        <p:txBody>
          <a:bodyPr wrap="square" lIns="0" tIns="0" rIns="0" bIns="0">
            <a:spAutoFit/>
          </a:bodyPr>
          <a:lstStyle/>
          <a:p>
            <a:pPr>
              <a:lnSpc>
                <a:spcPct val="104000"/>
              </a:lnSpc>
              <a:spcBef>
                <a:spcPts val="0"/>
              </a:spcBef>
              <a:spcAft>
                <a:spcPts val="200"/>
              </a:spcAft>
              <a:defRPr sz="1150" b="1">
                <a:solidFill>
                  <a:srgbClr val="006E75"/>
                </a:solidFill>
                <a:latin typeface="Calibri"/>
              </a:defRPr>
            </a:pPr>
            <a:r>
              <a:t>SCHOOL OF INNOVATION  |  KGISL INSTITUTE OF TECHNOLOGY</a:t>
            </a:r>
          </a:p>
        </p:txBody>
      </p:sp>
      <p:sp>
        <p:nvSpPr>
          <p:cNvPr id="4" name="Rounded Rectangle 3"/>
          <p:cNvSpPr/>
          <p:nvPr/>
        </p:nvSpPr>
        <p:spPr>
          <a:xfrm>
            <a:off x="8458200" y="210312"/>
            <a:ext cx="768096" cy="237744"/>
          </a:xfrm>
          <a:prstGeom prst="roundRect">
            <a:avLst>
              <a:gd name="adj" fmla="val 8000"/>
            </a:avLst>
          </a:prstGeom>
          <a:solidFill>
            <a:srgbClr val="D7E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458200" y="246888"/>
            <a:ext cx="768096" cy="128016"/>
          </a:xfrm>
          <a:prstGeom prst="rect">
            <a:avLst/>
          </a:prstGeom>
          <a:noFill/>
        </p:spPr>
        <p:txBody>
          <a:bodyPr wrap="square" lIns="0" tIns="0" rIns="0" bIns="0">
            <a:spAutoFit/>
          </a:bodyPr>
          <a:lstStyle/>
          <a:p>
            <a:pPr algn="ctr">
              <a:lnSpc>
                <a:spcPct val="104000"/>
              </a:lnSpc>
              <a:spcBef>
                <a:spcPts val="0"/>
              </a:spcBef>
              <a:spcAft>
                <a:spcPts val="200"/>
              </a:spcAft>
              <a:defRPr sz="880" b="1">
                <a:solidFill>
                  <a:srgbClr val="597080"/>
                </a:solidFill>
                <a:latin typeface="Calibri"/>
              </a:defRPr>
            </a:pPr>
            <a:r>
              <a:t>FRAME</a:t>
            </a:r>
          </a:p>
        </p:txBody>
      </p:sp>
      <p:sp>
        <p:nvSpPr>
          <p:cNvPr id="6" name="Rounded Rectangle 5"/>
          <p:cNvSpPr/>
          <p:nvPr/>
        </p:nvSpPr>
        <p:spPr>
          <a:xfrm>
            <a:off x="9281160" y="210312"/>
            <a:ext cx="768096" cy="237744"/>
          </a:xfrm>
          <a:prstGeom prst="roundRect">
            <a:avLst>
              <a:gd name="adj" fmla="val 8000"/>
            </a:avLst>
          </a:prstGeom>
          <a:solidFill>
            <a:srgbClr val="006E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281160" y="246888"/>
            <a:ext cx="768096" cy="128016"/>
          </a:xfrm>
          <a:prstGeom prst="rect">
            <a:avLst/>
          </a:prstGeom>
          <a:noFill/>
        </p:spPr>
        <p:txBody>
          <a:bodyPr wrap="square" lIns="0" tIns="0" rIns="0" bIns="0">
            <a:spAutoFit/>
          </a:bodyPr>
          <a:lstStyle/>
          <a:p>
            <a:pPr algn="ctr">
              <a:lnSpc>
                <a:spcPct val="104000"/>
              </a:lnSpc>
              <a:spcBef>
                <a:spcPts val="0"/>
              </a:spcBef>
              <a:spcAft>
                <a:spcPts val="200"/>
              </a:spcAft>
              <a:defRPr sz="880" b="1">
                <a:solidFill>
                  <a:srgbClr val="FFFFFF"/>
                </a:solidFill>
                <a:latin typeface="Calibri"/>
              </a:defRPr>
            </a:pPr>
            <a:r>
              <a:t>EXPLORE</a:t>
            </a:r>
          </a:p>
        </p:txBody>
      </p:sp>
      <p:sp>
        <p:nvSpPr>
          <p:cNvPr id="8" name="Rounded Rectangle 7"/>
          <p:cNvSpPr/>
          <p:nvPr/>
        </p:nvSpPr>
        <p:spPr>
          <a:xfrm>
            <a:off x="10104120" y="210312"/>
            <a:ext cx="768096" cy="237744"/>
          </a:xfrm>
          <a:prstGeom prst="roundRect">
            <a:avLst>
              <a:gd name="adj" fmla="val 8000"/>
            </a:avLst>
          </a:prstGeom>
          <a:solidFill>
            <a:srgbClr val="D7E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104120" y="246888"/>
            <a:ext cx="768096" cy="128016"/>
          </a:xfrm>
          <a:prstGeom prst="rect">
            <a:avLst/>
          </a:prstGeom>
          <a:noFill/>
        </p:spPr>
        <p:txBody>
          <a:bodyPr wrap="square" lIns="0" tIns="0" rIns="0" bIns="0">
            <a:spAutoFit/>
          </a:bodyPr>
          <a:lstStyle/>
          <a:p>
            <a:pPr algn="ctr">
              <a:lnSpc>
                <a:spcPct val="104000"/>
              </a:lnSpc>
              <a:spcBef>
                <a:spcPts val="0"/>
              </a:spcBef>
              <a:spcAft>
                <a:spcPts val="200"/>
              </a:spcAft>
              <a:defRPr sz="880" b="1">
                <a:solidFill>
                  <a:srgbClr val="597080"/>
                </a:solidFill>
                <a:latin typeface="Calibri"/>
              </a:defRPr>
            </a:pPr>
            <a:r>
              <a:t>CHOOSE</a:t>
            </a:r>
          </a:p>
        </p:txBody>
      </p:sp>
      <p:sp>
        <p:nvSpPr>
          <p:cNvPr id="10" name="Rounded Rectangle 9"/>
          <p:cNvSpPr/>
          <p:nvPr/>
        </p:nvSpPr>
        <p:spPr>
          <a:xfrm>
            <a:off x="10927080" y="210312"/>
            <a:ext cx="768096" cy="237744"/>
          </a:xfrm>
          <a:prstGeom prst="roundRect">
            <a:avLst>
              <a:gd name="adj" fmla="val 8000"/>
            </a:avLst>
          </a:prstGeom>
          <a:solidFill>
            <a:srgbClr val="D7E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927080" y="246888"/>
            <a:ext cx="768096" cy="128016"/>
          </a:xfrm>
          <a:prstGeom prst="rect">
            <a:avLst/>
          </a:prstGeom>
          <a:noFill/>
        </p:spPr>
        <p:txBody>
          <a:bodyPr wrap="square" lIns="0" tIns="0" rIns="0" bIns="0">
            <a:spAutoFit/>
          </a:bodyPr>
          <a:lstStyle/>
          <a:p>
            <a:pPr algn="ctr">
              <a:lnSpc>
                <a:spcPct val="104000"/>
              </a:lnSpc>
              <a:spcBef>
                <a:spcPts val="0"/>
              </a:spcBef>
              <a:spcAft>
                <a:spcPts val="200"/>
              </a:spcAft>
              <a:defRPr sz="880" b="1">
                <a:solidFill>
                  <a:srgbClr val="597080"/>
                </a:solidFill>
                <a:latin typeface="Calibri"/>
              </a:defRPr>
            </a:pPr>
            <a:r>
              <a:t>TEST</a:t>
            </a:r>
          </a:p>
        </p:txBody>
      </p:sp>
      <p:sp>
        <p:nvSpPr>
          <p:cNvPr id="12" name="TextBox 11"/>
          <p:cNvSpPr txBox="1"/>
          <p:nvPr/>
        </p:nvSpPr>
        <p:spPr>
          <a:xfrm>
            <a:off x="457200" y="758952"/>
            <a:ext cx="585216" cy="438912"/>
          </a:xfrm>
          <a:prstGeom prst="rect">
            <a:avLst/>
          </a:prstGeom>
          <a:noFill/>
        </p:spPr>
        <p:txBody>
          <a:bodyPr wrap="square" lIns="0" tIns="0" rIns="0" bIns="0">
            <a:spAutoFit/>
          </a:bodyPr>
          <a:lstStyle/>
          <a:p>
            <a:pPr>
              <a:lnSpc>
                <a:spcPct val="104000"/>
              </a:lnSpc>
              <a:spcBef>
                <a:spcPts val="0"/>
              </a:spcBef>
              <a:spcAft>
                <a:spcPts val="200"/>
              </a:spcAft>
              <a:defRPr sz="2400" b="1">
                <a:solidFill>
                  <a:srgbClr val="006E75"/>
                </a:solidFill>
                <a:latin typeface="Calibri"/>
              </a:defRPr>
            </a:pPr>
            <a:r>
              <a:t>05</a:t>
            </a:r>
          </a:p>
        </p:txBody>
      </p:sp>
      <p:sp>
        <p:nvSpPr>
          <p:cNvPr id="13" name="TextBox 12"/>
          <p:cNvSpPr txBox="1"/>
          <p:nvPr/>
        </p:nvSpPr>
        <p:spPr>
          <a:xfrm>
            <a:off x="1143000" y="713232"/>
            <a:ext cx="10424160" cy="457200"/>
          </a:xfrm>
          <a:prstGeom prst="rect">
            <a:avLst/>
          </a:prstGeom>
          <a:noFill/>
        </p:spPr>
        <p:txBody>
          <a:bodyPr wrap="square" lIns="0" tIns="0" rIns="0" bIns="0">
            <a:spAutoFit/>
          </a:bodyPr>
          <a:lstStyle/>
          <a:p>
            <a:pPr>
              <a:lnSpc>
                <a:spcPct val="104000"/>
              </a:lnSpc>
              <a:spcBef>
                <a:spcPts val="0"/>
              </a:spcBef>
              <a:spcAft>
                <a:spcPts val="200"/>
              </a:spcAft>
              <a:defRPr sz="2700" b="1">
                <a:solidFill>
                  <a:srgbClr val="153347"/>
                </a:solidFill>
                <a:latin typeface="Calibri"/>
              </a:defRPr>
            </a:pPr>
            <a:r>
              <a:t>Three distinct concept options</a:t>
            </a:r>
          </a:p>
        </p:txBody>
      </p:sp>
      <p:sp>
        <p:nvSpPr>
          <p:cNvPr id="14" name="TextBox 13"/>
          <p:cNvSpPr txBox="1"/>
          <p:nvPr/>
        </p:nvSpPr>
        <p:spPr>
          <a:xfrm>
            <a:off x="475488" y="1252728"/>
            <a:ext cx="11201400" cy="457200"/>
          </a:xfrm>
          <a:prstGeom prst="rect">
            <a:avLst/>
          </a:prstGeom>
          <a:noFill/>
        </p:spPr>
        <p:txBody>
          <a:bodyPr wrap="square" lIns="0" tIns="0" rIns="0" bIns="0">
            <a:spAutoFit/>
          </a:bodyPr>
          <a:lstStyle/>
          <a:p>
            <a:pPr>
              <a:lnSpc>
                <a:spcPct val="104000"/>
              </a:lnSpc>
              <a:spcBef>
                <a:spcPts val="0"/>
              </a:spcBef>
              <a:spcAft>
                <a:spcPts val="200"/>
              </a:spcAft>
              <a:defRPr sz="1550" b="0">
                <a:solidFill>
                  <a:srgbClr val="597080"/>
                </a:solidFill>
                <a:latin typeface="Calibri"/>
              </a:defRPr>
            </a:pPr>
            <a:r>
              <a:t>Make each idea tangible at similar detail; compare mechanisms, not only features.</a:t>
            </a:r>
          </a:p>
        </p:txBody>
      </p:sp>
      <p:sp>
        <p:nvSpPr>
          <p:cNvPr id="15" name="Rectangle 14"/>
          <p:cNvSpPr/>
          <p:nvPr/>
        </p:nvSpPr>
        <p:spPr>
          <a:xfrm>
            <a:off x="457200" y="6428232"/>
            <a:ext cx="11274552" cy="9144"/>
          </a:xfrm>
          <a:prstGeom prst="rect">
            <a:avLst/>
          </a:prstGeom>
          <a:solidFill>
            <a:srgbClr val="D7E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57200" y="6528816"/>
            <a:ext cx="7589520" cy="155448"/>
          </a:xfrm>
          <a:prstGeom prst="rect">
            <a:avLst/>
          </a:prstGeom>
          <a:noFill/>
        </p:spPr>
        <p:txBody>
          <a:bodyPr wrap="square" lIns="0" tIns="0" rIns="0" bIns="0">
            <a:spAutoFit/>
          </a:bodyPr>
          <a:lstStyle/>
          <a:p>
            <a:pPr>
              <a:lnSpc>
                <a:spcPct val="104000"/>
              </a:lnSpc>
              <a:spcBef>
                <a:spcPts val="0"/>
              </a:spcBef>
              <a:spcAft>
                <a:spcPts val="200"/>
              </a:spcAft>
              <a:defRPr sz="900" b="0">
                <a:solidFill>
                  <a:srgbClr val="597080"/>
                </a:solidFill>
                <a:latin typeface="Calibri"/>
              </a:defRPr>
            </a:pPr>
            <a:r>
              <a:t>TEAM TITANS • LABELGUARD • DRAFT FOR MENTOR REVIEW</a:t>
            </a:r>
          </a:p>
        </p:txBody>
      </p:sp>
      <p:sp>
        <p:nvSpPr>
          <p:cNvPr id="17" name="TextBox 16"/>
          <p:cNvSpPr txBox="1"/>
          <p:nvPr/>
        </p:nvSpPr>
        <p:spPr>
          <a:xfrm>
            <a:off x="8321040" y="6510528"/>
            <a:ext cx="2194560" cy="201168"/>
          </a:xfrm>
          <a:prstGeom prst="rect">
            <a:avLst/>
          </a:prstGeom>
          <a:noFill/>
        </p:spPr>
        <p:txBody>
          <a:bodyPr wrap="square" lIns="0" tIns="0" rIns="0" bIns="0">
            <a:spAutoFit/>
          </a:bodyPr>
          <a:lstStyle/>
          <a:p>
            <a:pPr algn="r">
              <a:lnSpc>
                <a:spcPct val="104000"/>
              </a:lnSpc>
              <a:spcBef>
                <a:spcPts val="0"/>
              </a:spcBef>
              <a:spcAft>
                <a:spcPts val="200"/>
              </a:spcAft>
              <a:defRPr sz="1000" b="1">
                <a:solidFill>
                  <a:srgbClr val="006E75"/>
                </a:solidFill>
                <a:latin typeface="Calibri"/>
              </a:defRPr>
            </a:pPr>
            <a:r>
              <a:t>P2 • 16 OCT 2026</a:t>
            </a:r>
          </a:p>
        </p:txBody>
      </p:sp>
      <p:sp>
        <p:nvSpPr>
          <p:cNvPr id="18" name="TextBox 17"/>
          <p:cNvSpPr txBox="1"/>
          <p:nvPr/>
        </p:nvSpPr>
        <p:spPr>
          <a:xfrm>
            <a:off x="10908792" y="6510528"/>
            <a:ext cx="786384" cy="201168"/>
          </a:xfrm>
          <a:prstGeom prst="rect">
            <a:avLst/>
          </a:prstGeom>
          <a:noFill/>
        </p:spPr>
        <p:txBody>
          <a:bodyPr wrap="square" lIns="0" tIns="0" rIns="0" bIns="0">
            <a:spAutoFit/>
          </a:bodyPr>
          <a:lstStyle/>
          <a:p>
            <a:pPr algn="r">
              <a:lnSpc>
                <a:spcPct val="104000"/>
              </a:lnSpc>
              <a:spcBef>
                <a:spcPts val="0"/>
              </a:spcBef>
              <a:spcAft>
                <a:spcPts val="200"/>
              </a:spcAft>
              <a:defRPr sz="1000" b="0">
                <a:solidFill>
                  <a:srgbClr val="597080"/>
                </a:solidFill>
                <a:latin typeface="Calibri"/>
              </a:defRPr>
            </a:pPr>
            <a:r>
              <a:t>5/11</a:t>
            </a:r>
          </a:p>
        </p:txBody>
      </p:sp>
      <p:sp>
        <p:nvSpPr>
          <p:cNvPr id="19" name="Rounded Rectangle 18"/>
          <p:cNvSpPr/>
          <p:nvPr/>
        </p:nvSpPr>
        <p:spPr>
          <a:xfrm>
            <a:off x="457200" y="1828800"/>
            <a:ext cx="3630168" cy="4389120"/>
          </a:xfrm>
          <a:prstGeom prst="roundRect">
            <a:avLst>
              <a:gd name="adj" fmla="val 8000"/>
            </a:avLst>
          </a:prstGeom>
          <a:solidFill>
            <a:srgbClr val="FFFFFF"/>
          </a:solidFill>
          <a:ln w="8255">
            <a:solidFill>
              <a:srgbClr val="D7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457200" y="1828800"/>
            <a:ext cx="3630168" cy="429768"/>
          </a:xfrm>
          <a:prstGeom prst="roundRect">
            <a:avLst>
              <a:gd name="adj" fmla="val 8000"/>
            </a:avLst>
          </a:prstGeom>
          <a:solidFill>
            <a:srgbClr val="006E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40080" y="1920240"/>
            <a:ext cx="3291840" cy="237744"/>
          </a:xfrm>
          <a:prstGeom prst="rect">
            <a:avLst/>
          </a:prstGeom>
          <a:noFill/>
        </p:spPr>
        <p:txBody>
          <a:bodyPr wrap="square" lIns="0" tIns="0" rIns="0" bIns="0">
            <a:spAutoFit/>
          </a:bodyPr>
          <a:lstStyle/>
          <a:p>
            <a:pPr>
              <a:lnSpc>
                <a:spcPct val="104000"/>
              </a:lnSpc>
              <a:spcBef>
                <a:spcPts val="0"/>
              </a:spcBef>
              <a:spcAft>
                <a:spcPts val="200"/>
              </a:spcAft>
              <a:defRPr sz="1500" b="1">
                <a:solidFill>
                  <a:srgbClr val="FFFFFF"/>
                </a:solidFill>
                <a:latin typeface="Calibri"/>
              </a:defRPr>
            </a:pPr>
            <a:r>
              <a:t>I01</a:t>
            </a:r>
          </a:p>
        </p:txBody>
      </p:sp>
      <p:sp>
        <p:nvSpPr>
          <p:cNvPr id="22" name="TextBox 21"/>
          <p:cNvSpPr txBox="1"/>
          <p:nvPr/>
        </p:nvSpPr>
        <p:spPr>
          <a:xfrm>
            <a:off x="640080" y="2459736"/>
            <a:ext cx="3246120" cy="621792"/>
          </a:xfrm>
          <a:prstGeom prst="rect">
            <a:avLst/>
          </a:prstGeom>
          <a:noFill/>
        </p:spPr>
        <p:txBody>
          <a:bodyPr wrap="square" lIns="0" tIns="0" rIns="0" bIns="0">
            <a:spAutoFit/>
          </a:bodyPr>
          <a:lstStyle/>
          <a:p>
            <a:pPr>
              <a:lnSpc>
                <a:spcPct val="104000"/>
              </a:lnSpc>
              <a:spcBef>
                <a:spcPts val="0"/>
              </a:spcBef>
              <a:spcAft>
                <a:spcPts val="200"/>
              </a:spcAft>
              <a:defRPr sz="2300" b="1">
                <a:solidFill>
                  <a:srgbClr val="153347"/>
                </a:solidFill>
                <a:latin typeface="Calibri"/>
              </a:defRPr>
            </a:pPr>
            <a:r>
              <a:t>Pack-size checklist card</a:t>
            </a:r>
          </a:p>
        </p:txBody>
      </p:sp>
      <p:sp>
        <p:nvSpPr>
          <p:cNvPr id="23" name="TextBox 22"/>
          <p:cNvSpPr txBox="1"/>
          <p:nvPr/>
        </p:nvSpPr>
        <p:spPr>
          <a:xfrm>
            <a:off x="640080" y="3209544"/>
            <a:ext cx="3246120" cy="658368"/>
          </a:xfrm>
          <a:prstGeom prst="rect">
            <a:avLst/>
          </a:prstGeom>
          <a:noFill/>
        </p:spPr>
        <p:txBody>
          <a:bodyPr wrap="square" lIns="0" tIns="0" rIns="0" bIns="0">
            <a:spAutoFit/>
          </a:bodyPr>
          <a:lstStyle/>
          <a:p>
            <a:pPr>
              <a:lnSpc>
                <a:spcPct val="104000"/>
              </a:lnSpc>
              <a:spcBef>
                <a:spcPts val="0"/>
              </a:spcBef>
              <a:spcAft>
                <a:spcPts val="200"/>
              </a:spcAft>
              <a:defRPr sz="1700" b="0">
                <a:solidFill>
                  <a:srgbClr val="243A49"/>
                </a:solidFill>
                <a:latin typeface="Calibri"/>
              </a:defRPr>
            </a:pPr>
            <a:r>
              <a:t>Job aid: a laminated card lists every declaration with a font-height gauge per pack size.</a:t>
            </a:r>
          </a:p>
        </p:txBody>
      </p:sp>
      <p:sp>
        <p:nvSpPr>
          <p:cNvPr id="24" name="Rounded Rectangle 23"/>
          <p:cNvSpPr/>
          <p:nvPr/>
        </p:nvSpPr>
        <p:spPr>
          <a:xfrm>
            <a:off x="621792" y="4014215"/>
            <a:ext cx="990599" cy="658368"/>
          </a:xfrm>
          <a:prstGeom prst="roundRect">
            <a:avLst>
              <a:gd name="adj" fmla="val 8000"/>
            </a:avLst>
          </a:prstGeom>
          <a:solidFill>
            <a:srgbClr val="E7F3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85800" y="4078224"/>
            <a:ext cx="862583" cy="548640"/>
          </a:xfrm>
          <a:prstGeom prst="rect">
            <a:avLst/>
          </a:prstGeom>
          <a:noFill/>
        </p:spPr>
        <p:txBody>
          <a:bodyPr wrap="square" lIns="0" tIns="0" rIns="0" bIns="0">
            <a:spAutoFit/>
          </a:bodyPr>
          <a:lstStyle/>
          <a:p>
            <a:pPr algn="ctr">
              <a:lnSpc>
                <a:spcPct val="104000"/>
              </a:lnSpc>
              <a:spcBef>
                <a:spcPts val="0"/>
              </a:spcBef>
              <a:spcAft>
                <a:spcPts val="200"/>
              </a:spcAft>
              <a:defRPr sz="1400" b="1">
                <a:solidFill>
                  <a:srgbClr val="006E75"/>
                </a:solidFill>
                <a:latin typeface="Calibri"/>
              </a:defRPr>
            </a:pPr>
            <a:r>
              <a:t>Pick a pack</a:t>
            </a:r>
          </a:p>
        </p:txBody>
      </p:sp>
      <p:sp>
        <p:nvSpPr>
          <p:cNvPr id="26" name="TextBox 25"/>
          <p:cNvSpPr txBox="1"/>
          <p:nvPr/>
        </p:nvSpPr>
        <p:spPr>
          <a:xfrm>
            <a:off x="1612391" y="4142231"/>
            <a:ext cx="164592" cy="338328"/>
          </a:xfrm>
          <a:prstGeom prst="rect">
            <a:avLst/>
          </a:prstGeom>
          <a:noFill/>
        </p:spPr>
        <p:txBody>
          <a:bodyPr wrap="square" lIns="0" tIns="0" rIns="0" bIns="0">
            <a:spAutoFit/>
          </a:bodyPr>
          <a:lstStyle/>
          <a:p>
            <a:pPr algn="ctr">
              <a:lnSpc>
                <a:spcPct val="104000"/>
              </a:lnSpc>
              <a:spcBef>
                <a:spcPts val="0"/>
              </a:spcBef>
              <a:spcAft>
                <a:spcPts val="200"/>
              </a:spcAft>
              <a:defRPr sz="2100" b="1">
                <a:solidFill>
                  <a:srgbClr val="006E75"/>
                </a:solidFill>
                <a:latin typeface="Calibri"/>
              </a:defRPr>
            </a:pPr>
            <a:r>
              <a:t>›</a:t>
            </a:r>
          </a:p>
        </p:txBody>
      </p:sp>
      <p:sp>
        <p:nvSpPr>
          <p:cNvPr id="27" name="Rounded Rectangle 26"/>
          <p:cNvSpPr/>
          <p:nvPr/>
        </p:nvSpPr>
        <p:spPr>
          <a:xfrm>
            <a:off x="1776983" y="4014215"/>
            <a:ext cx="990599" cy="658368"/>
          </a:xfrm>
          <a:prstGeom prst="roundRect">
            <a:avLst>
              <a:gd name="adj" fmla="val 8000"/>
            </a:avLst>
          </a:prstGeom>
          <a:solidFill>
            <a:srgbClr val="E7F3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840991" y="4078224"/>
            <a:ext cx="862583" cy="548640"/>
          </a:xfrm>
          <a:prstGeom prst="rect">
            <a:avLst/>
          </a:prstGeom>
          <a:noFill/>
        </p:spPr>
        <p:txBody>
          <a:bodyPr wrap="square" lIns="0" tIns="0" rIns="0" bIns="0">
            <a:spAutoFit/>
          </a:bodyPr>
          <a:lstStyle/>
          <a:p>
            <a:pPr algn="ctr">
              <a:lnSpc>
                <a:spcPct val="104000"/>
              </a:lnSpc>
              <a:spcBef>
                <a:spcPts val="0"/>
              </a:spcBef>
              <a:spcAft>
                <a:spcPts val="200"/>
              </a:spcAft>
              <a:defRPr sz="1400" b="1">
                <a:solidFill>
                  <a:srgbClr val="006E75"/>
                </a:solidFill>
                <a:latin typeface="Calibri"/>
              </a:defRPr>
            </a:pPr>
            <a:r>
              <a:t>Tick each declaration</a:t>
            </a:r>
          </a:p>
        </p:txBody>
      </p:sp>
      <p:sp>
        <p:nvSpPr>
          <p:cNvPr id="29" name="TextBox 28"/>
          <p:cNvSpPr txBox="1"/>
          <p:nvPr/>
        </p:nvSpPr>
        <p:spPr>
          <a:xfrm>
            <a:off x="2767583" y="4142231"/>
            <a:ext cx="164592" cy="338328"/>
          </a:xfrm>
          <a:prstGeom prst="rect">
            <a:avLst/>
          </a:prstGeom>
          <a:noFill/>
        </p:spPr>
        <p:txBody>
          <a:bodyPr wrap="square" lIns="0" tIns="0" rIns="0" bIns="0">
            <a:spAutoFit/>
          </a:bodyPr>
          <a:lstStyle/>
          <a:p>
            <a:pPr algn="ctr">
              <a:lnSpc>
                <a:spcPct val="104000"/>
              </a:lnSpc>
              <a:spcBef>
                <a:spcPts val="0"/>
              </a:spcBef>
              <a:spcAft>
                <a:spcPts val="200"/>
              </a:spcAft>
              <a:defRPr sz="2100" b="1">
                <a:solidFill>
                  <a:srgbClr val="006E75"/>
                </a:solidFill>
                <a:latin typeface="Calibri"/>
              </a:defRPr>
            </a:pPr>
            <a:r>
              <a:t>›</a:t>
            </a:r>
          </a:p>
        </p:txBody>
      </p:sp>
      <p:sp>
        <p:nvSpPr>
          <p:cNvPr id="30" name="Rounded Rectangle 29"/>
          <p:cNvSpPr/>
          <p:nvPr/>
        </p:nvSpPr>
        <p:spPr>
          <a:xfrm>
            <a:off x="2932175" y="4014215"/>
            <a:ext cx="990599" cy="658368"/>
          </a:xfrm>
          <a:prstGeom prst="roundRect">
            <a:avLst>
              <a:gd name="adj" fmla="val 8000"/>
            </a:avLst>
          </a:prstGeom>
          <a:solidFill>
            <a:srgbClr val="E7F3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2996183" y="4078224"/>
            <a:ext cx="862583" cy="548640"/>
          </a:xfrm>
          <a:prstGeom prst="rect">
            <a:avLst/>
          </a:prstGeom>
          <a:noFill/>
        </p:spPr>
        <p:txBody>
          <a:bodyPr wrap="square" lIns="0" tIns="0" rIns="0" bIns="0">
            <a:spAutoFit/>
          </a:bodyPr>
          <a:lstStyle/>
          <a:p>
            <a:pPr algn="ctr">
              <a:lnSpc>
                <a:spcPct val="104000"/>
              </a:lnSpc>
              <a:spcBef>
                <a:spcPts val="0"/>
              </a:spcBef>
              <a:spcAft>
                <a:spcPts val="200"/>
              </a:spcAft>
              <a:defRPr sz="1400" b="1">
                <a:solidFill>
                  <a:srgbClr val="006E75"/>
                </a:solidFill>
                <a:latin typeface="Calibri"/>
              </a:defRPr>
            </a:pPr>
            <a:r>
              <a:t>Fewer misses; offline</a:t>
            </a:r>
          </a:p>
        </p:txBody>
      </p:sp>
      <p:sp>
        <p:nvSpPr>
          <p:cNvPr id="32" name="TextBox 31"/>
          <p:cNvSpPr txBox="1"/>
          <p:nvPr/>
        </p:nvSpPr>
        <p:spPr>
          <a:xfrm>
            <a:off x="640080" y="4873752"/>
            <a:ext cx="3200400" cy="228600"/>
          </a:xfrm>
          <a:prstGeom prst="rect">
            <a:avLst/>
          </a:prstGeom>
          <a:noFill/>
        </p:spPr>
        <p:txBody>
          <a:bodyPr wrap="square" lIns="0" tIns="0" rIns="0" bIns="0">
            <a:spAutoFit/>
          </a:bodyPr>
          <a:lstStyle/>
          <a:p>
            <a:pPr>
              <a:lnSpc>
                <a:spcPct val="104000"/>
              </a:lnSpc>
              <a:spcBef>
                <a:spcPts val="0"/>
              </a:spcBef>
              <a:spcAft>
                <a:spcPts val="200"/>
              </a:spcAft>
              <a:defRPr sz="1150" b="1">
                <a:solidFill>
                  <a:srgbClr val="006E75"/>
                </a:solidFill>
                <a:latin typeface="Calibri"/>
              </a:defRPr>
            </a:pPr>
            <a:r>
              <a:t>VALUE</a:t>
            </a:r>
          </a:p>
        </p:txBody>
      </p:sp>
      <p:sp>
        <p:nvSpPr>
          <p:cNvPr id="33" name="TextBox 32"/>
          <p:cNvSpPr txBox="1"/>
          <p:nvPr/>
        </p:nvSpPr>
        <p:spPr>
          <a:xfrm>
            <a:off x="640080" y="5120640"/>
            <a:ext cx="3246120" cy="484632"/>
          </a:xfrm>
          <a:prstGeom prst="rect">
            <a:avLst/>
          </a:prstGeom>
          <a:noFill/>
        </p:spPr>
        <p:txBody>
          <a:bodyPr wrap="square" lIns="0" tIns="0" rIns="0" bIns="0">
            <a:spAutoFit/>
          </a:bodyPr>
          <a:lstStyle/>
          <a:p>
            <a:pPr>
              <a:lnSpc>
                <a:spcPct val="104000"/>
              </a:lnSpc>
              <a:spcBef>
                <a:spcPts val="0"/>
              </a:spcBef>
              <a:spcAft>
                <a:spcPts val="200"/>
              </a:spcAft>
              <a:defRPr sz="1600" b="0">
                <a:solidFill>
                  <a:srgbClr val="243A49"/>
                </a:solidFill>
                <a:latin typeface="Calibri"/>
              </a:defRPr>
            </a:pPr>
            <a:r>
              <a:t>Consistency for any field inspector; no IT needed.</a:t>
            </a:r>
          </a:p>
        </p:txBody>
      </p:sp>
      <p:sp>
        <p:nvSpPr>
          <p:cNvPr id="34" name="TextBox 33"/>
          <p:cNvSpPr txBox="1"/>
          <p:nvPr/>
        </p:nvSpPr>
        <p:spPr>
          <a:xfrm>
            <a:off x="640080" y="5641848"/>
            <a:ext cx="3246120" cy="429768"/>
          </a:xfrm>
          <a:prstGeom prst="rect">
            <a:avLst/>
          </a:prstGeom>
          <a:noFill/>
        </p:spPr>
        <p:txBody>
          <a:bodyPr wrap="square" lIns="0" tIns="0" rIns="0" bIns="0">
            <a:spAutoFit/>
          </a:bodyPr>
          <a:lstStyle/>
          <a:p>
            <a:pPr>
              <a:lnSpc>
                <a:spcPct val="104000"/>
              </a:lnSpc>
              <a:spcBef>
                <a:spcPts val="0"/>
              </a:spcBef>
              <a:spcAft>
                <a:spcPts val="200"/>
              </a:spcAft>
              <a:defRPr sz="1450" b="0">
                <a:solidFill>
                  <a:srgbClr val="597080"/>
                </a:solidFill>
                <a:latin typeface="Calibri"/>
              </a:defRPr>
            </a:pPr>
            <a:r>
              <a:t>Assumption: misses come from forgetting, not reading. P2-A01.</a:t>
            </a:r>
          </a:p>
        </p:txBody>
      </p:sp>
      <p:sp>
        <p:nvSpPr>
          <p:cNvPr id="35" name="Rounded Rectangle 34"/>
          <p:cNvSpPr/>
          <p:nvPr/>
        </p:nvSpPr>
        <p:spPr>
          <a:xfrm>
            <a:off x="4279392" y="1828800"/>
            <a:ext cx="3630168" cy="4389120"/>
          </a:xfrm>
          <a:prstGeom prst="roundRect">
            <a:avLst>
              <a:gd name="adj" fmla="val 8000"/>
            </a:avLst>
          </a:prstGeom>
          <a:solidFill>
            <a:srgbClr val="FFFFFF"/>
          </a:solidFill>
          <a:ln w="8255">
            <a:solidFill>
              <a:srgbClr val="D7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ounded Rectangle 35"/>
          <p:cNvSpPr/>
          <p:nvPr/>
        </p:nvSpPr>
        <p:spPr>
          <a:xfrm>
            <a:off x="4279392" y="1828800"/>
            <a:ext cx="3630168" cy="429768"/>
          </a:xfrm>
          <a:prstGeom prst="roundRect">
            <a:avLst>
              <a:gd name="adj" fmla="val 8000"/>
            </a:avLst>
          </a:prstGeom>
          <a:solidFill>
            <a:srgbClr val="006E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4462272" y="1920240"/>
            <a:ext cx="3291840" cy="237744"/>
          </a:xfrm>
          <a:prstGeom prst="rect">
            <a:avLst/>
          </a:prstGeom>
          <a:noFill/>
        </p:spPr>
        <p:txBody>
          <a:bodyPr wrap="square" lIns="0" tIns="0" rIns="0" bIns="0">
            <a:spAutoFit/>
          </a:bodyPr>
          <a:lstStyle/>
          <a:p>
            <a:pPr>
              <a:lnSpc>
                <a:spcPct val="104000"/>
              </a:lnSpc>
              <a:spcBef>
                <a:spcPts val="0"/>
              </a:spcBef>
              <a:spcAft>
                <a:spcPts val="200"/>
              </a:spcAft>
              <a:defRPr sz="1500" b="1">
                <a:solidFill>
                  <a:srgbClr val="FFFFFF"/>
                </a:solidFill>
                <a:latin typeface="Calibri"/>
              </a:defRPr>
            </a:pPr>
            <a:r>
              <a:t>I02</a:t>
            </a:r>
          </a:p>
        </p:txBody>
      </p:sp>
      <p:sp>
        <p:nvSpPr>
          <p:cNvPr id="38" name="TextBox 37"/>
          <p:cNvSpPr txBox="1"/>
          <p:nvPr/>
        </p:nvSpPr>
        <p:spPr>
          <a:xfrm>
            <a:off x="4462272" y="2459736"/>
            <a:ext cx="3246120" cy="621792"/>
          </a:xfrm>
          <a:prstGeom prst="rect">
            <a:avLst/>
          </a:prstGeom>
          <a:noFill/>
        </p:spPr>
        <p:txBody>
          <a:bodyPr wrap="square" lIns="0" tIns="0" rIns="0" bIns="0">
            <a:spAutoFit/>
          </a:bodyPr>
          <a:lstStyle/>
          <a:p>
            <a:pPr>
              <a:lnSpc>
                <a:spcPct val="104000"/>
              </a:lnSpc>
              <a:spcBef>
                <a:spcPts val="0"/>
              </a:spcBef>
              <a:spcAft>
                <a:spcPts val="200"/>
              </a:spcAft>
              <a:defRPr sz="2300" b="1">
                <a:solidFill>
                  <a:srgbClr val="153347"/>
                </a:solidFill>
                <a:latin typeface="Calibri"/>
              </a:defRPr>
            </a:pPr>
            <a:r>
              <a:t>Photo-to-checklist assistant</a:t>
            </a:r>
          </a:p>
        </p:txBody>
      </p:sp>
      <p:sp>
        <p:nvSpPr>
          <p:cNvPr id="39" name="TextBox 38"/>
          <p:cNvSpPr txBox="1"/>
          <p:nvPr/>
        </p:nvSpPr>
        <p:spPr>
          <a:xfrm>
            <a:off x="4462272" y="3209544"/>
            <a:ext cx="3246120" cy="658368"/>
          </a:xfrm>
          <a:prstGeom prst="rect">
            <a:avLst/>
          </a:prstGeom>
          <a:noFill/>
        </p:spPr>
        <p:txBody>
          <a:bodyPr wrap="square" lIns="0" tIns="0" rIns="0" bIns="0">
            <a:spAutoFit/>
          </a:bodyPr>
          <a:lstStyle/>
          <a:p>
            <a:pPr>
              <a:lnSpc>
                <a:spcPct val="104000"/>
              </a:lnSpc>
              <a:spcBef>
                <a:spcPts val="0"/>
              </a:spcBef>
              <a:spcAft>
                <a:spcPts val="200"/>
              </a:spcAft>
              <a:defRPr sz="1700" b="0">
                <a:solidFill>
                  <a:srgbClr val="243A49"/>
                </a:solidFill>
                <a:latin typeface="Calibri"/>
              </a:defRPr>
            </a:pPr>
            <a:r>
              <a:t>OCR reads the pack photo; missing or uncertain declarations are flagged for the inspector.</a:t>
            </a:r>
          </a:p>
        </p:txBody>
      </p:sp>
      <p:sp>
        <p:nvSpPr>
          <p:cNvPr id="40" name="Rounded Rectangle 39"/>
          <p:cNvSpPr/>
          <p:nvPr/>
        </p:nvSpPr>
        <p:spPr>
          <a:xfrm>
            <a:off x="4443983" y="4014215"/>
            <a:ext cx="990599" cy="658368"/>
          </a:xfrm>
          <a:prstGeom prst="roundRect">
            <a:avLst>
              <a:gd name="adj" fmla="val 8000"/>
            </a:avLst>
          </a:prstGeom>
          <a:solidFill>
            <a:srgbClr val="E7F3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4507992" y="4078224"/>
            <a:ext cx="862583" cy="548640"/>
          </a:xfrm>
          <a:prstGeom prst="rect">
            <a:avLst/>
          </a:prstGeom>
          <a:noFill/>
        </p:spPr>
        <p:txBody>
          <a:bodyPr wrap="square" lIns="0" tIns="0" rIns="0" bIns="0">
            <a:spAutoFit/>
          </a:bodyPr>
          <a:lstStyle/>
          <a:p>
            <a:pPr algn="ctr">
              <a:lnSpc>
                <a:spcPct val="104000"/>
              </a:lnSpc>
              <a:spcBef>
                <a:spcPts val="0"/>
              </a:spcBef>
              <a:spcAft>
                <a:spcPts val="200"/>
              </a:spcAft>
              <a:defRPr sz="1400" b="1">
                <a:solidFill>
                  <a:srgbClr val="006E75"/>
                </a:solidFill>
                <a:latin typeface="Calibri"/>
              </a:defRPr>
            </a:pPr>
            <a:r>
              <a:t>Photograph pack</a:t>
            </a:r>
          </a:p>
        </p:txBody>
      </p:sp>
      <p:sp>
        <p:nvSpPr>
          <p:cNvPr id="42" name="TextBox 41"/>
          <p:cNvSpPr txBox="1"/>
          <p:nvPr/>
        </p:nvSpPr>
        <p:spPr>
          <a:xfrm>
            <a:off x="5434583" y="4142231"/>
            <a:ext cx="164592" cy="338328"/>
          </a:xfrm>
          <a:prstGeom prst="rect">
            <a:avLst/>
          </a:prstGeom>
          <a:noFill/>
        </p:spPr>
        <p:txBody>
          <a:bodyPr wrap="square" lIns="0" tIns="0" rIns="0" bIns="0">
            <a:spAutoFit/>
          </a:bodyPr>
          <a:lstStyle/>
          <a:p>
            <a:pPr algn="ctr">
              <a:lnSpc>
                <a:spcPct val="104000"/>
              </a:lnSpc>
              <a:spcBef>
                <a:spcPts val="0"/>
              </a:spcBef>
              <a:spcAft>
                <a:spcPts val="200"/>
              </a:spcAft>
              <a:defRPr sz="2100" b="1">
                <a:solidFill>
                  <a:srgbClr val="006E75"/>
                </a:solidFill>
                <a:latin typeface="Calibri"/>
              </a:defRPr>
            </a:pPr>
            <a:r>
              <a:t>›</a:t>
            </a:r>
          </a:p>
        </p:txBody>
      </p:sp>
      <p:sp>
        <p:nvSpPr>
          <p:cNvPr id="43" name="Rounded Rectangle 42"/>
          <p:cNvSpPr/>
          <p:nvPr/>
        </p:nvSpPr>
        <p:spPr>
          <a:xfrm>
            <a:off x="5599176" y="4014215"/>
            <a:ext cx="990599" cy="658368"/>
          </a:xfrm>
          <a:prstGeom prst="roundRect">
            <a:avLst>
              <a:gd name="adj" fmla="val 8000"/>
            </a:avLst>
          </a:prstGeom>
          <a:solidFill>
            <a:srgbClr val="E7F3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5663184" y="4078224"/>
            <a:ext cx="862583" cy="548640"/>
          </a:xfrm>
          <a:prstGeom prst="rect">
            <a:avLst/>
          </a:prstGeom>
          <a:noFill/>
        </p:spPr>
        <p:txBody>
          <a:bodyPr wrap="square" lIns="0" tIns="0" rIns="0" bIns="0">
            <a:spAutoFit/>
          </a:bodyPr>
          <a:lstStyle/>
          <a:p>
            <a:pPr algn="ctr">
              <a:lnSpc>
                <a:spcPct val="104000"/>
              </a:lnSpc>
              <a:spcBef>
                <a:spcPts val="0"/>
              </a:spcBef>
              <a:spcAft>
                <a:spcPts val="200"/>
              </a:spcAft>
              <a:defRPr sz="1400" b="1">
                <a:solidFill>
                  <a:srgbClr val="006E75"/>
                </a:solidFill>
                <a:latin typeface="Calibri"/>
              </a:defRPr>
            </a:pPr>
            <a:r>
              <a:t>Flag missing / unreadable</a:t>
            </a:r>
          </a:p>
        </p:txBody>
      </p:sp>
      <p:sp>
        <p:nvSpPr>
          <p:cNvPr id="45" name="TextBox 44"/>
          <p:cNvSpPr txBox="1"/>
          <p:nvPr/>
        </p:nvSpPr>
        <p:spPr>
          <a:xfrm>
            <a:off x="6589775" y="4142231"/>
            <a:ext cx="164592" cy="338328"/>
          </a:xfrm>
          <a:prstGeom prst="rect">
            <a:avLst/>
          </a:prstGeom>
          <a:noFill/>
        </p:spPr>
        <p:txBody>
          <a:bodyPr wrap="square" lIns="0" tIns="0" rIns="0" bIns="0">
            <a:spAutoFit/>
          </a:bodyPr>
          <a:lstStyle/>
          <a:p>
            <a:pPr algn="ctr">
              <a:lnSpc>
                <a:spcPct val="104000"/>
              </a:lnSpc>
              <a:spcBef>
                <a:spcPts val="0"/>
              </a:spcBef>
              <a:spcAft>
                <a:spcPts val="200"/>
              </a:spcAft>
              <a:defRPr sz="2100" b="1">
                <a:solidFill>
                  <a:srgbClr val="006E75"/>
                </a:solidFill>
                <a:latin typeface="Calibri"/>
              </a:defRPr>
            </a:pPr>
            <a:r>
              <a:t>›</a:t>
            </a:r>
          </a:p>
        </p:txBody>
      </p:sp>
      <p:sp>
        <p:nvSpPr>
          <p:cNvPr id="46" name="Rounded Rectangle 45"/>
          <p:cNvSpPr/>
          <p:nvPr/>
        </p:nvSpPr>
        <p:spPr>
          <a:xfrm>
            <a:off x="6754367" y="4014215"/>
            <a:ext cx="990599" cy="658368"/>
          </a:xfrm>
          <a:prstGeom prst="roundRect">
            <a:avLst>
              <a:gd name="adj" fmla="val 8000"/>
            </a:avLst>
          </a:prstGeom>
          <a:solidFill>
            <a:srgbClr val="E7F3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6818375" y="4078224"/>
            <a:ext cx="862583" cy="548640"/>
          </a:xfrm>
          <a:prstGeom prst="rect">
            <a:avLst/>
          </a:prstGeom>
          <a:noFill/>
        </p:spPr>
        <p:txBody>
          <a:bodyPr wrap="square" lIns="0" tIns="0" rIns="0" bIns="0">
            <a:spAutoFit/>
          </a:bodyPr>
          <a:lstStyle/>
          <a:p>
            <a:pPr algn="ctr">
              <a:lnSpc>
                <a:spcPct val="104000"/>
              </a:lnSpc>
              <a:spcBef>
                <a:spcPts val="0"/>
              </a:spcBef>
              <a:spcAft>
                <a:spcPts val="200"/>
              </a:spcAft>
              <a:defRPr sz="1400" b="1">
                <a:solidFill>
                  <a:srgbClr val="006E75"/>
                </a:solidFill>
                <a:latin typeface="Calibri"/>
              </a:defRPr>
            </a:pPr>
            <a:r>
              <a:t>Confirm; report drafted</a:t>
            </a:r>
          </a:p>
        </p:txBody>
      </p:sp>
      <p:sp>
        <p:nvSpPr>
          <p:cNvPr id="48" name="TextBox 47"/>
          <p:cNvSpPr txBox="1"/>
          <p:nvPr/>
        </p:nvSpPr>
        <p:spPr>
          <a:xfrm>
            <a:off x="4462272" y="4873752"/>
            <a:ext cx="3200400" cy="228600"/>
          </a:xfrm>
          <a:prstGeom prst="rect">
            <a:avLst/>
          </a:prstGeom>
          <a:noFill/>
        </p:spPr>
        <p:txBody>
          <a:bodyPr wrap="square" lIns="0" tIns="0" rIns="0" bIns="0">
            <a:spAutoFit/>
          </a:bodyPr>
          <a:lstStyle/>
          <a:p>
            <a:pPr>
              <a:lnSpc>
                <a:spcPct val="104000"/>
              </a:lnSpc>
              <a:spcBef>
                <a:spcPts val="0"/>
              </a:spcBef>
              <a:spcAft>
                <a:spcPts val="200"/>
              </a:spcAft>
              <a:defRPr sz="1150" b="1">
                <a:solidFill>
                  <a:srgbClr val="006E75"/>
                </a:solidFill>
                <a:latin typeface="Calibri"/>
              </a:defRPr>
            </a:pPr>
            <a:r>
              <a:t>VALUE</a:t>
            </a:r>
          </a:p>
        </p:txBody>
      </p:sp>
      <p:sp>
        <p:nvSpPr>
          <p:cNvPr id="49" name="TextBox 48"/>
          <p:cNvSpPr txBox="1"/>
          <p:nvPr/>
        </p:nvSpPr>
        <p:spPr>
          <a:xfrm>
            <a:off x="4462272" y="5120640"/>
            <a:ext cx="3246120" cy="484632"/>
          </a:xfrm>
          <a:prstGeom prst="rect">
            <a:avLst/>
          </a:prstGeom>
          <a:noFill/>
        </p:spPr>
        <p:txBody>
          <a:bodyPr wrap="square" lIns="0" tIns="0" rIns="0" bIns="0">
            <a:spAutoFit/>
          </a:bodyPr>
          <a:lstStyle/>
          <a:p>
            <a:pPr>
              <a:lnSpc>
                <a:spcPct val="104000"/>
              </a:lnSpc>
              <a:spcBef>
                <a:spcPts val="0"/>
              </a:spcBef>
              <a:spcAft>
                <a:spcPts val="200"/>
              </a:spcAft>
              <a:defRPr sz="1600" b="0">
                <a:solidFill>
                  <a:srgbClr val="243A49"/>
                </a:solidFill>
                <a:latin typeface="Calibri"/>
              </a:defRPr>
            </a:pPr>
            <a:r>
              <a:t>Faster, evidence attached; field inspector.</a:t>
            </a:r>
          </a:p>
        </p:txBody>
      </p:sp>
      <p:sp>
        <p:nvSpPr>
          <p:cNvPr id="50" name="TextBox 49"/>
          <p:cNvSpPr txBox="1"/>
          <p:nvPr/>
        </p:nvSpPr>
        <p:spPr>
          <a:xfrm>
            <a:off x="4462272" y="5641848"/>
            <a:ext cx="3246120" cy="429768"/>
          </a:xfrm>
          <a:prstGeom prst="rect">
            <a:avLst/>
          </a:prstGeom>
          <a:noFill/>
        </p:spPr>
        <p:txBody>
          <a:bodyPr wrap="square" lIns="0" tIns="0" rIns="0" bIns="0">
            <a:spAutoFit/>
          </a:bodyPr>
          <a:lstStyle/>
          <a:p>
            <a:pPr>
              <a:lnSpc>
                <a:spcPct val="104000"/>
              </a:lnSpc>
              <a:spcBef>
                <a:spcPts val="0"/>
              </a:spcBef>
              <a:spcAft>
                <a:spcPts val="200"/>
              </a:spcAft>
              <a:defRPr sz="1450" b="0">
                <a:solidFill>
                  <a:srgbClr val="597080"/>
                </a:solidFill>
                <a:latin typeface="Calibri"/>
              </a:defRPr>
            </a:pPr>
            <a:r>
              <a:t>Assumption: OCR reads curved, multilingual labels well enough. P2-A02.</a:t>
            </a:r>
          </a:p>
        </p:txBody>
      </p:sp>
      <p:sp>
        <p:nvSpPr>
          <p:cNvPr id="51" name="Rounded Rectangle 50"/>
          <p:cNvSpPr/>
          <p:nvPr/>
        </p:nvSpPr>
        <p:spPr>
          <a:xfrm>
            <a:off x="8101583" y="1828800"/>
            <a:ext cx="3630168" cy="4389120"/>
          </a:xfrm>
          <a:prstGeom prst="roundRect">
            <a:avLst>
              <a:gd name="adj" fmla="val 8000"/>
            </a:avLst>
          </a:prstGeom>
          <a:solidFill>
            <a:srgbClr val="FFFFFF"/>
          </a:solidFill>
          <a:ln w="8255">
            <a:solidFill>
              <a:srgbClr val="D7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ounded Rectangle 51"/>
          <p:cNvSpPr/>
          <p:nvPr/>
        </p:nvSpPr>
        <p:spPr>
          <a:xfrm>
            <a:off x="8101583" y="1828800"/>
            <a:ext cx="3630168" cy="429768"/>
          </a:xfrm>
          <a:prstGeom prst="roundRect">
            <a:avLst>
              <a:gd name="adj" fmla="val 8000"/>
            </a:avLst>
          </a:prstGeom>
          <a:solidFill>
            <a:srgbClr val="006E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8284463" y="1920240"/>
            <a:ext cx="3291840" cy="237744"/>
          </a:xfrm>
          <a:prstGeom prst="rect">
            <a:avLst/>
          </a:prstGeom>
          <a:noFill/>
        </p:spPr>
        <p:txBody>
          <a:bodyPr wrap="square" lIns="0" tIns="0" rIns="0" bIns="0">
            <a:spAutoFit/>
          </a:bodyPr>
          <a:lstStyle/>
          <a:p>
            <a:pPr>
              <a:lnSpc>
                <a:spcPct val="104000"/>
              </a:lnSpc>
              <a:spcBef>
                <a:spcPts val="0"/>
              </a:spcBef>
              <a:spcAft>
                <a:spcPts val="200"/>
              </a:spcAft>
              <a:defRPr sz="1500" b="1">
                <a:solidFill>
                  <a:srgbClr val="FFFFFF"/>
                </a:solidFill>
                <a:latin typeface="Calibri"/>
              </a:defRPr>
            </a:pPr>
            <a:r>
              <a:t>I03</a:t>
            </a:r>
          </a:p>
        </p:txBody>
      </p:sp>
      <p:sp>
        <p:nvSpPr>
          <p:cNvPr id="54" name="TextBox 53"/>
          <p:cNvSpPr txBox="1"/>
          <p:nvPr/>
        </p:nvSpPr>
        <p:spPr>
          <a:xfrm>
            <a:off x="8284463" y="2459736"/>
            <a:ext cx="3246120" cy="621792"/>
          </a:xfrm>
          <a:prstGeom prst="rect">
            <a:avLst/>
          </a:prstGeom>
          <a:noFill/>
        </p:spPr>
        <p:txBody>
          <a:bodyPr wrap="square" lIns="0" tIns="0" rIns="0" bIns="0">
            <a:spAutoFit/>
          </a:bodyPr>
          <a:lstStyle/>
          <a:p>
            <a:pPr>
              <a:lnSpc>
                <a:spcPct val="104000"/>
              </a:lnSpc>
              <a:spcBef>
                <a:spcPts val="0"/>
              </a:spcBef>
              <a:spcAft>
                <a:spcPts val="200"/>
              </a:spcAft>
              <a:defRPr sz="2300" b="1">
                <a:solidFill>
                  <a:srgbClr val="153347"/>
                </a:solidFill>
                <a:latin typeface="Calibri"/>
              </a:defRPr>
            </a:pPr>
            <a:r>
              <a:t>Shared verified-label registry</a:t>
            </a:r>
          </a:p>
        </p:txBody>
      </p:sp>
      <p:sp>
        <p:nvSpPr>
          <p:cNvPr id="55" name="TextBox 54"/>
          <p:cNvSpPr txBox="1"/>
          <p:nvPr/>
        </p:nvSpPr>
        <p:spPr>
          <a:xfrm>
            <a:off x="8284463" y="3209544"/>
            <a:ext cx="3246120" cy="658368"/>
          </a:xfrm>
          <a:prstGeom prst="rect">
            <a:avLst/>
          </a:prstGeom>
          <a:noFill/>
        </p:spPr>
        <p:txBody>
          <a:bodyPr wrap="square" lIns="0" tIns="0" rIns="0" bIns="0">
            <a:spAutoFit/>
          </a:bodyPr>
          <a:lstStyle/>
          <a:p>
            <a:pPr>
              <a:lnSpc>
                <a:spcPct val="104000"/>
              </a:lnSpc>
              <a:spcBef>
                <a:spcPts val="0"/>
              </a:spcBef>
              <a:spcAft>
                <a:spcPts val="200"/>
              </a:spcAft>
              <a:defRPr sz="1700" b="0">
                <a:solidFill>
                  <a:srgbClr val="243A49"/>
                </a:solidFill>
                <a:latin typeface="Calibri"/>
              </a:defRPr>
            </a:pPr>
            <a:r>
              <a:t>Once a label is verified, other inspectors reuse it and check only MRP sticker and batch.</a:t>
            </a:r>
          </a:p>
        </p:txBody>
      </p:sp>
      <p:sp>
        <p:nvSpPr>
          <p:cNvPr id="56" name="Rounded Rectangle 55"/>
          <p:cNvSpPr/>
          <p:nvPr/>
        </p:nvSpPr>
        <p:spPr>
          <a:xfrm>
            <a:off x="8266175" y="4014215"/>
            <a:ext cx="990599" cy="658368"/>
          </a:xfrm>
          <a:prstGeom prst="roundRect">
            <a:avLst>
              <a:gd name="adj" fmla="val 8000"/>
            </a:avLst>
          </a:prstGeom>
          <a:solidFill>
            <a:srgbClr val="E7F3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8330183" y="4078224"/>
            <a:ext cx="862583" cy="548640"/>
          </a:xfrm>
          <a:prstGeom prst="rect">
            <a:avLst/>
          </a:prstGeom>
          <a:noFill/>
        </p:spPr>
        <p:txBody>
          <a:bodyPr wrap="square" lIns="0" tIns="0" rIns="0" bIns="0">
            <a:spAutoFit/>
          </a:bodyPr>
          <a:lstStyle/>
          <a:p>
            <a:pPr algn="ctr">
              <a:lnSpc>
                <a:spcPct val="104000"/>
              </a:lnSpc>
              <a:spcBef>
                <a:spcPts val="0"/>
              </a:spcBef>
              <a:spcAft>
                <a:spcPts val="200"/>
              </a:spcAft>
              <a:defRPr sz="1400" b="1">
                <a:solidFill>
                  <a:srgbClr val="006E75"/>
                </a:solidFill>
                <a:latin typeface="Calibri"/>
              </a:defRPr>
            </a:pPr>
            <a:r>
              <a:t>Scan barcode</a:t>
            </a:r>
          </a:p>
        </p:txBody>
      </p:sp>
      <p:sp>
        <p:nvSpPr>
          <p:cNvPr id="58" name="TextBox 57"/>
          <p:cNvSpPr txBox="1"/>
          <p:nvPr/>
        </p:nvSpPr>
        <p:spPr>
          <a:xfrm>
            <a:off x="9256776" y="4142231"/>
            <a:ext cx="164592" cy="338328"/>
          </a:xfrm>
          <a:prstGeom prst="rect">
            <a:avLst/>
          </a:prstGeom>
          <a:noFill/>
        </p:spPr>
        <p:txBody>
          <a:bodyPr wrap="square" lIns="0" tIns="0" rIns="0" bIns="0">
            <a:spAutoFit/>
          </a:bodyPr>
          <a:lstStyle/>
          <a:p>
            <a:pPr algn="ctr">
              <a:lnSpc>
                <a:spcPct val="104000"/>
              </a:lnSpc>
              <a:spcBef>
                <a:spcPts val="0"/>
              </a:spcBef>
              <a:spcAft>
                <a:spcPts val="200"/>
              </a:spcAft>
              <a:defRPr sz="2100" b="1">
                <a:solidFill>
                  <a:srgbClr val="006E75"/>
                </a:solidFill>
                <a:latin typeface="Calibri"/>
              </a:defRPr>
            </a:pPr>
            <a:r>
              <a:t>›</a:t>
            </a:r>
          </a:p>
        </p:txBody>
      </p:sp>
      <p:sp>
        <p:nvSpPr>
          <p:cNvPr id="59" name="Rounded Rectangle 58"/>
          <p:cNvSpPr/>
          <p:nvPr/>
        </p:nvSpPr>
        <p:spPr>
          <a:xfrm>
            <a:off x="9421368" y="4014215"/>
            <a:ext cx="990599" cy="658368"/>
          </a:xfrm>
          <a:prstGeom prst="roundRect">
            <a:avLst>
              <a:gd name="adj" fmla="val 8000"/>
            </a:avLst>
          </a:prstGeom>
          <a:solidFill>
            <a:srgbClr val="E7F3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9485376" y="4078224"/>
            <a:ext cx="862583" cy="548640"/>
          </a:xfrm>
          <a:prstGeom prst="rect">
            <a:avLst/>
          </a:prstGeom>
          <a:noFill/>
        </p:spPr>
        <p:txBody>
          <a:bodyPr wrap="square" lIns="0" tIns="0" rIns="0" bIns="0">
            <a:spAutoFit/>
          </a:bodyPr>
          <a:lstStyle/>
          <a:p>
            <a:pPr algn="ctr">
              <a:lnSpc>
                <a:spcPct val="104000"/>
              </a:lnSpc>
              <a:spcBef>
                <a:spcPts val="0"/>
              </a:spcBef>
              <a:spcAft>
                <a:spcPts val="200"/>
              </a:spcAft>
              <a:defRPr sz="1400" b="1">
                <a:solidFill>
                  <a:srgbClr val="006E75"/>
                </a:solidFill>
                <a:latin typeface="Calibri"/>
              </a:defRPr>
            </a:pPr>
            <a:r>
              <a:t>Fetch earlier result</a:t>
            </a:r>
          </a:p>
        </p:txBody>
      </p:sp>
      <p:sp>
        <p:nvSpPr>
          <p:cNvPr id="61" name="TextBox 60"/>
          <p:cNvSpPr txBox="1"/>
          <p:nvPr/>
        </p:nvSpPr>
        <p:spPr>
          <a:xfrm>
            <a:off x="10411968" y="4142231"/>
            <a:ext cx="164592" cy="338328"/>
          </a:xfrm>
          <a:prstGeom prst="rect">
            <a:avLst/>
          </a:prstGeom>
          <a:noFill/>
        </p:spPr>
        <p:txBody>
          <a:bodyPr wrap="square" lIns="0" tIns="0" rIns="0" bIns="0">
            <a:spAutoFit/>
          </a:bodyPr>
          <a:lstStyle/>
          <a:p>
            <a:pPr algn="ctr">
              <a:lnSpc>
                <a:spcPct val="104000"/>
              </a:lnSpc>
              <a:spcBef>
                <a:spcPts val="0"/>
              </a:spcBef>
              <a:spcAft>
                <a:spcPts val="200"/>
              </a:spcAft>
              <a:defRPr sz="2100" b="1">
                <a:solidFill>
                  <a:srgbClr val="006E75"/>
                </a:solidFill>
                <a:latin typeface="Calibri"/>
              </a:defRPr>
            </a:pPr>
            <a:r>
              <a:t>›</a:t>
            </a:r>
          </a:p>
        </p:txBody>
      </p:sp>
      <p:sp>
        <p:nvSpPr>
          <p:cNvPr id="62" name="Rounded Rectangle 61"/>
          <p:cNvSpPr/>
          <p:nvPr/>
        </p:nvSpPr>
        <p:spPr>
          <a:xfrm>
            <a:off x="10576560" y="4014215"/>
            <a:ext cx="990599" cy="658368"/>
          </a:xfrm>
          <a:prstGeom prst="roundRect">
            <a:avLst>
              <a:gd name="adj" fmla="val 8000"/>
            </a:avLst>
          </a:prstGeom>
          <a:solidFill>
            <a:srgbClr val="E7F3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10640568" y="4078224"/>
            <a:ext cx="862583" cy="548640"/>
          </a:xfrm>
          <a:prstGeom prst="rect">
            <a:avLst/>
          </a:prstGeom>
          <a:noFill/>
        </p:spPr>
        <p:txBody>
          <a:bodyPr wrap="square" lIns="0" tIns="0" rIns="0" bIns="0">
            <a:spAutoFit/>
          </a:bodyPr>
          <a:lstStyle/>
          <a:p>
            <a:pPr algn="ctr">
              <a:lnSpc>
                <a:spcPct val="104000"/>
              </a:lnSpc>
              <a:spcBef>
                <a:spcPts val="0"/>
              </a:spcBef>
              <a:spcAft>
                <a:spcPts val="200"/>
              </a:spcAft>
              <a:defRPr sz="1400" b="1">
                <a:solidFill>
                  <a:srgbClr val="006E75"/>
                </a:solidFill>
                <a:latin typeface="Calibri"/>
              </a:defRPr>
            </a:pPr>
            <a:r>
              <a:t>Check only what varies</a:t>
            </a:r>
          </a:p>
        </p:txBody>
      </p:sp>
      <p:sp>
        <p:nvSpPr>
          <p:cNvPr id="64" name="TextBox 63"/>
          <p:cNvSpPr txBox="1"/>
          <p:nvPr/>
        </p:nvSpPr>
        <p:spPr>
          <a:xfrm>
            <a:off x="8284463" y="4873752"/>
            <a:ext cx="3200400" cy="228600"/>
          </a:xfrm>
          <a:prstGeom prst="rect">
            <a:avLst/>
          </a:prstGeom>
          <a:noFill/>
        </p:spPr>
        <p:txBody>
          <a:bodyPr wrap="square" lIns="0" tIns="0" rIns="0" bIns="0">
            <a:spAutoFit/>
          </a:bodyPr>
          <a:lstStyle/>
          <a:p>
            <a:pPr>
              <a:lnSpc>
                <a:spcPct val="104000"/>
              </a:lnSpc>
              <a:spcBef>
                <a:spcPts val="0"/>
              </a:spcBef>
              <a:spcAft>
                <a:spcPts val="200"/>
              </a:spcAft>
              <a:defRPr sz="1150" b="1">
                <a:solidFill>
                  <a:srgbClr val="006E75"/>
                </a:solidFill>
                <a:latin typeface="Calibri"/>
              </a:defRPr>
            </a:pPr>
            <a:r>
              <a:t>VALUE</a:t>
            </a:r>
          </a:p>
        </p:txBody>
      </p:sp>
      <p:sp>
        <p:nvSpPr>
          <p:cNvPr id="65" name="TextBox 64"/>
          <p:cNvSpPr txBox="1"/>
          <p:nvPr/>
        </p:nvSpPr>
        <p:spPr>
          <a:xfrm>
            <a:off x="8284463" y="5120640"/>
            <a:ext cx="3246120" cy="484632"/>
          </a:xfrm>
          <a:prstGeom prst="rect">
            <a:avLst/>
          </a:prstGeom>
          <a:noFill/>
        </p:spPr>
        <p:txBody>
          <a:bodyPr wrap="square" lIns="0" tIns="0" rIns="0" bIns="0">
            <a:spAutoFit/>
          </a:bodyPr>
          <a:lstStyle/>
          <a:p>
            <a:pPr>
              <a:lnSpc>
                <a:spcPct val="104000"/>
              </a:lnSpc>
              <a:spcBef>
                <a:spcPts val="0"/>
              </a:spcBef>
              <a:spcAft>
                <a:spcPts val="200"/>
              </a:spcAft>
              <a:defRPr sz="1600" b="0">
                <a:solidFill>
                  <a:srgbClr val="243A49"/>
                </a:solidFill>
                <a:latin typeface="Calibri"/>
              </a:defRPr>
            </a:pPr>
            <a:r>
              <a:t>Removes repeat checks across shops; inspectors, department.</a:t>
            </a:r>
          </a:p>
        </p:txBody>
      </p:sp>
      <p:sp>
        <p:nvSpPr>
          <p:cNvPr id="66" name="TextBox 65"/>
          <p:cNvSpPr txBox="1"/>
          <p:nvPr/>
        </p:nvSpPr>
        <p:spPr>
          <a:xfrm>
            <a:off x="8284463" y="5641848"/>
            <a:ext cx="3246120" cy="429768"/>
          </a:xfrm>
          <a:prstGeom prst="rect">
            <a:avLst/>
          </a:prstGeom>
          <a:noFill/>
        </p:spPr>
        <p:txBody>
          <a:bodyPr wrap="square" lIns="0" tIns="0" rIns="0" bIns="0">
            <a:spAutoFit/>
          </a:bodyPr>
          <a:lstStyle/>
          <a:p>
            <a:pPr>
              <a:lnSpc>
                <a:spcPct val="104000"/>
              </a:lnSpc>
              <a:spcBef>
                <a:spcPts val="0"/>
              </a:spcBef>
              <a:spcAft>
                <a:spcPts val="200"/>
              </a:spcAft>
              <a:defRPr sz="1450" b="0">
                <a:solidFill>
                  <a:srgbClr val="597080"/>
                </a:solidFill>
                <a:latin typeface="Calibri"/>
              </a:defRPr>
            </a:pPr>
            <a:r>
              <a:t>Assumption: labels are stable and the department will host a shared record. P2-A03.</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8FA"/>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91440"/>
          </a:xfrm>
          <a:prstGeom prst="rect">
            <a:avLst/>
          </a:prstGeom>
          <a:solidFill>
            <a:srgbClr val="006E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19456"/>
            <a:ext cx="7315200" cy="228600"/>
          </a:xfrm>
          <a:prstGeom prst="rect">
            <a:avLst/>
          </a:prstGeom>
          <a:noFill/>
        </p:spPr>
        <p:txBody>
          <a:bodyPr wrap="square" lIns="0" tIns="0" rIns="0" bIns="0">
            <a:spAutoFit/>
          </a:bodyPr>
          <a:lstStyle/>
          <a:p>
            <a:pPr>
              <a:lnSpc>
                <a:spcPct val="104000"/>
              </a:lnSpc>
              <a:spcBef>
                <a:spcPts val="0"/>
              </a:spcBef>
              <a:spcAft>
                <a:spcPts val="200"/>
              </a:spcAft>
              <a:defRPr sz="1150" b="1">
                <a:solidFill>
                  <a:srgbClr val="006E75"/>
                </a:solidFill>
                <a:latin typeface="Calibri"/>
              </a:defRPr>
            </a:pPr>
            <a:r>
              <a:t>SCHOOL OF INNOVATION  |  KGISL INSTITUTE OF TECHNOLOGY</a:t>
            </a:r>
          </a:p>
        </p:txBody>
      </p:sp>
      <p:sp>
        <p:nvSpPr>
          <p:cNvPr id="4" name="Rounded Rectangle 3"/>
          <p:cNvSpPr/>
          <p:nvPr/>
        </p:nvSpPr>
        <p:spPr>
          <a:xfrm>
            <a:off x="8458200" y="210312"/>
            <a:ext cx="768096" cy="237744"/>
          </a:xfrm>
          <a:prstGeom prst="roundRect">
            <a:avLst>
              <a:gd name="adj" fmla="val 8000"/>
            </a:avLst>
          </a:prstGeom>
          <a:solidFill>
            <a:srgbClr val="D7E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458200" y="246888"/>
            <a:ext cx="768096" cy="128016"/>
          </a:xfrm>
          <a:prstGeom prst="rect">
            <a:avLst/>
          </a:prstGeom>
          <a:noFill/>
        </p:spPr>
        <p:txBody>
          <a:bodyPr wrap="square" lIns="0" tIns="0" rIns="0" bIns="0">
            <a:spAutoFit/>
          </a:bodyPr>
          <a:lstStyle/>
          <a:p>
            <a:pPr algn="ctr">
              <a:lnSpc>
                <a:spcPct val="104000"/>
              </a:lnSpc>
              <a:spcBef>
                <a:spcPts val="0"/>
              </a:spcBef>
              <a:spcAft>
                <a:spcPts val="200"/>
              </a:spcAft>
              <a:defRPr sz="880" b="1">
                <a:solidFill>
                  <a:srgbClr val="597080"/>
                </a:solidFill>
                <a:latin typeface="Calibri"/>
              </a:defRPr>
            </a:pPr>
            <a:r>
              <a:t>FRAME</a:t>
            </a:r>
          </a:p>
        </p:txBody>
      </p:sp>
      <p:sp>
        <p:nvSpPr>
          <p:cNvPr id="6" name="Rounded Rectangle 5"/>
          <p:cNvSpPr/>
          <p:nvPr/>
        </p:nvSpPr>
        <p:spPr>
          <a:xfrm>
            <a:off x="9281160" y="210312"/>
            <a:ext cx="768096" cy="237744"/>
          </a:xfrm>
          <a:prstGeom prst="roundRect">
            <a:avLst>
              <a:gd name="adj" fmla="val 8000"/>
            </a:avLst>
          </a:prstGeom>
          <a:solidFill>
            <a:srgbClr val="006E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281160" y="246888"/>
            <a:ext cx="768096" cy="128016"/>
          </a:xfrm>
          <a:prstGeom prst="rect">
            <a:avLst/>
          </a:prstGeom>
          <a:noFill/>
        </p:spPr>
        <p:txBody>
          <a:bodyPr wrap="square" lIns="0" tIns="0" rIns="0" bIns="0">
            <a:spAutoFit/>
          </a:bodyPr>
          <a:lstStyle/>
          <a:p>
            <a:pPr algn="ctr">
              <a:lnSpc>
                <a:spcPct val="104000"/>
              </a:lnSpc>
              <a:spcBef>
                <a:spcPts val="0"/>
              </a:spcBef>
              <a:spcAft>
                <a:spcPts val="200"/>
              </a:spcAft>
              <a:defRPr sz="880" b="1">
                <a:solidFill>
                  <a:srgbClr val="FFFFFF"/>
                </a:solidFill>
                <a:latin typeface="Calibri"/>
              </a:defRPr>
            </a:pPr>
            <a:r>
              <a:t>EXPLORE</a:t>
            </a:r>
          </a:p>
        </p:txBody>
      </p:sp>
      <p:sp>
        <p:nvSpPr>
          <p:cNvPr id="8" name="Rounded Rectangle 7"/>
          <p:cNvSpPr/>
          <p:nvPr/>
        </p:nvSpPr>
        <p:spPr>
          <a:xfrm>
            <a:off x="10104120" y="210312"/>
            <a:ext cx="768096" cy="237744"/>
          </a:xfrm>
          <a:prstGeom prst="roundRect">
            <a:avLst>
              <a:gd name="adj" fmla="val 8000"/>
            </a:avLst>
          </a:prstGeom>
          <a:solidFill>
            <a:srgbClr val="D7E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104120" y="246888"/>
            <a:ext cx="768096" cy="128016"/>
          </a:xfrm>
          <a:prstGeom prst="rect">
            <a:avLst/>
          </a:prstGeom>
          <a:noFill/>
        </p:spPr>
        <p:txBody>
          <a:bodyPr wrap="square" lIns="0" tIns="0" rIns="0" bIns="0">
            <a:spAutoFit/>
          </a:bodyPr>
          <a:lstStyle/>
          <a:p>
            <a:pPr algn="ctr">
              <a:lnSpc>
                <a:spcPct val="104000"/>
              </a:lnSpc>
              <a:spcBef>
                <a:spcPts val="0"/>
              </a:spcBef>
              <a:spcAft>
                <a:spcPts val="200"/>
              </a:spcAft>
              <a:defRPr sz="880" b="1">
                <a:solidFill>
                  <a:srgbClr val="597080"/>
                </a:solidFill>
                <a:latin typeface="Calibri"/>
              </a:defRPr>
            </a:pPr>
            <a:r>
              <a:t>CHOOSE</a:t>
            </a:r>
          </a:p>
        </p:txBody>
      </p:sp>
      <p:sp>
        <p:nvSpPr>
          <p:cNvPr id="10" name="Rounded Rectangle 9"/>
          <p:cNvSpPr/>
          <p:nvPr/>
        </p:nvSpPr>
        <p:spPr>
          <a:xfrm>
            <a:off x="10927080" y="210312"/>
            <a:ext cx="768096" cy="237744"/>
          </a:xfrm>
          <a:prstGeom prst="roundRect">
            <a:avLst>
              <a:gd name="adj" fmla="val 8000"/>
            </a:avLst>
          </a:prstGeom>
          <a:solidFill>
            <a:srgbClr val="D7E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927080" y="246888"/>
            <a:ext cx="768096" cy="128016"/>
          </a:xfrm>
          <a:prstGeom prst="rect">
            <a:avLst/>
          </a:prstGeom>
          <a:noFill/>
        </p:spPr>
        <p:txBody>
          <a:bodyPr wrap="square" lIns="0" tIns="0" rIns="0" bIns="0">
            <a:spAutoFit/>
          </a:bodyPr>
          <a:lstStyle/>
          <a:p>
            <a:pPr algn="ctr">
              <a:lnSpc>
                <a:spcPct val="104000"/>
              </a:lnSpc>
              <a:spcBef>
                <a:spcPts val="0"/>
              </a:spcBef>
              <a:spcAft>
                <a:spcPts val="200"/>
              </a:spcAft>
              <a:defRPr sz="880" b="1">
                <a:solidFill>
                  <a:srgbClr val="597080"/>
                </a:solidFill>
                <a:latin typeface="Calibri"/>
              </a:defRPr>
            </a:pPr>
            <a:r>
              <a:t>TEST</a:t>
            </a:r>
          </a:p>
        </p:txBody>
      </p:sp>
      <p:sp>
        <p:nvSpPr>
          <p:cNvPr id="12" name="TextBox 11"/>
          <p:cNvSpPr txBox="1"/>
          <p:nvPr/>
        </p:nvSpPr>
        <p:spPr>
          <a:xfrm>
            <a:off x="457200" y="758952"/>
            <a:ext cx="585216" cy="438912"/>
          </a:xfrm>
          <a:prstGeom prst="rect">
            <a:avLst/>
          </a:prstGeom>
          <a:noFill/>
        </p:spPr>
        <p:txBody>
          <a:bodyPr wrap="square" lIns="0" tIns="0" rIns="0" bIns="0">
            <a:spAutoFit/>
          </a:bodyPr>
          <a:lstStyle/>
          <a:p>
            <a:pPr>
              <a:lnSpc>
                <a:spcPct val="104000"/>
              </a:lnSpc>
              <a:spcBef>
                <a:spcPts val="0"/>
              </a:spcBef>
              <a:spcAft>
                <a:spcPts val="200"/>
              </a:spcAft>
              <a:defRPr sz="2400" b="1">
                <a:solidFill>
                  <a:srgbClr val="006E75"/>
                </a:solidFill>
                <a:latin typeface="Calibri"/>
              </a:defRPr>
            </a:pPr>
            <a:r>
              <a:t>06</a:t>
            </a:r>
          </a:p>
        </p:txBody>
      </p:sp>
      <p:sp>
        <p:nvSpPr>
          <p:cNvPr id="13" name="TextBox 12"/>
          <p:cNvSpPr txBox="1"/>
          <p:nvPr/>
        </p:nvSpPr>
        <p:spPr>
          <a:xfrm>
            <a:off x="1143000" y="713232"/>
            <a:ext cx="10424160" cy="457200"/>
          </a:xfrm>
          <a:prstGeom prst="rect">
            <a:avLst/>
          </a:prstGeom>
          <a:noFill/>
        </p:spPr>
        <p:txBody>
          <a:bodyPr wrap="square" lIns="0" tIns="0" rIns="0" bIns="0">
            <a:spAutoFit/>
          </a:bodyPr>
          <a:lstStyle/>
          <a:p>
            <a:pPr>
              <a:lnSpc>
                <a:spcPct val="104000"/>
              </a:lnSpc>
              <a:spcBef>
                <a:spcPts val="0"/>
              </a:spcBef>
              <a:spcAft>
                <a:spcPts val="200"/>
              </a:spcAft>
              <a:defRPr sz="2700" b="1">
                <a:solidFill>
                  <a:srgbClr val="153347"/>
                </a:solidFill>
                <a:latin typeface="Calibri"/>
              </a:defRPr>
            </a:pPr>
            <a:r>
              <a:t>Learn from concept feedback</a:t>
            </a:r>
          </a:p>
        </p:txBody>
      </p:sp>
      <p:sp>
        <p:nvSpPr>
          <p:cNvPr id="14" name="TextBox 13"/>
          <p:cNvSpPr txBox="1"/>
          <p:nvPr/>
        </p:nvSpPr>
        <p:spPr>
          <a:xfrm>
            <a:off x="475488" y="1252728"/>
            <a:ext cx="11201400" cy="457200"/>
          </a:xfrm>
          <a:prstGeom prst="rect">
            <a:avLst/>
          </a:prstGeom>
          <a:noFill/>
        </p:spPr>
        <p:txBody>
          <a:bodyPr wrap="square" lIns="0" tIns="0" rIns="0" bIns="0">
            <a:spAutoFit/>
          </a:bodyPr>
          <a:lstStyle/>
          <a:p>
            <a:pPr>
              <a:lnSpc>
                <a:spcPct val="104000"/>
              </a:lnSpc>
              <a:spcBef>
                <a:spcPts val="0"/>
              </a:spcBef>
              <a:spcAft>
                <a:spcPts val="200"/>
              </a:spcAft>
              <a:defRPr sz="1550" b="0">
                <a:solidFill>
                  <a:srgbClr val="597080"/>
                </a:solidFill>
                <a:latin typeface="Calibri"/>
              </a:defRPr>
            </a:pPr>
            <a:r>
              <a:t>Show what people challenged and what changed—not a collection of positive votes.</a:t>
            </a:r>
          </a:p>
        </p:txBody>
      </p:sp>
      <p:sp>
        <p:nvSpPr>
          <p:cNvPr id="15" name="Rectangle 14"/>
          <p:cNvSpPr/>
          <p:nvPr/>
        </p:nvSpPr>
        <p:spPr>
          <a:xfrm>
            <a:off x="457200" y="6428232"/>
            <a:ext cx="11274552" cy="9144"/>
          </a:xfrm>
          <a:prstGeom prst="rect">
            <a:avLst/>
          </a:prstGeom>
          <a:solidFill>
            <a:srgbClr val="D7E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57200" y="6528816"/>
            <a:ext cx="7589520" cy="155448"/>
          </a:xfrm>
          <a:prstGeom prst="rect">
            <a:avLst/>
          </a:prstGeom>
          <a:noFill/>
        </p:spPr>
        <p:txBody>
          <a:bodyPr wrap="square" lIns="0" tIns="0" rIns="0" bIns="0">
            <a:spAutoFit/>
          </a:bodyPr>
          <a:lstStyle/>
          <a:p>
            <a:pPr>
              <a:lnSpc>
                <a:spcPct val="104000"/>
              </a:lnSpc>
              <a:spcBef>
                <a:spcPts val="0"/>
              </a:spcBef>
              <a:spcAft>
                <a:spcPts val="200"/>
              </a:spcAft>
              <a:defRPr sz="900" b="0">
                <a:solidFill>
                  <a:srgbClr val="597080"/>
                </a:solidFill>
                <a:latin typeface="Calibri"/>
              </a:defRPr>
            </a:pPr>
            <a:r>
              <a:t>TEAM TITANS • LABELGUARD • DRAFT FOR MENTOR REVIEW</a:t>
            </a:r>
          </a:p>
        </p:txBody>
      </p:sp>
      <p:sp>
        <p:nvSpPr>
          <p:cNvPr id="17" name="TextBox 16"/>
          <p:cNvSpPr txBox="1"/>
          <p:nvPr/>
        </p:nvSpPr>
        <p:spPr>
          <a:xfrm>
            <a:off x="8321040" y="6510528"/>
            <a:ext cx="2194560" cy="201168"/>
          </a:xfrm>
          <a:prstGeom prst="rect">
            <a:avLst/>
          </a:prstGeom>
          <a:noFill/>
        </p:spPr>
        <p:txBody>
          <a:bodyPr wrap="square" lIns="0" tIns="0" rIns="0" bIns="0">
            <a:spAutoFit/>
          </a:bodyPr>
          <a:lstStyle/>
          <a:p>
            <a:pPr algn="r">
              <a:lnSpc>
                <a:spcPct val="104000"/>
              </a:lnSpc>
              <a:spcBef>
                <a:spcPts val="0"/>
              </a:spcBef>
              <a:spcAft>
                <a:spcPts val="200"/>
              </a:spcAft>
              <a:defRPr sz="1000" b="1">
                <a:solidFill>
                  <a:srgbClr val="006E75"/>
                </a:solidFill>
                <a:latin typeface="Calibri"/>
              </a:defRPr>
            </a:pPr>
            <a:r>
              <a:t>P2 • 16 OCT 2026</a:t>
            </a:r>
          </a:p>
        </p:txBody>
      </p:sp>
      <p:sp>
        <p:nvSpPr>
          <p:cNvPr id="18" name="TextBox 17"/>
          <p:cNvSpPr txBox="1"/>
          <p:nvPr/>
        </p:nvSpPr>
        <p:spPr>
          <a:xfrm>
            <a:off x="10908792" y="6510528"/>
            <a:ext cx="786384" cy="201168"/>
          </a:xfrm>
          <a:prstGeom prst="rect">
            <a:avLst/>
          </a:prstGeom>
          <a:noFill/>
        </p:spPr>
        <p:txBody>
          <a:bodyPr wrap="square" lIns="0" tIns="0" rIns="0" bIns="0">
            <a:spAutoFit/>
          </a:bodyPr>
          <a:lstStyle/>
          <a:p>
            <a:pPr algn="r">
              <a:lnSpc>
                <a:spcPct val="104000"/>
              </a:lnSpc>
              <a:spcBef>
                <a:spcPts val="0"/>
              </a:spcBef>
              <a:spcAft>
                <a:spcPts val="200"/>
              </a:spcAft>
              <a:defRPr sz="1000" b="0">
                <a:solidFill>
                  <a:srgbClr val="597080"/>
                </a:solidFill>
                <a:latin typeface="Calibri"/>
              </a:defRPr>
            </a:pPr>
            <a:r>
              <a:t>6/11</a:t>
            </a:r>
          </a:p>
        </p:txBody>
      </p:sp>
      <p:sp>
        <p:nvSpPr>
          <p:cNvPr id="19" name="Rounded Rectangle 18"/>
          <p:cNvSpPr/>
          <p:nvPr/>
        </p:nvSpPr>
        <p:spPr>
          <a:xfrm>
            <a:off x="457200" y="1828800"/>
            <a:ext cx="11274552" cy="658368"/>
          </a:xfrm>
          <a:prstGeom prst="roundRect">
            <a:avLst>
              <a:gd name="adj" fmla="val 8000"/>
            </a:avLst>
          </a:prstGeom>
          <a:solidFill>
            <a:srgbClr val="E7F3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03504" y="1920240"/>
            <a:ext cx="10981944" cy="475488"/>
          </a:xfrm>
          <a:prstGeom prst="rect">
            <a:avLst/>
          </a:prstGeom>
          <a:noFill/>
        </p:spPr>
        <p:txBody>
          <a:bodyPr wrap="square" lIns="0" tIns="0" rIns="0" bIns="0">
            <a:spAutoFit/>
          </a:bodyPr>
          <a:lstStyle/>
          <a:p>
            <a:pPr>
              <a:lnSpc>
                <a:spcPct val="104000"/>
              </a:lnSpc>
              <a:spcBef>
                <a:spcPts val="0"/>
              </a:spcBef>
              <a:spcAft>
                <a:spcPts val="200"/>
              </a:spcAft>
              <a:defRPr sz="1700" b="0">
                <a:solidFill>
                  <a:srgbClr val="243A49"/>
                </a:solidFill>
                <a:latin typeface="Calibri"/>
              </a:defRPr>
            </a:pPr>
            <a:r>
              <a:t>PLANNED, NOT COMPLETED: 0 feedback sessions; 0 primary users. Plan: 3 inspectors + 1 approver, same scenario, 3 storyboards, consent; 18–21 Oct (Planned).</a:t>
            </a:r>
          </a:p>
        </p:txBody>
      </p:sp>
      <p:graphicFrame>
        <p:nvGraphicFramePr>
          <p:cNvPr id="21" name="Table 20"/>
          <p:cNvGraphicFramePr>
            <a:graphicFrameLocks noGrp="1"/>
          </p:cNvGraphicFramePr>
          <p:nvPr/>
        </p:nvGraphicFramePr>
        <p:xfrm>
          <a:off x="457200" y="2688336"/>
          <a:ext cx="11274552" cy="2313432"/>
        </p:xfrm>
        <a:graphic>
          <a:graphicData uri="http://schemas.openxmlformats.org/drawingml/2006/table">
            <a:tbl>
              <a:tblPr firstRow="1" bandRow="1">
                <a:tableStyleId>{5C22544A-7EE6-4342-B048-85BDC9FD1C3A}</a:tableStyleId>
              </a:tblPr>
              <a:tblGrid>
                <a:gridCol w="1005840">
                  <a:extLst>
                    <a:ext uri="{9D8B030D-6E8A-4147-A177-3AD203B41FA5}">
                      <a16:colId xmlns:a16="http://schemas.microsoft.com/office/drawing/2014/main" val="20000"/>
                    </a:ext>
                  </a:extLst>
                </a:gridCol>
                <a:gridCol w="5532120">
                  <a:extLst>
                    <a:ext uri="{9D8B030D-6E8A-4147-A177-3AD203B41FA5}">
                      <a16:colId xmlns:a16="http://schemas.microsoft.com/office/drawing/2014/main" val="20001"/>
                    </a:ext>
                  </a:extLst>
                </a:gridCol>
                <a:gridCol w="4736592">
                  <a:extLst>
                    <a:ext uri="{9D8B030D-6E8A-4147-A177-3AD203B41FA5}">
                      <a16:colId xmlns:a16="http://schemas.microsoft.com/office/drawing/2014/main" val="20002"/>
                    </a:ext>
                  </a:extLst>
                </a:gridCol>
              </a:tblGrid>
              <a:tr h="393192">
                <a:tc>
                  <a:txBody>
                    <a:bodyPr/>
                    <a:lstStyle/>
                    <a:p>
                      <a:pPr>
                        <a:lnSpc>
                          <a:spcPct val="104000"/>
                        </a:lnSpc>
                        <a:spcAft>
                          <a:spcPts val="0"/>
                        </a:spcAft>
                        <a:defRPr sz="1300" b="1">
                          <a:solidFill>
                            <a:srgbClr val="FFFFFF"/>
                          </a:solidFill>
                          <a:latin typeface="Calibri"/>
                        </a:defRPr>
                      </a:pPr>
                      <a:r>
                        <a:t>Concept</a:t>
                      </a:r>
                    </a:p>
                  </a:txBody>
                  <a:tcPr marL="109728" marR="109728" marT="64008" marB="64008" anchor="ctr">
                    <a:solidFill>
                      <a:srgbClr val="153347"/>
                    </a:solidFill>
                  </a:tcPr>
                </a:tc>
                <a:tc>
                  <a:txBody>
                    <a:bodyPr/>
                    <a:lstStyle/>
                    <a:p>
                      <a:pPr>
                        <a:lnSpc>
                          <a:spcPct val="104000"/>
                        </a:lnSpc>
                        <a:spcAft>
                          <a:spcPts val="0"/>
                        </a:spcAft>
                        <a:defRPr sz="1300" b="1">
                          <a:solidFill>
                            <a:srgbClr val="FFFFFF"/>
                          </a:solidFill>
                          <a:latin typeface="Calibri"/>
                        </a:defRPr>
                      </a:pPr>
                      <a:r>
                        <a:t>Reaction / task evidence</a:t>
                      </a:r>
                    </a:p>
                  </a:txBody>
                  <a:tcPr marL="109728" marR="109728" marT="64008" marB="64008" anchor="ctr">
                    <a:solidFill>
                      <a:srgbClr val="153347"/>
                    </a:solidFill>
                  </a:tcPr>
                </a:tc>
                <a:tc>
                  <a:txBody>
                    <a:bodyPr/>
                    <a:lstStyle/>
                    <a:p>
                      <a:pPr>
                        <a:lnSpc>
                          <a:spcPct val="104000"/>
                        </a:lnSpc>
                        <a:spcAft>
                          <a:spcPts val="0"/>
                        </a:spcAft>
                        <a:defRPr sz="1300" b="1">
                          <a:solidFill>
                            <a:srgbClr val="FFFFFF"/>
                          </a:solidFill>
                          <a:latin typeface="Calibri"/>
                        </a:defRPr>
                      </a:pPr>
                      <a:r>
                        <a:t>Revision or response</a:t>
                      </a:r>
                    </a:p>
                  </a:txBody>
                  <a:tcPr marL="109728" marR="109728" marT="64008" marB="64008" anchor="ctr">
                    <a:solidFill>
                      <a:srgbClr val="153347"/>
                    </a:solidFill>
                  </a:tcPr>
                </a:tc>
                <a:extLst>
                  <a:ext uri="{0D108BD9-81ED-4DB2-BD59-A6C34878D82A}">
                    <a16:rowId xmlns:a16="http://schemas.microsoft.com/office/drawing/2014/main" val="10000"/>
                  </a:ext>
                </a:extLst>
              </a:tr>
              <a:tr h="640080">
                <a:tc>
                  <a:txBody>
                    <a:bodyPr/>
                    <a:lstStyle/>
                    <a:p>
                      <a:pPr>
                        <a:lnSpc>
                          <a:spcPct val="104000"/>
                        </a:lnSpc>
                        <a:spcAft>
                          <a:spcPts val="0"/>
                        </a:spcAft>
                        <a:defRPr sz="1600" b="0">
                          <a:solidFill>
                            <a:srgbClr val="243A49"/>
                          </a:solidFill>
                          <a:latin typeface="Calibri"/>
                        </a:defRPr>
                      </a:pPr>
                      <a:r>
                        <a:t>I01</a:t>
                      </a:r>
                    </a:p>
                  </a:txBody>
                  <a:tcPr marL="109728" marR="109728" marT="64008" marB="64008" anchor="ctr">
                    <a:solidFill>
                      <a:srgbClr val="FFFFFF"/>
                    </a:solidFill>
                  </a:tcPr>
                </a:tc>
                <a:tc>
                  <a:txBody>
                    <a:bodyPr/>
                    <a:lstStyle/>
                    <a:p>
                      <a:pPr>
                        <a:lnSpc>
                          <a:spcPct val="104000"/>
                        </a:lnSpc>
                        <a:spcAft>
                          <a:spcPts val="0"/>
                        </a:spcAft>
                        <a:defRPr sz="1600" b="0">
                          <a:solidFill>
                            <a:srgbClr val="243A49"/>
                          </a:solidFill>
                          <a:latin typeface="Calibri"/>
                        </a:defRPr>
                      </a:pPr>
                      <a:r>
                        <a:t>Not yet collected. To test: would a card replace memory?</a:t>
                      </a:r>
                    </a:p>
                  </a:txBody>
                  <a:tcPr marL="109728" marR="109728" marT="64008" marB="64008" anchor="ctr">
                    <a:solidFill>
                      <a:srgbClr val="FFFFFF"/>
                    </a:solidFill>
                  </a:tcPr>
                </a:tc>
                <a:tc>
                  <a:txBody>
                    <a:bodyPr/>
                    <a:lstStyle/>
                    <a:p>
                      <a:pPr>
                        <a:lnSpc>
                          <a:spcPct val="104000"/>
                        </a:lnSpc>
                        <a:spcAft>
                          <a:spcPts val="0"/>
                        </a:spcAft>
                        <a:defRPr sz="1600" b="0">
                          <a:solidFill>
                            <a:srgbClr val="243A49"/>
                          </a:solidFill>
                          <a:latin typeface="Calibri"/>
                        </a:defRPr>
                      </a:pPr>
                      <a:r>
                        <a:t>Record after sessions (Planned)</a:t>
                      </a:r>
                    </a:p>
                  </a:txBody>
                  <a:tcPr marL="109728" marR="109728" marT="64008" marB="64008" anchor="ctr">
                    <a:solidFill>
                      <a:srgbClr val="FFFFFF"/>
                    </a:solidFill>
                  </a:tcPr>
                </a:tc>
                <a:extLst>
                  <a:ext uri="{0D108BD9-81ED-4DB2-BD59-A6C34878D82A}">
                    <a16:rowId xmlns:a16="http://schemas.microsoft.com/office/drawing/2014/main" val="10001"/>
                  </a:ext>
                </a:extLst>
              </a:tr>
              <a:tr h="640080">
                <a:tc>
                  <a:txBody>
                    <a:bodyPr/>
                    <a:lstStyle/>
                    <a:p>
                      <a:pPr>
                        <a:lnSpc>
                          <a:spcPct val="104000"/>
                        </a:lnSpc>
                        <a:spcAft>
                          <a:spcPts val="0"/>
                        </a:spcAft>
                        <a:defRPr sz="1600" b="0">
                          <a:solidFill>
                            <a:srgbClr val="243A49"/>
                          </a:solidFill>
                          <a:latin typeface="Calibri"/>
                        </a:defRPr>
                      </a:pPr>
                      <a:r>
                        <a:t>I02</a:t>
                      </a:r>
                    </a:p>
                  </a:txBody>
                  <a:tcPr marL="109728" marR="109728" marT="64008" marB="64008" anchor="ctr">
                    <a:solidFill>
                      <a:srgbClr val="E7F3F1"/>
                    </a:solidFill>
                  </a:tcPr>
                </a:tc>
                <a:tc>
                  <a:txBody>
                    <a:bodyPr/>
                    <a:lstStyle/>
                    <a:p>
                      <a:pPr>
                        <a:lnSpc>
                          <a:spcPct val="104000"/>
                        </a:lnSpc>
                        <a:spcAft>
                          <a:spcPts val="0"/>
                        </a:spcAft>
                        <a:defRPr sz="1600" b="0">
                          <a:solidFill>
                            <a:srgbClr val="243A49"/>
                          </a:solidFill>
                          <a:latin typeface="Calibri"/>
                        </a:defRPr>
                      </a:pPr>
                      <a:r>
                        <a:t>Not yet collected. To test: trust in OCR flags; effort.</a:t>
                      </a:r>
                    </a:p>
                  </a:txBody>
                  <a:tcPr marL="109728" marR="109728" marT="64008" marB="64008" anchor="ctr">
                    <a:solidFill>
                      <a:srgbClr val="E7F3F1"/>
                    </a:solidFill>
                  </a:tcPr>
                </a:tc>
                <a:tc>
                  <a:txBody>
                    <a:bodyPr/>
                    <a:lstStyle/>
                    <a:p>
                      <a:pPr>
                        <a:lnSpc>
                          <a:spcPct val="104000"/>
                        </a:lnSpc>
                        <a:spcAft>
                          <a:spcPts val="0"/>
                        </a:spcAft>
                        <a:defRPr sz="1600" b="0">
                          <a:solidFill>
                            <a:srgbClr val="243A49"/>
                          </a:solidFill>
                          <a:latin typeface="Calibri"/>
                        </a:defRPr>
                      </a:pPr>
                      <a:r>
                        <a:t>Record after sessions (Planned)</a:t>
                      </a:r>
                    </a:p>
                  </a:txBody>
                  <a:tcPr marL="109728" marR="109728" marT="64008" marB="64008" anchor="ctr">
                    <a:solidFill>
                      <a:srgbClr val="E7F3F1"/>
                    </a:solidFill>
                  </a:tcPr>
                </a:tc>
                <a:extLst>
                  <a:ext uri="{0D108BD9-81ED-4DB2-BD59-A6C34878D82A}">
                    <a16:rowId xmlns:a16="http://schemas.microsoft.com/office/drawing/2014/main" val="10002"/>
                  </a:ext>
                </a:extLst>
              </a:tr>
              <a:tr h="640080">
                <a:tc>
                  <a:txBody>
                    <a:bodyPr/>
                    <a:lstStyle/>
                    <a:p>
                      <a:pPr>
                        <a:lnSpc>
                          <a:spcPct val="104000"/>
                        </a:lnSpc>
                        <a:spcAft>
                          <a:spcPts val="0"/>
                        </a:spcAft>
                        <a:defRPr sz="1600" b="0">
                          <a:solidFill>
                            <a:srgbClr val="243A49"/>
                          </a:solidFill>
                          <a:latin typeface="Calibri"/>
                        </a:defRPr>
                      </a:pPr>
                      <a:r>
                        <a:t>I03</a:t>
                      </a:r>
                    </a:p>
                  </a:txBody>
                  <a:tcPr marL="109728" marR="109728" marT="64008" marB="64008" anchor="ctr">
                    <a:solidFill>
                      <a:srgbClr val="FFFFFF"/>
                    </a:solidFill>
                  </a:tcPr>
                </a:tc>
                <a:tc>
                  <a:txBody>
                    <a:bodyPr/>
                    <a:lstStyle/>
                    <a:p>
                      <a:pPr>
                        <a:lnSpc>
                          <a:spcPct val="104000"/>
                        </a:lnSpc>
                        <a:spcAft>
                          <a:spcPts val="0"/>
                        </a:spcAft>
                        <a:defRPr sz="1600" b="0">
                          <a:solidFill>
                            <a:srgbClr val="243A49"/>
                          </a:solidFill>
                          <a:latin typeface="Calibri"/>
                        </a:defRPr>
                      </a:pPr>
                      <a:r>
                        <a:t>Not yet collected. To test: is a shared record wanted and allowed?</a:t>
                      </a:r>
                    </a:p>
                  </a:txBody>
                  <a:tcPr marL="109728" marR="109728" marT="64008" marB="64008" anchor="ctr">
                    <a:solidFill>
                      <a:srgbClr val="FFFFFF"/>
                    </a:solidFill>
                  </a:tcPr>
                </a:tc>
                <a:tc>
                  <a:txBody>
                    <a:bodyPr/>
                    <a:lstStyle/>
                    <a:p>
                      <a:pPr>
                        <a:lnSpc>
                          <a:spcPct val="104000"/>
                        </a:lnSpc>
                        <a:spcAft>
                          <a:spcPts val="0"/>
                        </a:spcAft>
                        <a:defRPr sz="1600" b="0">
                          <a:solidFill>
                            <a:srgbClr val="243A49"/>
                          </a:solidFill>
                          <a:latin typeface="Calibri"/>
                        </a:defRPr>
                      </a:pPr>
                      <a:r>
                        <a:t>Record after sessions (Planned)</a:t>
                      </a:r>
                    </a:p>
                  </a:txBody>
                  <a:tcPr marL="109728" marR="109728" marT="64008" marB="64008" anchor="ctr">
                    <a:solidFill>
                      <a:srgbClr val="FFFFFF"/>
                    </a:solidFill>
                  </a:tcPr>
                </a:tc>
                <a:extLst>
                  <a:ext uri="{0D108BD9-81ED-4DB2-BD59-A6C34878D82A}">
                    <a16:rowId xmlns:a16="http://schemas.microsoft.com/office/drawing/2014/main" val="10003"/>
                  </a:ext>
                </a:extLst>
              </a:tr>
            </a:tbl>
          </a:graphicData>
        </a:graphic>
      </p:graphicFrame>
      <p:sp>
        <p:nvSpPr>
          <p:cNvPr id="22" name="Rounded Rectangle 21"/>
          <p:cNvSpPr/>
          <p:nvPr/>
        </p:nvSpPr>
        <p:spPr>
          <a:xfrm>
            <a:off x="457200" y="5257800"/>
            <a:ext cx="6419088" cy="950976"/>
          </a:xfrm>
          <a:prstGeom prst="roundRect">
            <a:avLst>
              <a:gd name="adj" fmla="val 8000"/>
            </a:avLst>
          </a:prstGeom>
          <a:solidFill>
            <a:srgbClr val="FFF3DF"/>
          </a:solidFill>
          <a:ln w="8255">
            <a:solidFill>
              <a:srgbClr val="D7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21792" y="5376672"/>
            <a:ext cx="6089903" cy="228600"/>
          </a:xfrm>
          <a:prstGeom prst="rect">
            <a:avLst/>
          </a:prstGeom>
          <a:noFill/>
        </p:spPr>
        <p:txBody>
          <a:bodyPr wrap="square" lIns="0" tIns="0" rIns="0" bIns="0">
            <a:spAutoFit/>
          </a:bodyPr>
          <a:lstStyle/>
          <a:p>
            <a:pPr>
              <a:lnSpc>
                <a:spcPct val="104000"/>
              </a:lnSpc>
              <a:spcBef>
                <a:spcPts val="0"/>
              </a:spcBef>
              <a:spcAft>
                <a:spcPts val="200"/>
              </a:spcAft>
              <a:defRPr sz="1150" b="1">
                <a:solidFill>
                  <a:srgbClr val="006E75"/>
                </a:solidFill>
                <a:latin typeface="Calibri"/>
              </a:defRPr>
            </a:pPr>
            <a:r>
              <a:t>CONTRADICTION</a:t>
            </a:r>
          </a:p>
        </p:txBody>
      </p:sp>
      <p:sp>
        <p:nvSpPr>
          <p:cNvPr id="24" name="TextBox 23"/>
          <p:cNvSpPr txBox="1"/>
          <p:nvPr/>
        </p:nvSpPr>
        <p:spPr>
          <a:xfrm>
            <a:off x="621792" y="5623560"/>
            <a:ext cx="6089903" cy="502920"/>
          </a:xfrm>
          <a:prstGeom prst="rect">
            <a:avLst/>
          </a:prstGeom>
          <a:noFill/>
        </p:spPr>
        <p:txBody>
          <a:bodyPr wrap="square" lIns="0" tIns="0" rIns="0" bIns="0">
            <a:spAutoFit/>
          </a:bodyPr>
          <a:lstStyle/>
          <a:p>
            <a:pPr>
              <a:lnSpc>
                <a:spcPct val="104000"/>
              </a:lnSpc>
              <a:spcBef>
                <a:spcPts val="0"/>
              </a:spcBef>
              <a:spcAft>
                <a:spcPts val="200"/>
              </a:spcAft>
              <a:defRPr sz="1700" b="0">
                <a:solidFill>
                  <a:srgbClr val="243A49"/>
                </a:solidFill>
                <a:latin typeface="Calibri"/>
              </a:defRPr>
            </a:pPr>
            <a:r>
              <a:t>None yet. Hypothesis, not evidence: inspectors may prefer paper and distrust automatic flags.</a:t>
            </a:r>
          </a:p>
        </p:txBody>
      </p:sp>
      <p:sp>
        <p:nvSpPr>
          <p:cNvPr id="25" name="Rounded Rectangle 24"/>
          <p:cNvSpPr/>
          <p:nvPr/>
        </p:nvSpPr>
        <p:spPr>
          <a:xfrm>
            <a:off x="7059168" y="5257800"/>
            <a:ext cx="4672584" cy="950976"/>
          </a:xfrm>
          <a:prstGeom prst="roundRect">
            <a:avLst>
              <a:gd name="adj" fmla="val 8000"/>
            </a:avLst>
          </a:prstGeom>
          <a:solidFill>
            <a:srgbClr val="FFFFFF"/>
          </a:solidFill>
          <a:ln w="8255">
            <a:solidFill>
              <a:srgbClr val="D7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223759" y="5376672"/>
            <a:ext cx="4343400" cy="228600"/>
          </a:xfrm>
          <a:prstGeom prst="rect">
            <a:avLst/>
          </a:prstGeom>
          <a:noFill/>
        </p:spPr>
        <p:txBody>
          <a:bodyPr wrap="square" lIns="0" tIns="0" rIns="0" bIns="0">
            <a:spAutoFit/>
          </a:bodyPr>
          <a:lstStyle/>
          <a:p>
            <a:pPr>
              <a:lnSpc>
                <a:spcPct val="104000"/>
              </a:lnSpc>
              <a:spcBef>
                <a:spcPts val="0"/>
              </a:spcBef>
              <a:spcAft>
                <a:spcPts val="200"/>
              </a:spcAft>
              <a:defRPr sz="1150" b="1">
                <a:solidFill>
                  <a:srgbClr val="006E75"/>
                </a:solidFill>
                <a:latin typeface="Calibri"/>
              </a:defRPr>
            </a:pPr>
            <a:r>
              <a:t>LIMITS / NEXT EVIDENCE</a:t>
            </a:r>
          </a:p>
        </p:txBody>
      </p:sp>
      <p:sp>
        <p:nvSpPr>
          <p:cNvPr id="27" name="TextBox 26"/>
          <p:cNvSpPr txBox="1"/>
          <p:nvPr/>
        </p:nvSpPr>
        <p:spPr>
          <a:xfrm>
            <a:off x="7223759" y="5623560"/>
            <a:ext cx="4343400" cy="502920"/>
          </a:xfrm>
          <a:prstGeom prst="rect">
            <a:avLst/>
          </a:prstGeom>
          <a:noFill/>
        </p:spPr>
        <p:txBody>
          <a:bodyPr wrap="square" lIns="0" tIns="0" rIns="0" bIns="0">
            <a:spAutoFit/>
          </a:bodyPr>
          <a:lstStyle/>
          <a:p>
            <a:pPr>
              <a:lnSpc>
                <a:spcPct val="104000"/>
              </a:lnSpc>
              <a:spcBef>
                <a:spcPts val="0"/>
              </a:spcBef>
              <a:spcAft>
                <a:spcPts val="200"/>
              </a:spcAft>
              <a:defRPr sz="1600" b="0">
                <a:solidFill>
                  <a:srgbClr val="243A49"/>
                </a:solidFill>
                <a:latin typeface="Calibri"/>
              </a:defRPr>
            </a:pPr>
            <a:r>
              <a:t>Limits: no real feedback; E01 simulated only; small planned sample. Next: run sessions 18–21 Oct; log dates, roles, consent.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8FA"/>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91440"/>
          </a:xfrm>
          <a:prstGeom prst="rect">
            <a:avLst/>
          </a:prstGeom>
          <a:solidFill>
            <a:srgbClr val="006E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19456"/>
            <a:ext cx="7315200" cy="228600"/>
          </a:xfrm>
          <a:prstGeom prst="rect">
            <a:avLst/>
          </a:prstGeom>
          <a:noFill/>
        </p:spPr>
        <p:txBody>
          <a:bodyPr wrap="square" lIns="0" tIns="0" rIns="0" bIns="0">
            <a:spAutoFit/>
          </a:bodyPr>
          <a:lstStyle/>
          <a:p>
            <a:pPr>
              <a:lnSpc>
                <a:spcPct val="104000"/>
              </a:lnSpc>
              <a:spcBef>
                <a:spcPts val="0"/>
              </a:spcBef>
              <a:spcAft>
                <a:spcPts val="200"/>
              </a:spcAft>
              <a:defRPr sz="1150" b="1">
                <a:solidFill>
                  <a:srgbClr val="006E75"/>
                </a:solidFill>
                <a:latin typeface="Calibri"/>
              </a:defRPr>
            </a:pPr>
            <a:r>
              <a:t>SCHOOL OF INNOVATION  |  KGISL INSTITUTE OF TECHNOLOGY</a:t>
            </a:r>
          </a:p>
        </p:txBody>
      </p:sp>
      <p:sp>
        <p:nvSpPr>
          <p:cNvPr id="4" name="Rounded Rectangle 3"/>
          <p:cNvSpPr/>
          <p:nvPr/>
        </p:nvSpPr>
        <p:spPr>
          <a:xfrm>
            <a:off x="8458200" y="210312"/>
            <a:ext cx="768096" cy="237744"/>
          </a:xfrm>
          <a:prstGeom prst="roundRect">
            <a:avLst>
              <a:gd name="adj" fmla="val 8000"/>
            </a:avLst>
          </a:prstGeom>
          <a:solidFill>
            <a:srgbClr val="D7E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458200" y="246888"/>
            <a:ext cx="768096" cy="128016"/>
          </a:xfrm>
          <a:prstGeom prst="rect">
            <a:avLst/>
          </a:prstGeom>
          <a:noFill/>
        </p:spPr>
        <p:txBody>
          <a:bodyPr wrap="square" lIns="0" tIns="0" rIns="0" bIns="0">
            <a:spAutoFit/>
          </a:bodyPr>
          <a:lstStyle/>
          <a:p>
            <a:pPr algn="ctr">
              <a:lnSpc>
                <a:spcPct val="104000"/>
              </a:lnSpc>
              <a:spcBef>
                <a:spcPts val="0"/>
              </a:spcBef>
              <a:spcAft>
                <a:spcPts val="200"/>
              </a:spcAft>
              <a:defRPr sz="880" b="1">
                <a:solidFill>
                  <a:srgbClr val="597080"/>
                </a:solidFill>
                <a:latin typeface="Calibri"/>
              </a:defRPr>
            </a:pPr>
            <a:r>
              <a:t>FRAME</a:t>
            </a:r>
          </a:p>
        </p:txBody>
      </p:sp>
      <p:sp>
        <p:nvSpPr>
          <p:cNvPr id="6" name="Rounded Rectangle 5"/>
          <p:cNvSpPr/>
          <p:nvPr/>
        </p:nvSpPr>
        <p:spPr>
          <a:xfrm>
            <a:off x="9281160" y="210312"/>
            <a:ext cx="768096" cy="237744"/>
          </a:xfrm>
          <a:prstGeom prst="roundRect">
            <a:avLst>
              <a:gd name="adj" fmla="val 8000"/>
            </a:avLst>
          </a:prstGeom>
          <a:solidFill>
            <a:srgbClr val="D7E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281160" y="246888"/>
            <a:ext cx="768096" cy="128016"/>
          </a:xfrm>
          <a:prstGeom prst="rect">
            <a:avLst/>
          </a:prstGeom>
          <a:noFill/>
        </p:spPr>
        <p:txBody>
          <a:bodyPr wrap="square" lIns="0" tIns="0" rIns="0" bIns="0">
            <a:spAutoFit/>
          </a:bodyPr>
          <a:lstStyle/>
          <a:p>
            <a:pPr algn="ctr">
              <a:lnSpc>
                <a:spcPct val="104000"/>
              </a:lnSpc>
              <a:spcBef>
                <a:spcPts val="0"/>
              </a:spcBef>
              <a:spcAft>
                <a:spcPts val="200"/>
              </a:spcAft>
              <a:defRPr sz="880" b="1">
                <a:solidFill>
                  <a:srgbClr val="597080"/>
                </a:solidFill>
                <a:latin typeface="Calibri"/>
              </a:defRPr>
            </a:pPr>
            <a:r>
              <a:t>EXPLORE</a:t>
            </a:r>
          </a:p>
        </p:txBody>
      </p:sp>
      <p:sp>
        <p:nvSpPr>
          <p:cNvPr id="8" name="Rounded Rectangle 7"/>
          <p:cNvSpPr/>
          <p:nvPr/>
        </p:nvSpPr>
        <p:spPr>
          <a:xfrm>
            <a:off x="10104120" y="210312"/>
            <a:ext cx="768096" cy="237744"/>
          </a:xfrm>
          <a:prstGeom prst="roundRect">
            <a:avLst>
              <a:gd name="adj" fmla="val 8000"/>
            </a:avLst>
          </a:prstGeom>
          <a:solidFill>
            <a:srgbClr val="006E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104120" y="246888"/>
            <a:ext cx="768096" cy="128016"/>
          </a:xfrm>
          <a:prstGeom prst="rect">
            <a:avLst/>
          </a:prstGeom>
          <a:noFill/>
        </p:spPr>
        <p:txBody>
          <a:bodyPr wrap="square" lIns="0" tIns="0" rIns="0" bIns="0">
            <a:spAutoFit/>
          </a:bodyPr>
          <a:lstStyle/>
          <a:p>
            <a:pPr algn="ctr">
              <a:lnSpc>
                <a:spcPct val="104000"/>
              </a:lnSpc>
              <a:spcBef>
                <a:spcPts val="0"/>
              </a:spcBef>
              <a:spcAft>
                <a:spcPts val="200"/>
              </a:spcAft>
              <a:defRPr sz="880" b="1">
                <a:solidFill>
                  <a:srgbClr val="FFFFFF"/>
                </a:solidFill>
                <a:latin typeface="Calibri"/>
              </a:defRPr>
            </a:pPr>
            <a:r>
              <a:t>CHOOSE</a:t>
            </a:r>
          </a:p>
        </p:txBody>
      </p:sp>
      <p:sp>
        <p:nvSpPr>
          <p:cNvPr id="10" name="Rounded Rectangle 9"/>
          <p:cNvSpPr/>
          <p:nvPr/>
        </p:nvSpPr>
        <p:spPr>
          <a:xfrm>
            <a:off x="10927080" y="210312"/>
            <a:ext cx="768096" cy="237744"/>
          </a:xfrm>
          <a:prstGeom prst="roundRect">
            <a:avLst>
              <a:gd name="adj" fmla="val 8000"/>
            </a:avLst>
          </a:prstGeom>
          <a:solidFill>
            <a:srgbClr val="D7E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927080" y="246888"/>
            <a:ext cx="768096" cy="128016"/>
          </a:xfrm>
          <a:prstGeom prst="rect">
            <a:avLst/>
          </a:prstGeom>
          <a:noFill/>
        </p:spPr>
        <p:txBody>
          <a:bodyPr wrap="square" lIns="0" tIns="0" rIns="0" bIns="0">
            <a:spAutoFit/>
          </a:bodyPr>
          <a:lstStyle/>
          <a:p>
            <a:pPr algn="ctr">
              <a:lnSpc>
                <a:spcPct val="104000"/>
              </a:lnSpc>
              <a:spcBef>
                <a:spcPts val="0"/>
              </a:spcBef>
              <a:spcAft>
                <a:spcPts val="200"/>
              </a:spcAft>
              <a:defRPr sz="880" b="1">
                <a:solidFill>
                  <a:srgbClr val="597080"/>
                </a:solidFill>
                <a:latin typeface="Calibri"/>
              </a:defRPr>
            </a:pPr>
            <a:r>
              <a:t>TEST</a:t>
            </a:r>
          </a:p>
        </p:txBody>
      </p:sp>
      <p:sp>
        <p:nvSpPr>
          <p:cNvPr id="12" name="TextBox 11"/>
          <p:cNvSpPr txBox="1"/>
          <p:nvPr/>
        </p:nvSpPr>
        <p:spPr>
          <a:xfrm>
            <a:off x="457200" y="758952"/>
            <a:ext cx="585216" cy="438912"/>
          </a:xfrm>
          <a:prstGeom prst="rect">
            <a:avLst/>
          </a:prstGeom>
          <a:noFill/>
        </p:spPr>
        <p:txBody>
          <a:bodyPr wrap="square" lIns="0" tIns="0" rIns="0" bIns="0">
            <a:spAutoFit/>
          </a:bodyPr>
          <a:lstStyle/>
          <a:p>
            <a:pPr>
              <a:lnSpc>
                <a:spcPct val="104000"/>
              </a:lnSpc>
              <a:spcBef>
                <a:spcPts val="0"/>
              </a:spcBef>
              <a:spcAft>
                <a:spcPts val="200"/>
              </a:spcAft>
              <a:defRPr sz="2400" b="1">
                <a:solidFill>
                  <a:srgbClr val="006E75"/>
                </a:solidFill>
                <a:latin typeface="Calibri"/>
              </a:defRPr>
            </a:pPr>
            <a:r>
              <a:t>07</a:t>
            </a:r>
          </a:p>
        </p:txBody>
      </p:sp>
      <p:sp>
        <p:nvSpPr>
          <p:cNvPr id="13" name="TextBox 12"/>
          <p:cNvSpPr txBox="1"/>
          <p:nvPr/>
        </p:nvSpPr>
        <p:spPr>
          <a:xfrm>
            <a:off x="1143000" y="713232"/>
            <a:ext cx="10424160" cy="457200"/>
          </a:xfrm>
          <a:prstGeom prst="rect">
            <a:avLst/>
          </a:prstGeom>
          <a:noFill/>
        </p:spPr>
        <p:txBody>
          <a:bodyPr wrap="square" lIns="0" tIns="0" rIns="0" bIns="0">
            <a:spAutoFit/>
          </a:bodyPr>
          <a:lstStyle/>
          <a:p>
            <a:pPr>
              <a:lnSpc>
                <a:spcPct val="104000"/>
              </a:lnSpc>
              <a:spcBef>
                <a:spcPts val="0"/>
              </a:spcBef>
              <a:spcAft>
                <a:spcPts val="200"/>
              </a:spcAft>
              <a:defRPr sz="2700" b="1">
                <a:solidFill>
                  <a:srgbClr val="153347"/>
                </a:solidFill>
                <a:latin typeface="Calibri"/>
              </a:defRPr>
            </a:pPr>
            <a:r>
              <a:t>Select with evidence and trade-offs</a:t>
            </a:r>
          </a:p>
        </p:txBody>
      </p:sp>
      <p:sp>
        <p:nvSpPr>
          <p:cNvPr id="14" name="TextBox 13"/>
          <p:cNvSpPr txBox="1"/>
          <p:nvPr/>
        </p:nvSpPr>
        <p:spPr>
          <a:xfrm>
            <a:off x="475488" y="1252728"/>
            <a:ext cx="11201400" cy="457200"/>
          </a:xfrm>
          <a:prstGeom prst="rect">
            <a:avLst/>
          </a:prstGeom>
          <a:noFill/>
        </p:spPr>
        <p:txBody>
          <a:bodyPr wrap="square" lIns="0" tIns="0" rIns="0" bIns="0">
            <a:spAutoFit/>
          </a:bodyPr>
          <a:lstStyle/>
          <a:p>
            <a:pPr>
              <a:lnSpc>
                <a:spcPct val="104000"/>
              </a:lnSpc>
              <a:spcBef>
                <a:spcPts val="0"/>
              </a:spcBef>
              <a:spcAft>
                <a:spcPts val="200"/>
              </a:spcAft>
              <a:defRPr sz="1550" b="0">
                <a:solidFill>
                  <a:srgbClr val="597080"/>
                </a:solidFill>
                <a:latin typeface="Calibri"/>
              </a:defRPr>
            </a:pPr>
            <a:r>
              <a:t>Use the same criteria for all three concepts; serious risks override a high score.</a:t>
            </a:r>
          </a:p>
        </p:txBody>
      </p:sp>
      <p:sp>
        <p:nvSpPr>
          <p:cNvPr id="15" name="Rectangle 14"/>
          <p:cNvSpPr/>
          <p:nvPr/>
        </p:nvSpPr>
        <p:spPr>
          <a:xfrm>
            <a:off x="457200" y="6428232"/>
            <a:ext cx="11274552" cy="9144"/>
          </a:xfrm>
          <a:prstGeom prst="rect">
            <a:avLst/>
          </a:prstGeom>
          <a:solidFill>
            <a:srgbClr val="D7E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57200" y="6528816"/>
            <a:ext cx="7589520" cy="155448"/>
          </a:xfrm>
          <a:prstGeom prst="rect">
            <a:avLst/>
          </a:prstGeom>
          <a:noFill/>
        </p:spPr>
        <p:txBody>
          <a:bodyPr wrap="square" lIns="0" tIns="0" rIns="0" bIns="0">
            <a:spAutoFit/>
          </a:bodyPr>
          <a:lstStyle/>
          <a:p>
            <a:pPr>
              <a:lnSpc>
                <a:spcPct val="104000"/>
              </a:lnSpc>
              <a:spcBef>
                <a:spcPts val="0"/>
              </a:spcBef>
              <a:spcAft>
                <a:spcPts val="200"/>
              </a:spcAft>
              <a:defRPr sz="900" b="0">
                <a:solidFill>
                  <a:srgbClr val="597080"/>
                </a:solidFill>
                <a:latin typeface="Calibri"/>
              </a:defRPr>
            </a:pPr>
            <a:r>
              <a:t>TEAM TITANS • LABELGUARD • DRAFT FOR MENTOR REVIEW</a:t>
            </a:r>
          </a:p>
        </p:txBody>
      </p:sp>
      <p:sp>
        <p:nvSpPr>
          <p:cNvPr id="17" name="TextBox 16"/>
          <p:cNvSpPr txBox="1"/>
          <p:nvPr/>
        </p:nvSpPr>
        <p:spPr>
          <a:xfrm>
            <a:off x="8321040" y="6510528"/>
            <a:ext cx="2194560" cy="201168"/>
          </a:xfrm>
          <a:prstGeom prst="rect">
            <a:avLst/>
          </a:prstGeom>
          <a:noFill/>
        </p:spPr>
        <p:txBody>
          <a:bodyPr wrap="square" lIns="0" tIns="0" rIns="0" bIns="0">
            <a:spAutoFit/>
          </a:bodyPr>
          <a:lstStyle/>
          <a:p>
            <a:pPr algn="r">
              <a:lnSpc>
                <a:spcPct val="104000"/>
              </a:lnSpc>
              <a:spcBef>
                <a:spcPts val="0"/>
              </a:spcBef>
              <a:spcAft>
                <a:spcPts val="200"/>
              </a:spcAft>
              <a:defRPr sz="1000" b="1">
                <a:solidFill>
                  <a:srgbClr val="006E75"/>
                </a:solidFill>
                <a:latin typeface="Calibri"/>
              </a:defRPr>
            </a:pPr>
            <a:r>
              <a:t>P2 • 16 OCT 2026</a:t>
            </a:r>
          </a:p>
        </p:txBody>
      </p:sp>
      <p:sp>
        <p:nvSpPr>
          <p:cNvPr id="18" name="TextBox 17"/>
          <p:cNvSpPr txBox="1"/>
          <p:nvPr/>
        </p:nvSpPr>
        <p:spPr>
          <a:xfrm>
            <a:off x="10908792" y="6510528"/>
            <a:ext cx="786384" cy="201168"/>
          </a:xfrm>
          <a:prstGeom prst="rect">
            <a:avLst/>
          </a:prstGeom>
          <a:noFill/>
        </p:spPr>
        <p:txBody>
          <a:bodyPr wrap="square" lIns="0" tIns="0" rIns="0" bIns="0">
            <a:spAutoFit/>
          </a:bodyPr>
          <a:lstStyle/>
          <a:p>
            <a:pPr algn="r">
              <a:lnSpc>
                <a:spcPct val="104000"/>
              </a:lnSpc>
              <a:spcBef>
                <a:spcPts val="0"/>
              </a:spcBef>
              <a:spcAft>
                <a:spcPts val="200"/>
              </a:spcAft>
              <a:defRPr sz="1000" b="0">
                <a:solidFill>
                  <a:srgbClr val="597080"/>
                </a:solidFill>
                <a:latin typeface="Calibri"/>
              </a:defRPr>
            </a:pPr>
            <a:r>
              <a:t>7/11</a:t>
            </a:r>
          </a:p>
        </p:txBody>
      </p:sp>
      <p:graphicFrame>
        <p:nvGraphicFramePr>
          <p:cNvPr id="19" name="Table 18"/>
          <p:cNvGraphicFramePr>
            <a:graphicFrameLocks noGrp="1"/>
          </p:cNvGraphicFramePr>
          <p:nvPr/>
        </p:nvGraphicFramePr>
        <p:xfrm>
          <a:off x="457200" y="1828800"/>
          <a:ext cx="5138927" cy="2450592"/>
        </p:xfrm>
        <a:graphic>
          <a:graphicData uri="http://schemas.openxmlformats.org/drawingml/2006/table">
            <a:tbl>
              <a:tblPr firstRow="1" bandRow="1">
                <a:tableStyleId>{5C22544A-7EE6-4342-B048-85BDC9FD1C3A}</a:tableStyleId>
              </a:tblPr>
              <a:tblGrid>
                <a:gridCol w="1874519">
                  <a:extLst>
                    <a:ext uri="{9D8B030D-6E8A-4147-A177-3AD203B41FA5}">
                      <a16:colId xmlns:a16="http://schemas.microsoft.com/office/drawing/2014/main" val="20000"/>
                    </a:ext>
                  </a:extLst>
                </a:gridCol>
                <a:gridCol w="987552">
                  <a:extLst>
                    <a:ext uri="{9D8B030D-6E8A-4147-A177-3AD203B41FA5}">
                      <a16:colId xmlns:a16="http://schemas.microsoft.com/office/drawing/2014/main" val="20001"/>
                    </a:ext>
                  </a:extLst>
                </a:gridCol>
                <a:gridCol w="758952">
                  <a:extLst>
                    <a:ext uri="{9D8B030D-6E8A-4147-A177-3AD203B41FA5}">
                      <a16:colId xmlns:a16="http://schemas.microsoft.com/office/drawing/2014/main" val="20002"/>
                    </a:ext>
                  </a:extLst>
                </a:gridCol>
                <a:gridCol w="758952">
                  <a:extLst>
                    <a:ext uri="{9D8B030D-6E8A-4147-A177-3AD203B41FA5}">
                      <a16:colId xmlns:a16="http://schemas.microsoft.com/office/drawing/2014/main" val="20003"/>
                    </a:ext>
                  </a:extLst>
                </a:gridCol>
                <a:gridCol w="758952">
                  <a:extLst>
                    <a:ext uri="{9D8B030D-6E8A-4147-A177-3AD203B41FA5}">
                      <a16:colId xmlns:a16="http://schemas.microsoft.com/office/drawing/2014/main" val="20004"/>
                    </a:ext>
                  </a:extLst>
                </a:gridCol>
              </a:tblGrid>
              <a:tr h="365760">
                <a:tc>
                  <a:txBody>
                    <a:bodyPr/>
                    <a:lstStyle/>
                    <a:p>
                      <a:pPr>
                        <a:lnSpc>
                          <a:spcPct val="104000"/>
                        </a:lnSpc>
                        <a:spcAft>
                          <a:spcPts val="0"/>
                        </a:spcAft>
                        <a:defRPr sz="1300" b="1">
                          <a:solidFill>
                            <a:srgbClr val="FFFFFF"/>
                          </a:solidFill>
                          <a:latin typeface="Calibri"/>
                        </a:defRPr>
                      </a:pPr>
                      <a:r>
                        <a:t>Criterion</a:t>
                      </a:r>
                    </a:p>
                  </a:txBody>
                  <a:tcPr marL="109728" marR="109728" marT="64008" marB="64008" anchor="ctr">
                    <a:solidFill>
                      <a:srgbClr val="153347"/>
                    </a:solidFill>
                  </a:tcPr>
                </a:tc>
                <a:tc>
                  <a:txBody>
                    <a:bodyPr/>
                    <a:lstStyle/>
                    <a:p>
                      <a:pPr>
                        <a:lnSpc>
                          <a:spcPct val="104000"/>
                        </a:lnSpc>
                        <a:spcAft>
                          <a:spcPts val="0"/>
                        </a:spcAft>
                        <a:defRPr sz="1300" b="1">
                          <a:solidFill>
                            <a:srgbClr val="FFFFFF"/>
                          </a:solidFill>
                          <a:latin typeface="Calibri"/>
                        </a:defRPr>
                      </a:pPr>
                      <a:r>
                        <a:t>Weight</a:t>
                      </a:r>
                    </a:p>
                  </a:txBody>
                  <a:tcPr marL="109728" marR="109728" marT="64008" marB="64008" anchor="ctr">
                    <a:solidFill>
                      <a:srgbClr val="153347"/>
                    </a:solidFill>
                  </a:tcPr>
                </a:tc>
                <a:tc>
                  <a:txBody>
                    <a:bodyPr/>
                    <a:lstStyle/>
                    <a:p>
                      <a:pPr>
                        <a:lnSpc>
                          <a:spcPct val="104000"/>
                        </a:lnSpc>
                        <a:spcAft>
                          <a:spcPts val="0"/>
                        </a:spcAft>
                        <a:defRPr sz="1300" b="1">
                          <a:solidFill>
                            <a:srgbClr val="FFFFFF"/>
                          </a:solidFill>
                          <a:latin typeface="Calibri"/>
                        </a:defRPr>
                      </a:pPr>
                      <a:r>
                        <a:t>I01</a:t>
                      </a:r>
                    </a:p>
                  </a:txBody>
                  <a:tcPr marL="109728" marR="109728" marT="64008" marB="64008" anchor="ctr">
                    <a:solidFill>
                      <a:srgbClr val="153347"/>
                    </a:solidFill>
                  </a:tcPr>
                </a:tc>
                <a:tc>
                  <a:txBody>
                    <a:bodyPr/>
                    <a:lstStyle/>
                    <a:p>
                      <a:pPr>
                        <a:lnSpc>
                          <a:spcPct val="104000"/>
                        </a:lnSpc>
                        <a:spcAft>
                          <a:spcPts val="0"/>
                        </a:spcAft>
                        <a:defRPr sz="1300" b="1">
                          <a:solidFill>
                            <a:srgbClr val="FFFFFF"/>
                          </a:solidFill>
                          <a:latin typeface="Calibri"/>
                        </a:defRPr>
                      </a:pPr>
                      <a:r>
                        <a:t>I02</a:t>
                      </a:r>
                    </a:p>
                  </a:txBody>
                  <a:tcPr marL="109728" marR="109728" marT="64008" marB="64008" anchor="ctr">
                    <a:solidFill>
                      <a:srgbClr val="153347"/>
                    </a:solidFill>
                  </a:tcPr>
                </a:tc>
                <a:tc>
                  <a:txBody>
                    <a:bodyPr/>
                    <a:lstStyle/>
                    <a:p>
                      <a:pPr>
                        <a:lnSpc>
                          <a:spcPct val="104000"/>
                        </a:lnSpc>
                        <a:spcAft>
                          <a:spcPts val="0"/>
                        </a:spcAft>
                        <a:defRPr sz="1300" b="1">
                          <a:solidFill>
                            <a:srgbClr val="FFFFFF"/>
                          </a:solidFill>
                          <a:latin typeface="Calibri"/>
                        </a:defRPr>
                      </a:pPr>
                      <a:r>
                        <a:t>I03</a:t>
                      </a:r>
                    </a:p>
                  </a:txBody>
                  <a:tcPr marL="109728" marR="109728" marT="64008" marB="64008" anchor="ctr">
                    <a:solidFill>
                      <a:srgbClr val="153347"/>
                    </a:solidFill>
                  </a:tcPr>
                </a:tc>
                <a:extLst>
                  <a:ext uri="{0D108BD9-81ED-4DB2-BD59-A6C34878D82A}">
                    <a16:rowId xmlns:a16="http://schemas.microsoft.com/office/drawing/2014/main" val="10000"/>
                  </a:ext>
                </a:extLst>
              </a:tr>
              <a:tr h="411480">
                <a:tc>
                  <a:txBody>
                    <a:bodyPr/>
                    <a:lstStyle/>
                    <a:p>
                      <a:pPr>
                        <a:lnSpc>
                          <a:spcPct val="104000"/>
                        </a:lnSpc>
                        <a:spcAft>
                          <a:spcPts val="0"/>
                        </a:spcAft>
                        <a:defRPr sz="1600" b="0">
                          <a:solidFill>
                            <a:srgbClr val="243A49"/>
                          </a:solidFill>
                          <a:latin typeface="Calibri"/>
                        </a:defRPr>
                      </a:pPr>
                      <a:r>
                        <a:t>Desirability</a:t>
                      </a:r>
                    </a:p>
                  </a:txBody>
                  <a:tcPr marL="109728" marR="109728" marT="64008" marB="64008" anchor="ctr">
                    <a:solidFill>
                      <a:srgbClr val="FFFFFF"/>
                    </a:solidFill>
                  </a:tcPr>
                </a:tc>
                <a:tc>
                  <a:txBody>
                    <a:bodyPr/>
                    <a:lstStyle/>
                    <a:p>
                      <a:pPr>
                        <a:lnSpc>
                          <a:spcPct val="104000"/>
                        </a:lnSpc>
                        <a:spcAft>
                          <a:spcPts val="0"/>
                        </a:spcAft>
                        <a:defRPr sz="1600" b="0">
                          <a:solidFill>
                            <a:srgbClr val="243A49"/>
                          </a:solidFill>
                          <a:latin typeface="Calibri"/>
                        </a:defRPr>
                      </a:pPr>
                      <a:r>
                        <a:t>35</a:t>
                      </a:r>
                    </a:p>
                  </a:txBody>
                  <a:tcPr marL="109728" marR="109728" marT="64008" marB="64008" anchor="ctr">
                    <a:solidFill>
                      <a:srgbClr val="FFFFFF"/>
                    </a:solidFill>
                  </a:tcPr>
                </a:tc>
                <a:tc>
                  <a:txBody>
                    <a:bodyPr/>
                    <a:lstStyle/>
                    <a:p>
                      <a:pPr>
                        <a:lnSpc>
                          <a:spcPct val="104000"/>
                        </a:lnSpc>
                        <a:spcAft>
                          <a:spcPts val="0"/>
                        </a:spcAft>
                        <a:defRPr sz="1600" b="0">
                          <a:solidFill>
                            <a:srgbClr val="243A49"/>
                          </a:solidFill>
                          <a:latin typeface="Calibri"/>
                        </a:defRPr>
                      </a:pPr>
                      <a:r>
                        <a:t>U</a:t>
                      </a:r>
                    </a:p>
                  </a:txBody>
                  <a:tcPr marL="109728" marR="109728" marT="64008" marB="64008" anchor="ctr">
                    <a:solidFill>
                      <a:srgbClr val="FFFFFF"/>
                    </a:solidFill>
                  </a:tcPr>
                </a:tc>
                <a:tc>
                  <a:txBody>
                    <a:bodyPr/>
                    <a:lstStyle/>
                    <a:p>
                      <a:pPr>
                        <a:lnSpc>
                          <a:spcPct val="104000"/>
                        </a:lnSpc>
                        <a:spcAft>
                          <a:spcPts val="0"/>
                        </a:spcAft>
                        <a:defRPr sz="1600" b="0">
                          <a:solidFill>
                            <a:srgbClr val="243A49"/>
                          </a:solidFill>
                          <a:latin typeface="Calibri"/>
                        </a:defRPr>
                      </a:pPr>
                      <a:r>
                        <a:t>U</a:t>
                      </a:r>
                    </a:p>
                  </a:txBody>
                  <a:tcPr marL="109728" marR="109728" marT="64008" marB="64008" anchor="ctr">
                    <a:solidFill>
                      <a:srgbClr val="FFFFFF"/>
                    </a:solidFill>
                  </a:tcPr>
                </a:tc>
                <a:tc>
                  <a:txBody>
                    <a:bodyPr/>
                    <a:lstStyle/>
                    <a:p>
                      <a:pPr>
                        <a:lnSpc>
                          <a:spcPct val="104000"/>
                        </a:lnSpc>
                        <a:spcAft>
                          <a:spcPts val="0"/>
                        </a:spcAft>
                        <a:defRPr sz="1600" b="0">
                          <a:solidFill>
                            <a:srgbClr val="243A49"/>
                          </a:solidFill>
                          <a:latin typeface="Calibri"/>
                        </a:defRPr>
                      </a:pPr>
                      <a:r>
                        <a:t>U</a:t>
                      </a:r>
                    </a:p>
                  </a:txBody>
                  <a:tcPr marL="109728" marR="109728" marT="64008" marB="64008" anchor="ctr">
                    <a:solidFill>
                      <a:srgbClr val="FFFFFF"/>
                    </a:solidFill>
                  </a:tcPr>
                </a:tc>
                <a:extLst>
                  <a:ext uri="{0D108BD9-81ED-4DB2-BD59-A6C34878D82A}">
                    <a16:rowId xmlns:a16="http://schemas.microsoft.com/office/drawing/2014/main" val="10001"/>
                  </a:ext>
                </a:extLst>
              </a:tr>
              <a:tr h="411480">
                <a:tc>
                  <a:txBody>
                    <a:bodyPr/>
                    <a:lstStyle/>
                    <a:p>
                      <a:pPr>
                        <a:lnSpc>
                          <a:spcPct val="104000"/>
                        </a:lnSpc>
                        <a:spcAft>
                          <a:spcPts val="0"/>
                        </a:spcAft>
                        <a:defRPr sz="1600" b="0">
                          <a:solidFill>
                            <a:srgbClr val="243A49"/>
                          </a:solidFill>
                          <a:latin typeface="Calibri"/>
                        </a:defRPr>
                      </a:pPr>
                      <a:r>
                        <a:t>Feasibility</a:t>
                      </a:r>
                    </a:p>
                  </a:txBody>
                  <a:tcPr marL="109728" marR="109728" marT="64008" marB="64008" anchor="ctr">
                    <a:solidFill>
                      <a:srgbClr val="E7F3F1"/>
                    </a:solidFill>
                  </a:tcPr>
                </a:tc>
                <a:tc>
                  <a:txBody>
                    <a:bodyPr/>
                    <a:lstStyle/>
                    <a:p>
                      <a:pPr>
                        <a:lnSpc>
                          <a:spcPct val="104000"/>
                        </a:lnSpc>
                        <a:spcAft>
                          <a:spcPts val="0"/>
                        </a:spcAft>
                        <a:defRPr sz="1600" b="0">
                          <a:solidFill>
                            <a:srgbClr val="243A49"/>
                          </a:solidFill>
                          <a:latin typeface="Calibri"/>
                        </a:defRPr>
                      </a:pPr>
                      <a:r>
                        <a:t>25</a:t>
                      </a:r>
                    </a:p>
                  </a:txBody>
                  <a:tcPr marL="109728" marR="109728" marT="64008" marB="64008" anchor="ctr">
                    <a:solidFill>
                      <a:srgbClr val="E7F3F1"/>
                    </a:solidFill>
                  </a:tcPr>
                </a:tc>
                <a:tc>
                  <a:txBody>
                    <a:bodyPr/>
                    <a:lstStyle/>
                    <a:p>
                      <a:pPr>
                        <a:lnSpc>
                          <a:spcPct val="104000"/>
                        </a:lnSpc>
                        <a:spcAft>
                          <a:spcPts val="0"/>
                        </a:spcAft>
                        <a:defRPr sz="1600" b="0">
                          <a:solidFill>
                            <a:srgbClr val="243A49"/>
                          </a:solidFill>
                          <a:latin typeface="Calibri"/>
                        </a:defRPr>
                      </a:pPr>
                      <a:r>
                        <a:t>4*</a:t>
                      </a:r>
                    </a:p>
                  </a:txBody>
                  <a:tcPr marL="109728" marR="109728" marT="64008" marB="64008" anchor="ctr">
                    <a:solidFill>
                      <a:srgbClr val="E7F3F1"/>
                    </a:solidFill>
                  </a:tcPr>
                </a:tc>
                <a:tc>
                  <a:txBody>
                    <a:bodyPr/>
                    <a:lstStyle/>
                    <a:p>
                      <a:pPr>
                        <a:lnSpc>
                          <a:spcPct val="104000"/>
                        </a:lnSpc>
                        <a:spcAft>
                          <a:spcPts val="0"/>
                        </a:spcAft>
                        <a:defRPr sz="1600" b="0">
                          <a:solidFill>
                            <a:srgbClr val="243A49"/>
                          </a:solidFill>
                          <a:latin typeface="Calibri"/>
                        </a:defRPr>
                      </a:pPr>
                      <a:r>
                        <a:t>3*</a:t>
                      </a:r>
                    </a:p>
                  </a:txBody>
                  <a:tcPr marL="109728" marR="109728" marT="64008" marB="64008" anchor="ctr">
                    <a:solidFill>
                      <a:srgbClr val="E7F3F1"/>
                    </a:solidFill>
                  </a:tcPr>
                </a:tc>
                <a:tc>
                  <a:txBody>
                    <a:bodyPr/>
                    <a:lstStyle/>
                    <a:p>
                      <a:pPr>
                        <a:lnSpc>
                          <a:spcPct val="104000"/>
                        </a:lnSpc>
                        <a:spcAft>
                          <a:spcPts val="0"/>
                        </a:spcAft>
                        <a:defRPr sz="1600" b="0">
                          <a:solidFill>
                            <a:srgbClr val="243A49"/>
                          </a:solidFill>
                          <a:latin typeface="Calibri"/>
                        </a:defRPr>
                      </a:pPr>
                      <a:r>
                        <a:t>2*</a:t>
                      </a:r>
                    </a:p>
                  </a:txBody>
                  <a:tcPr marL="109728" marR="109728" marT="64008" marB="64008" anchor="ctr">
                    <a:solidFill>
                      <a:srgbClr val="E7F3F1"/>
                    </a:solidFill>
                  </a:tcPr>
                </a:tc>
                <a:extLst>
                  <a:ext uri="{0D108BD9-81ED-4DB2-BD59-A6C34878D82A}">
                    <a16:rowId xmlns:a16="http://schemas.microsoft.com/office/drawing/2014/main" val="10002"/>
                  </a:ext>
                </a:extLst>
              </a:tr>
              <a:tr h="411480">
                <a:tc>
                  <a:txBody>
                    <a:bodyPr/>
                    <a:lstStyle/>
                    <a:p>
                      <a:pPr>
                        <a:lnSpc>
                          <a:spcPct val="104000"/>
                        </a:lnSpc>
                        <a:spcAft>
                          <a:spcPts val="0"/>
                        </a:spcAft>
                        <a:defRPr sz="1600" b="0">
                          <a:solidFill>
                            <a:srgbClr val="243A49"/>
                          </a:solidFill>
                          <a:latin typeface="Calibri"/>
                        </a:defRPr>
                      </a:pPr>
                      <a:r>
                        <a:t>Viability / Value</a:t>
                      </a:r>
                    </a:p>
                  </a:txBody>
                  <a:tcPr marL="109728" marR="109728" marT="64008" marB="64008" anchor="ctr">
                    <a:solidFill>
                      <a:srgbClr val="FFFFFF"/>
                    </a:solidFill>
                  </a:tcPr>
                </a:tc>
                <a:tc>
                  <a:txBody>
                    <a:bodyPr/>
                    <a:lstStyle/>
                    <a:p>
                      <a:pPr>
                        <a:lnSpc>
                          <a:spcPct val="104000"/>
                        </a:lnSpc>
                        <a:spcAft>
                          <a:spcPts val="0"/>
                        </a:spcAft>
                        <a:defRPr sz="1600" b="0">
                          <a:solidFill>
                            <a:srgbClr val="243A49"/>
                          </a:solidFill>
                          <a:latin typeface="Calibri"/>
                        </a:defRPr>
                      </a:pPr>
                      <a:r>
                        <a:t>20</a:t>
                      </a:r>
                    </a:p>
                  </a:txBody>
                  <a:tcPr marL="109728" marR="109728" marT="64008" marB="64008" anchor="ctr">
                    <a:solidFill>
                      <a:srgbClr val="FFFFFF"/>
                    </a:solidFill>
                  </a:tcPr>
                </a:tc>
                <a:tc>
                  <a:txBody>
                    <a:bodyPr/>
                    <a:lstStyle/>
                    <a:p>
                      <a:pPr>
                        <a:lnSpc>
                          <a:spcPct val="104000"/>
                        </a:lnSpc>
                        <a:spcAft>
                          <a:spcPts val="0"/>
                        </a:spcAft>
                        <a:defRPr sz="1600" b="0">
                          <a:solidFill>
                            <a:srgbClr val="243A49"/>
                          </a:solidFill>
                          <a:latin typeface="Calibri"/>
                        </a:defRPr>
                      </a:pPr>
                      <a:r>
                        <a:t>3*</a:t>
                      </a:r>
                    </a:p>
                  </a:txBody>
                  <a:tcPr marL="109728" marR="109728" marT="64008" marB="64008" anchor="ctr">
                    <a:solidFill>
                      <a:srgbClr val="FFFFFF"/>
                    </a:solidFill>
                  </a:tcPr>
                </a:tc>
                <a:tc>
                  <a:txBody>
                    <a:bodyPr/>
                    <a:lstStyle/>
                    <a:p>
                      <a:pPr>
                        <a:lnSpc>
                          <a:spcPct val="104000"/>
                        </a:lnSpc>
                        <a:spcAft>
                          <a:spcPts val="0"/>
                        </a:spcAft>
                        <a:defRPr sz="1600" b="0">
                          <a:solidFill>
                            <a:srgbClr val="243A49"/>
                          </a:solidFill>
                          <a:latin typeface="Calibri"/>
                        </a:defRPr>
                      </a:pPr>
                      <a:r>
                        <a:t>4*</a:t>
                      </a:r>
                    </a:p>
                  </a:txBody>
                  <a:tcPr marL="109728" marR="109728" marT="64008" marB="64008" anchor="ctr">
                    <a:solidFill>
                      <a:srgbClr val="FFFFFF"/>
                    </a:solidFill>
                  </a:tcPr>
                </a:tc>
                <a:tc>
                  <a:txBody>
                    <a:bodyPr/>
                    <a:lstStyle/>
                    <a:p>
                      <a:pPr>
                        <a:lnSpc>
                          <a:spcPct val="104000"/>
                        </a:lnSpc>
                        <a:spcAft>
                          <a:spcPts val="0"/>
                        </a:spcAft>
                        <a:defRPr sz="1600" b="0">
                          <a:solidFill>
                            <a:srgbClr val="243A49"/>
                          </a:solidFill>
                          <a:latin typeface="Calibri"/>
                        </a:defRPr>
                      </a:pPr>
                      <a:r>
                        <a:t>4*</a:t>
                      </a:r>
                    </a:p>
                  </a:txBody>
                  <a:tcPr marL="109728" marR="109728" marT="64008" marB="64008" anchor="ctr">
                    <a:solidFill>
                      <a:srgbClr val="FFFFFF"/>
                    </a:solidFill>
                  </a:tcPr>
                </a:tc>
                <a:extLst>
                  <a:ext uri="{0D108BD9-81ED-4DB2-BD59-A6C34878D82A}">
                    <a16:rowId xmlns:a16="http://schemas.microsoft.com/office/drawing/2014/main" val="10003"/>
                  </a:ext>
                </a:extLst>
              </a:tr>
              <a:tr h="411480">
                <a:tc>
                  <a:txBody>
                    <a:bodyPr/>
                    <a:lstStyle/>
                    <a:p>
                      <a:pPr>
                        <a:lnSpc>
                          <a:spcPct val="104000"/>
                        </a:lnSpc>
                        <a:spcAft>
                          <a:spcPts val="0"/>
                        </a:spcAft>
                        <a:defRPr sz="1600" b="0">
                          <a:solidFill>
                            <a:srgbClr val="243A49"/>
                          </a:solidFill>
                          <a:latin typeface="Calibri"/>
                        </a:defRPr>
                      </a:pPr>
                      <a:r>
                        <a:t>Responsibility</a:t>
                      </a:r>
                    </a:p>
                  </a:txBody>
                  <a:tcPr marL="109728" marR="109728" marT="64008" marB="64008" anchor="ctr">
                    <a:solidFill>
                      <a:srgbClr val="E7F3F1"/>
                    </a:solidFill>
                  </a:tcPr>
                </a:tc>
                <a:tc>
                  <a:txBody>
                    <a:bodyPr/>
                    <a:lstStyle/>
                    <a:p>
                      <a:pPr>
                        <a:lnSpc>
                          <a:spcPct val="104000"/>
                        </a:lnSpc>
                        <a:spcAft>
                          <a:spcPts val="0"/>
                        </a:spcAft>
                        <a:defRPr sz="1600" b="0">
                          <a:solidFill>
                            <a:srgbClr val="243A49"/>
                          </a:solidFill>
                          <a:latin typeface="Calibri"/>
                        </a:defRPr>
                      </a:pPr>
                      <a:r>
                        <a:t>20</a:t>
                      </a:r>
                    </a:p>
                  </a:txBody>
                  <a:tcPr marL="109728" marR="109728" marT="64008" marB="64008" anchor="ctr">
                    <a:solidFill>
                      <a:srgbClr val="E7F3F1"/>
                    </a:solidFill>
                  </a:tcPr>
                </a:tc>
                <a:tc>
                  <a:txBody>
                    <a:bodyPr/>
                    <a:lstStyle/>
                    <a:p>
                      <a:pPr>
                        <a:lnSpc>
                          <a:spcPct val="104000"/>
                        </a:lnSpc>
                        <a:spcAft>
                          <a:spcPts val="0"/>
                        </a:spcAft>
                        <a:defRPr sz="1600" b="0">
                          <a:solidFill>
                            <a:srgbClr val="243A49"/>
                          </a:solidFill>
                          <a:latin typeface="Calibri"/>
                        </a:defRPr>
                      </a:pPr>
                      <a:r>
                        <a:t>5*</a:t>
                      </a:r>
                    </a:p>
                  </a:txBody>
                  <a:tcPr marL="109728" marR="109728" marT="64008" marB="64008" anchor="ctr">
                    <a:solidFill>
                      <a:srgbClr val="E7F3F1"/>
                    </a:solidFill>
                  </a:tcPr>
                </a:tc>
                <a:tc>
                  <a:txBody>
                    <a:bodyPr/>
                    <a:lstStyle/>
                    <a:p>
                      <a:pPr>
                        <a:lnSpc>
                          <a:spcPct val="104000"/>
                        </a:lnSpc>
                        <a:spcAft>
                          <a:spcPts val="0"/>
                        </a:spcAft>
                        <a:defRPr sz="1600" b="0">
                          <a:solidFill>
                            <a:srgbClr val="243A49"/>
                          </a:solidFill>
                          <a:latin typeface="Calibri"/>
                        </a:defRPr>
                      </a:pPr>
                      <a:r>
                        <a:t>4*</a:t>
                      </a:r>
                    </a:p>
                  </a:txBody>
                  <a:tcPr marL="109728" marR="109728" marT="64008" marB="64008" anchor="ctr">
                    <a:solidFill>
                      <a:srgbClr val="E7F3F1"/>
                    </a:solidFill>
                  </a:tcPr>
                </a:tc>
                <a:tc>
                  <a:txBody>
                    <a:bodyPr/>
                    <a:lstStyle/>
                    <a:p>
                      <a:pPr>
                        <a:lnSpc>
                          <a:spcPct val="104000"/>
                        </a:lnSpc>
                        <a:spcAft>
                          <a:spcPts val="0"/>
                        </a:spcAft>
                        <a:defRPr sz="1600" b="0">
                          <a:solidFill>
                            <a:srgbClr val="243A49"/>
                          </a:solidFill>
                          <a:latin typeface="Calibri"/>
                        </a:defRPr>
                      </a:pPr>
                      <a:r>
                        <a:t>3*</a:t>
                      </a:r>
                    </a:p>
                  </a:txBody>
                  <a:tcPr marL="109728" marR="109728" marT="64008" marB="64008" anchor="ctr">
                    <a:solidFill>
                      <a:srgbClr val="E7F3F1"/>
                    </a:solidFill>
                  </a:tcPr>
                </a:tc>
                <a:extLst>
                  <a:ext uri="{0D108BD9-81ED-4DB2-BD59-A6C34878D82A}">
                    <a16:rowId xmlns:a16="http://schemas.microsoft.com/office/drawing/2014/main" val="10004"/>
                  </a:ext>
                </a:extLst>
              </a:tr>
              <a:tr h="438912">
                <a:tc>
                  <a:txBody>
                    <a:bodyPr/>
                    <a:lstStyle/>
                    <a:p>
                      <a:pPr>
                        <a:lnSpc>
                          <a:spcPct val="104000"/>
                        </a:lnSpc>
                        <a:spcAft>
                          <a:spcPts val="0"/>
                        </a:spcAft>
                        <a:defRPr sz="1600" b="0">
                          <a:solidFill>
                            <a:srgbClr val="243A49"/>
                          </a:solidFill>
                          <a:latin typeface="Calibri"/>
                        </a:defRPr>
                      </a:pPr>
                      <a:r>
                        <a:t>Total / 100</a:t>
                      </a:r>
                    </a:p>
                  </a:txBody>
                  <a:tcPr marL="109728" marR="109728" marT="64008" marB="64008" anchor="ctr">
                    <a:solidFill>
                      <a:srgbClr val="FFFFFF"/>
                    </a:solidFill>
                  </a:tcPr>
                </a:tc>
                <a:tc>
                  <a:txBody>
                    <a:bodyPr/>
                    <a:lstStyle/>
                    <a:p>
                      <a:pPr>
                        <a:lnSpc>
                          <a:spcPct val="104000"/>
                        </a:lnSpc>
                        <a:spcAft>
                          <a:spcPts val="0"/>
                        </a:spcAft>
                        <a:defRPr sz="1600" b="0">
                          <a:solidFill>
                            <a:srgbClr val="243A49"/>
                          </a:solidFill>
                          <a:latin typeface="Calibri"/>
                        </a:defRPr>
                      </a:pPr>
                      <a:r>
                        <a:t>100</a:t>
                      </a:r>
                    </a:p>
                  </a:txBody>
                  <a:tcPr marL="109728" marR="109728" marT="64008" marB="64008" anchor="ctr">
                    <a:solidFill>
                      <a:srgbClr val="FFFFFF"/>
                    </a:solidFill>
                  </a:tcPr>
                </a:tc>
                <a:tc>
                  <a:txBody>
                    <a:bodyPr/>
                    <a:lstStyle/>
                    <a:p>
                      <a:pPr>
                        <a:lnSpc>
                          <a:spcPct val="104000"/>
                        </a:lnSpc>
                        <a:spcAft>
                          <a:spcPts val="0"/>
                        </a:spcAft>
                        <a:defRPr sz="1600" b="0">
                          <a:solidFill>
                            <a:srgbClr val="243A49"/>
                          </a:solidFill>
                          <a:latin typeface="Calibri"/>
                        </a:defRPr>
                      </a:pPr>
                      <a:r>
                        <a:t>—</a:t>
                      </a:r>
                    </a:p>
                  </a:txBody>
                  <a:tcPr marL="109728" marR="109728" marT="64008" marB="64008" anchor="ctr">
                    <a:solidFill>
                      <a:srgbClr val="FFFFFF"/>
                    </a:solidFill>
                  </a:tcPr>
                </a:tc>
                <a:tc>
                  <a:txBody>
                    <a:bodyPr/>
                    <a:lstStyle/>
                    <a:p>
                      <a:pPr>
                        <a:lnSpc>
                          <a:spcPct val="104000"/>
                        </a:lnSpc>
                        <a:spcAft>
                          <a:spcPts val="0"/>
                        </a:spcAft>
                        <a:defRPr sz="1600" b="0">
                          <a:solidFill>
                            <a:srgbClr val="243A49"/>
                          </a:solidFill>
                          <a:latin typeface="Calibri"/>
                        </a:defRPr>
                      </a:pPr>
                      <a:r>
                        <a:t>—</a:t>
                      </a:r>
                    </a:p>
                  </a:txBody>
                  <a:tcPr marL="109728" marR="109728" marT="64008" marB="64008" anchor="ctr">
                    <a:solidFill>
                      <a:srgbClr val="FFFFFF"/>
                    </a:solidFill>
                  </a:tcPr>
                </a:tc>
                <a:tc>
                  <a:txBody>
                    <a:bodyPr/>
                    <a:lstStyle/>
                    <a:p>
                      <a:pPr>
                        <a:lnSpc>
                          <a:spcPct val="104000"/>
                        </a:lnSpc>
                        <a:spcAft>
                          <a:spcPts val="0"/>
                        </a:spcAft>
                        <a:defRPr sz="1600" b="0">
                          <a:solidFill>
                            <a:srgbClr val="243A49"/>
                          </a:solidFill>
                          <a:latin typeface="Calibri"/>
                        </a:defRPr>
                      </a:pPr>
                      <a:r>
                        <a:t>—</a:t>
                      </a:r>
                    </a:p>
                  </a:txBody>
                  <a:tcPr marL="109728" marR="109728" marT="64008" marB="64008" anchor="ctr">
                    <a:solidFill>
                      <a:srgbClr val="FFFFFF"/>
                    </a:solidFill>
                  </a:tcPr>
                </a:tc>
                <a:extLst>
                  <a:ext uri="{0D108BD9-81ED-4DB2-BD59-A6C34878D82A}">
                    <a16:rowId xmlns:a16="http://schemas.microsoft.com/office/drawing/2014/main" val="10005"/>
                  </a:ext>
                </a:extLst>
              </a:tr>
            </a:tbl>
          </a:graphicData>
        </a:graphic>
      </p:graphicFrame>
      <p:sp>
        <p:nvSpPr>
          <p:cNvPr id="20" name="TextBox 19"/>
          <p:cNvSpPr txBox="1"/>
          <p:nvPr/>
        </p:nvSpPr>
        <p:spPr>
          <a:xfrm>
            <a:off x="475488" y="4507992"/>
            <a:ext cx="5074920" cy="548640"/>
          </a:xfrm>
          <a:prstGeom prst="rect">
            <a:avLst/>
          </a:prstGeom>
          <a:noFill/>
        </p:spPr>
        <p:txBody>
          <a:bodyPr wrap="square" lIns="0" tIns="0" rIns="0" bIns="0">
            <a:spAutoFit/>
          </a:bodyPr>
          <a:lstStyle/>
          <a:p>
            <a:pPr>
              <a:lnSpc>
                <a:spcPct val="104000"/>
              </a:lnSpc>
              <a:spcBef>
                <a:spcPts val="0"/>
              </a:spcBef>
              <a:spcAft>
                <a:spcPts val="200"/>
              </a:spcAft>
              <a:defRPr sz="1450" b="0">
                <a:solidFill>
                  <a:srgbClr val="597080"/>
                </a:solidFill>
                <a:latin typeface="Calibri"/>
              </a:defRPr>
            </a:pPr>
            <a:r>
              <a:t>Total = Σ(weight × rating ÷ 5)</a:t>
            </a:r>
          </a:p>
          <a:p>
            <a:pPr>
              <a:lnSpc>
                <a:spcPct val="104000"/>
              </a:lnSpc>
              <a:spcBef>
                <a:spcPts val="0"/>
              </a:spcBef>
              <a:spcAft>
                <a:spcPts val="200"/>
              </a:spcAft>
              <a:defRPr sz="1450" b="0">
                <a:solidFill>
                  <a:srgbClr val="597080"/>
                </a:solidFill>
                <a:latin typeface="Calibri"/>
              </a:defRPr>
            </a:pPr>
            <a:r>
              <a:t>1 = weak; 5 = strong; U = unknown → no total.</a:t>
            </a:r>
          </a:p>
        </p:txBody>
      </p:sp>
      <p:sp>
        <p:nvSpPr>
          <p:cNvPr id="21" name="TextBox 20"/>
          <p:cNvSpPr txBox="1"/>
          <p:nvPr/>
        </p:nvSpPr>
        <p:spPr>
          <a:xfrm>
            <a:off x="475488" y="5166360"/>
            <a:ext cx="5074920" cy="566928"/>
          </a:xfrm>
          <a:prstGeom prst="rect">
            <a:avLst/>
          </a:prstGeom>
          <a:noFill/>
        </p:spPr>
        <p:txBody>
          <a:bodyPr wrap="square" lIns="0" tIns="0" rIns="0" bIns="0">
            <a:spAutoFit/>
          </a:bodyPr>
          <a:lstStyle/>
          <a:p>
            <a:pPr>
              <a:lnSpc>
                <a:spcPct val="104000"/>
              </a:lnSpc>
              <a:spcBef>
                <a:spcPts val="0"/>
              </a:spcBef>
              <a:spcAft>
                <a:spcPts val="200"/>
              </a:spcAft>
              <a:defRPr sz="1400" b="0">
                <a:solidFill>
                  <a:srgbClr val="597080"/>
                </a:solidFill>
                <a:latin typeface="Calibri"/>
              </a:defRPr>
            </a:pPr>
            <a:r>
              <a:t>Recommended default: D35 / F25 / V20 / R20.</a:t>
            </a:r>
          </a:p>
          <a:p>
            <a:pPr>
              <a:lnSpc>
                <a:spcPct val="104000"/>
              </a:lnSpc>
              <a:spcBef>
                <a:spcPts val="0"/>
              </a:spcBef>
              <a:spcAft>
                <a:spcPts val="200"/>
              </a:spcAft>
              <a:defRPr sz="1400" b="0">
                <a:solidFill>
                  <a:srgbClr val="597080"/>
                </a:solidFill>
                <a:latin typeface="Calibri"/>
              </a:defRPr>
            </a:pPr>
            <a:r>
              <a:t>Agree weights before scoring; support ratings with evidence.</a:t>
            </a:r>
          </a:p>
        </p:txBody>
      </p:sp>
      <p:sp>
        <p:nvSpPr>
          <p:cNvPr id="22" name="Rounded Rectangle 21"/>
          <p:cNvSpPr/>
          <p:nvPr/>
        </p:nvSpPr>
        <p:spPr>
          <a:xfrm>
            <a:off x="5815584" y="1828800"/>
            <a:ext cx="5916168" cy="832104"/>
          </a:xfrm>
          <a:prstGeom prst="roundRect">
            <a:avLst>
              <a:gd name="adj" fmla="val 8000"/>
            </a:avLst>
          </a:prstGeom>
          <a:solidFill>
            <a:srgbClr val="E7F3F1"/>
          </a:solidFill>
          <a:ln w="8255">
            <a:solidFill>
              <a:srgbClr val="D7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980176" y="1947672"/>
            <a:ext cx="5586983" cy="228600"/>
          </a:xfrm>
          <a:prstGeom prst="rect">
            <a:avLst/>
          </a:prstGeom>
          <a:noFill/>
        </p:spPr>
        <p:txBody>
          <a:bodyPr wrap="square" lIns="0" tIns="0" rIns="0" bIns="0">
            <a:spAutoFit/>
          </a:bodyPr>
          <a:lstStyle/>
          <a:p>
            <a:pPr>
              <a:lnSpc>
                <a:spcPct val="104000"/>
              </a:lnSpc>
              <a:spcBef>
                <a:spcPts val="0"/>
              </a:spcBef>
              <a:spcAft>
                <a:spcPts val="200"/>
              </a:spcAft>
              <a:defRPr sz="1150" b="1">
                <a:solidFill>
                  <a:srgbClr val="006E75"/>
                </a:solidFill>
                <a:latin typeface="Calibri"/>
              </a:defRPr>
            </a:pPr>
            <a:r>
              <a:t>SELECTED CONCEPT</a:t>
            </a:r>
          </a:p>
        </p:txBody>
      </p:sp>
      <p:sp>
        <p:nvSpPr>
          <p:cNvPr id="24" name="TextBox 23"/>
          <p:cNvSpPr txBox="1"/>
          <p:nvPr/>
        </p:nvSpPr>
        <p:spPr>
          <a:xfrm>
            <a:off x="5980176" y="2194560"/>
            <a:ext cx="5586983" cy="384048"/>
          </a:xfrm>
          <a:prstGeom prst="rect">
            <a:avLst/>
          </a:prstGeom>
          <a:noFill/>
        </p:spPr>
        <p:txBody>
          <a:bodyPr wrap="square" lIns="0" tIns="0" rIns="0" bIns="0">
            <a:spAutoFit/>
          </a:bodyPr>
          <a:lstStyle/>
          <a:p>
            <a:pPr>
              <a:lnSpc>
                <a:spcPct val="104000"/>
              </a:lnSpc>
              <a:spcBef>
                <a:spcPts val="0"/>
              </a:spcBef>
              <a:spcAft>
                <a:spcPts val="200"/>
              </a:spcAft>
              <a:defRPr sz="2000" b="0">
                <a:solidFill>
                  <a:srgbClr val="243A49"/>
                </a:solidFill>
                <a:latin typeface="Calibri"/>
              </a:defRPr>
            </a:pPr>
            <a:r>
              <a:t>Not yet selected. Provisional lean: I02, pending concept feedback.</a:t>
            </a:r>
          </a:p>
        </p:txBody>
      </p:sp>
      <p:sp>
        <p:nvSpPr>
          <p:cNvPr id="25" name="Rounded Rectangle 24"/>
          <p:cNvSpPr/>
          <p:nvPr/>
        </p:nvSpPr>
        <p:spPr>
          <a:xfrm>
            <a:off x="5815584" y="2798064"/>
            <a:ext cx="5916168" cy="950976"/>
          </a:xfrm>
          <a:prstGeom prst="roundRect">
            <a:avLst>
              <a:gd name="adj" fmla="val 8000"/>
            </a:avLst>
          </a:prstGeom>
          <a:solidFill>
            <a:srgbClr val="FFFFFF"/>
          </a:solidFill>
          <a:ln w="8255">
            <a:solidFill>
              <a:srgbClr val="D7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980176" y="2916936"/>
            <a:ext cx="5586983" cy="228600"/>
          </a:xfrm>
          <a:prstGeom prst="rect">
            <a:avLst/>
          </a:prstGeom>
          <a:noFill/>
        </p:spPr>
        <p:txBody>
          <a:bodyPr wrap="square" lIns="0" tIns="0" rIns="0" bIns="0">
            <a:spAutoFit/>
          </a:bodyPr>
          <a:lstStyle/>
          <a:p>
            <a:pPr>
              <a:lnSpc>
                <a:spcPct val="104000"/>
              </a:lnSpc>
              <a:spcBef>
                <a:spcPts val="0"/>
              </a:spcBef>
              <a:spcAft>
                <a:spcPts val="200"/>
              </a:spcAft>
              <a:defRPr sz="1150" b="1">
                <a:solidFill>
                  <a:srgbClr val="006E75"/>
                </a:solidFill>
                <a:latin typeface="Calibri"/>
              </a:defRPr>
            </a:pPr>
            <a:r>
              <a:t>WHY SELECTED</a:t>
            </a:r>
          </a:p>
        </p:txBody>
      </p:sp>
      <p:sp>
        <p:nvSpPr>
          <p:cNvPr id="27" name="TextBox 26"/>
          <p:cNvSpPr txBox="1"/>
          <p:nvPr/>
        </p:nvSpPr>
        <p:spPr>
          <a:xfrm>
            <a:off x="5980176" y="3163824"/>
            <a:ext cx="5586983" cy="502920"/>
          </a:xfrm>
          <a:prstGeom prst="rect">
            <a:avLst/>
          </a:prstGeom>
          <a:noFill/>
        </p:spPr>
        <p:txBody>
          <a:bodyPr wrap="square" lIns="0" tIns="0" rIns="0" bIns="0">
            <a:spAutoFit/>
          </a:bodyPr>
          <a:lstStyle/>
          <a:p>
            <a:pPr>
              <a:lnSpc>
                <a:spcPct val="104000"/>
              </a:lnSpc>
              <a:spcBef>
                <a:spcPts val="0"/>
              </a:spcBef>
              <a:spcAft>
                <a:spcPts val="200"/>
              </a:spcAft>
              <a:defRPr sz="1700" b="0">
                <a:solidFill>
                  <a:srgbClr val="243A49"/>
                </a:solidFill>
                <a:latin typeface="Calibri"/>
              </a:defRPr>
            </a:pPr>
            <a:r>
              <a:t>I02 targets the reported pain (misses, retyping, evidence) and reuses existing OCR. Desirability unproven; E01 simulated only.</a:t>
            </a:r>
          </a:p>
        </p:txBody>
      </p:sp>
      <p:sp>
        <p:nvSpPr>
          <p:cNvPr id="28" name="Rounded Rectangle 27"/>
          <p:cNvSpPr/>
          <p:nvPr/>
        </p:nvSpPr>
        <p:spPr>
          <a:xfrm>
            <a:off x="5815584" y="3886200"/>
            <a:ext cx="5916168" cy="960120"/>
          </a:xfrm>
          <a:prstGeom prst="roundRect">
            <a:avLst>
              <a:gd name="adj" fmla="val 8000"/>
            </a:avLst>
          </a:prstGeom>
          <a:solidFill>
            <a:srgbClr val="FFFFFF"/>
          </a:solidFill>
          <a:ln w="8255">
            <a:solidFill>
              <a:srgbClr val="D7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980176" y="4005072"/>
            <a:ext cx="5586983" cy="228600"/>
          </a:xfrm>
          <a:prstGeom prst="rect">
            <a:avLst/>
          </a:prstGeom>
          <a:noFill/>
        </p:spPr>
        <p:txBody>
          <a:bodyPr wrap="square" lIns="0" tIns="0" rIns="0" bIns="0">
            <a:spAutoFit/>
          </a:bodyPr>
          <a:lstStyle/>
          <a:p>
            <a:pPr>
              <a:lnSpc>
                <a:spcPct val="104000"/>
              </a:lnSpc>
              <a:spcBef>
                <a:spcPts val="0"/>
              </a:spcBef>
              <a:spcAft>
                <a:spcPts val="200"/>
              </a:spcAft>
              <a:defRPr sz="1150" b="1">
                <a:solidFill>
                  <a:srgbClr val="006E75"/>
                </a:solidFill>
                <a:latin typeface="Calibri"/>
              </a:defRPr>
            </a:pPr>
            <a:r>
              <a:t>WHY NOT THE OTHERS</a:t>
            </a:r>
          </a:p>
        </p:txBody>
      </p:sp>
      <p:sp>
        <p:nvSpPr>
          <p:cNvPr id="30" name="TextBox 29"/>
          <p:cNvSpPr txBox="1"/>
          <p:nvPr/>
        </p:nvSpPr>
        <p:spPr>
          <a:xfrm>
            <a:off x="5980176" y="4251960"/>
            <a:ext cx="5586983" cy="512064"/>
          </a:xfrm>
          <a:prstGeom prst="rect">
            <a:avLst/>
          </a:prstGeom>
          <a:noFill/>
        </p:spPr>
        <p:txBody>
          <a:bodyPr wrap="square" lIns="0" tIns="0" rIns="0" bIns="0">
            <a:spAutoFit/>
          </a:bodyPr>
          <a:lstStyle/>
          <a:p>
            <a:pPr>
              <a:lnSpc>
                <a:spcPct val="104000"/>
              </a:lnSpc>
              <a:spcBef>
                <a:spcPts val="0"/>
              </a:spcBef>
              <a:spcAft>
                <a:spcPts val="200"/>
              </a:spcAft>
              <a:defRPr sz="1650" b="0">
                <a:solidFill>
                  <a:srgbClr val="243A49"/>
                </a:solidFill>
                <a:latin typeface="Calibri"/>
              </a:defRPr>
            </a:pPr>
            <a:r>
              <a:t>I01 stays as low-tech comparator and fallback. I03 needs department hosting and stable labels, so it is deferred, not rejected.</a:t>
            </a:r>
          </a:p>
        </p:txBody>
      </p:sp>
      <p:sp>
        <p:nvSpPr>
          <p:cNvPr id="31" name="Rounded Rectangle 30"/>
          <p:cNvSpPr/>
          <p:nvPr/>
        </p:nvSpPr>
        <p:spPr>
          <a:xfrm>
            <a:off x="5815584" y="4983480"/>
            <a:ext cx="5916168" cy="905256"/>
          </a:xfrm>
          <a:prstGeom prst="roundRect">
            <a:avLst>
              <a:gd name="adj" fmla="val 8000"/>
            </a:avLst>
          </a:prstGeom>
          <a:solidFill>
            <a:srgbClr val="FFFFFF"/>
          </a:solidFill>
          <a:ln w="8255">
            <a:solidFill>
              <a:srgbClr val="D7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5980176" y="5102352"/>
            <a:ext cx="5586983" cy="228600"/>
          </a:xfrm>
          <a:prstGeom prst="rect">
            <a:avLst/>
          </a:prstGeom>
          <a:noFill/>
        </p:spPr>
        <p:txBody>
          <a:bodyPr wrap="square" lIns="0" tIns="0" rIns="0" bIns="0">
            <a:spAutoFit/>
          </a:bodyPr>
          <a:lstStyle/>
          <a:p>
            <a:pPr>
              <a:lnSpc>
                <a:spcPct val="104000"/>
              </a:lnSpc>
              <a:spcBef>
                <a:spcPts val="0"/>
              </a:spcBef>
              <a:spcAft>
                <a:spcPts val="200"/>
              </a:spcAft>
              <a:defRPr sz="1150" b="1">
                <a:solidFill>
                  <a:srgbClr val="006E75"/>
                </a:solidFill>
                <a:latin typeface="Calibri"/>
              </a:defRPr>
            </a:pPr>
            <a:r>
              <a:t>SENSITIVITY CHECK</a:t>
            </a:r>
          </a:p>
        </p:txBody>
      </p:sp>
      <p:sp>
        <p:nvSpPr>
          <p:cNvPr id="33" name="TextBox 32"/>
          <p:cNvSpPr txBox="1"/>
          <p:nvPr/>
        </p:nvSpPr>
        <p:spPr>
          <a:xfrm>
            <a:off x="5980176" y="5349240"/>
            <a:ext cx="5586983" cy="457200"/>
          </a:xfrm>
          <a:prstGeom prst="rect">
            <a:avLst/>
          </a:prstGeom>
          <a:noFill/>
        </p:spPr>
        <p:txBody>
          <a:bodyPr wrap="square" lIns="0" tIns="0" rIns="0" bIns="0">
            <a:spAutoFit/>
          </a:bodyPr>
          <a:lstStyle/>
          <a:p>
            <a:pPr>
              <a:lnSpc>
                <a:spcPct val="104000"/>
              </a:lnSpc>
              <a:spcBef>
                <a:spcPts val="0"/>
              </a:spcBef>
              <a:spcAft>
                <a:spcPts val="200"/>
              </a:spcAft>
              <a:defRPr sz="1550" b="0">
                <a:solidFill>
                  <a:srgbClr val="243A49"/>
                </a:solidFill>
                <a:latin typeface="Calibri"/>
              </a:defRPr>
            </a:pPr>
            <a:r>
              <a:t>* F, V, R = team estimates. D unknown, so no totals. If feedback rates I01 above I02 on D, the lean reverses; OCR accuracy must be tested.</a:t>
            </a:r>
          </a:p>
        </p:txBody>
      </p:sp>
      <p:sp>
        <p:nvSpPr>
          <p:cNvPr id="34" name="Rounded Rectangle 33"/>
          <p:cNvSpPr/>
          <p:nvPr/>
        </p:nvSpPr>
        <p:spPr>
          <a:xfrm>
            <a:off x="457200" y="5943600"/>
            <a:ext cx="11274552" cy="310896"/>
          </a:xfrm>
          <a:prstGeom prst="roundRect">
            <a:avLst>
              <a:gd name="adj" fmla="val 8000"/>
            </a:avLst>
          </a:prstGeom>
          <a:solidFill>
            <a:srgbClr val="FFF3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03504" y="5989320"/>
            <a:ext cx="10981944" cy="219456"/>
          </a:xfrm>
          <a:prstGeom prst="rect">
            <a:avLst/>
          </a:prstGeom>
          <a:noFill/>
        </p:spPr>
        <p:txBody>
          <a:bodyPr wrap="square" lIns="0" tIns="0" rIns="0" bIns="0">
            <a:spAutoFit/>
          </a:bodyPr>
          <a:lstStyle/>
          <a:p>
            <a:pPr>
              <a:lnSpc>
                <a:spcPct val="104000"/>
              </a:lnSpc>
              <a:spcBef>
                <a:spcPts val="0"/>
              </a:spcBef>
              <a:spcAft>
                <a:spcPts val="200"/>
              </a:spcAft>
              <a:defRPr sz="1350" b="0">
                <a:solidFill>
                  <a:srgbClr val="243A49"/>
                </a:solidFill>
                <a:latin typeface="Calibri"/>
              </a:defRPr>
            </a:pPr>
            <a:r>
              <a:t>Responsibility gate: Conditional. Team-photographed packs only, no enforcement use, inspector decides; department permission needed for field use.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8FA"/>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91440"/>
          </a:xfrm>
          <a:prstGeom prst="rect">
            <a:avLst/>
          </a:prstGeom>
          <a:solidFill>
            <a:srgbClr val="006E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19456"/>
            <a:ext cx="7315200" cy="228600"/>
          </a:xfrm>
          <a:prstGeom prst="rect">
            <a:avLst/>
          </a:prstGeom>
          <a:noFill/>
        </p:spPr>
        <p:txBody>
          <a:bodyPr wrap="square" lIns="0" tIns="0" rIns="0" bIns="0">
            <a:spAutoFit/>
          </a:bodyPr>
          <a:lstStyle/>
          <a:p>
            <a:pPr>
              <a:lnSpc>
                <a:spcPct val="104000"/>
              </a:lnSpc>
              <a:spcBef>
                <a:spcPts val="0"/>
              </a:spcBef>
              <a:spcAft>
                <a:spcPts val="200"/>
              </a:spcAft>
              <a:defRPr sz="1150" b="1">
                <a:solidFill>
                  <a:srgbClr val="006E75"/>
                </a:solidFill>
                <a:latin typeface="Calibri"/>
              </a:defRPr>
            </a:pPr>
            <a:r>
              <a:t>SCHOOL OF INNOVATION  |  KGISL INSTITUTE OF TECHNOLOGY</a:t>
            </a:r>
          </a:p>
        </p:txBody>
      </p:sp>
      <p:sp>
        <p:nvSpPr>
          <p:cNvPr id="4" name="Rounded Rectangle 3"/>
          <p:cNvSpPr/>
          <p:nvPr/>
        </p:nvSpPr>
        <p:spPr>
          <a:xfrm>
            <a:off x="8458200" y="210312"/>
            <a:ext cx="768096" cy="237744"/>
          </a:xfrm>
          <a:prstGeom prst="roundRect">
            <a:avLst>
              <a:gd name="adj" fmla="val 8000"/>
            </a:avLst>
          </a:prstGeom>
          <a:solidFill>
            <a:srgbClr val="D7E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458200" y="246888"/>
            <a:ext cx="768096" cy="128016"/>
          </a:xfrm>
          <a:prstGeom prst="rect">
            <a:avLst/>
          </a:prstGeom>
          <a:noFill/>
        </p:spPr>
        <p:txBody>
          <a:bodyPr wrap="square" lIns="0" tIns="0" rIns="0" bIns="0">
            <a:spAutoFit/>
          </a:bodyPr>
          <a:lstStyle/>
          <a:p>
            <a:pPr algn="ctr">
              <a:lnSpc>
                <a:spcPct val="104000"/>
              </a:lnSpc>
              <a:spcBef>
                <a:spcPts val="0"/>
              </a:spcBef>
              <a:spcAft>
                <a:spcPts val="200"/>
              </a:spcAft>
              <a:defRPr sz="880" b="1">
                <a:solidFill>
                  <a:srgbClr val="597080"/>
                </a:solidFill>
                <a:latin typeface="Calibri"/>
              </a:defRPr>
            </a:pPr>
            <a:r>
              <a:t>FRAME</a:t>
            </a:r>
          </a:p>
        </p:txBody>
      </p:sp>
      <p:sp>
        <p:nvSpPr>
          <p:cNvPr id="6" name="Rounded Rectangle 5"/>
          <p:cNvSpPr/>
          <p:nvPr/>
        </p:nvSpPr>
        <p:spPr>
          <a:xfrm>
            <a:off x="9281160" y="210312"/>
            <a:ext cx="768096" cy="237744"/>
          </a:xfrm>
          <a:prstGeom prst="roundRect">
            <a:avLst>
              <a:gd name="adj" fmla="val 8000"/>
            </a:avLst>
          </a:prstGeom>
          <a:solidFill>
            <a:srgbClr val="D7E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281160" y="246888"/>
            <a:ext cx="768096" cy="128016"/>
          </a:xfrm>
          <a:prstGeom prst="rect">
            <a:avLst/>
          </a:prstGeom>
          <a:noFill/>
        </p:spPr>
        <p:txBody>
          <a:bodyPr wrap="square" lIns="0" tIns="0" rIns="0" bIns="0">
            <a:spAutoFit/>
          </a:bodyPr>
          <a:lstStyle/>
          <a:p>
            <a:pPr algn="ctr">
              <a:lnSpc>
                <a:spcPct val="104000"/>
              </a:lnSpc>
              <a:spcBef>
                <a:spcPts val="0"/>
              </a:spcBef>
              <a:spcAft>
                <a:spcPts val="200"/>
              </a:spcAft>
              <a:defRPr sz="880" b="1">
                <a:solidFill>
                  <a:srgbClr val="597080"/>
                </a:solidFill>
                <a:latin typeface="Calibri"/>
              </a:defRPr>
            </a:pPr>
            <a:r>
              <a:t>EXPLORE</a:t>
            </a:r>
          </a:p>
        </p:txBody>
      </p:sp>
      <p:sp>
        <p:nvSpPr>
          <p:cNvPr id="8" name="Rounded Rectangle 7"/>
          <p:cNvSpPr/>
          <p:nvPr/>
        </p:nvSpPr>
        <p:spPr>
          <a:xfrm>
            <a:off x="10104120" y="210312"/>
            <a:ext cx="768096" cy="237744"/>
          </a:xfrm>
          <a:prstGeom prst="roundRect">
            <a:avLst>
              <a:gd name="adj" fmla="val 8000"/>
            </a:avLst>
          </a:prstGeom>
          <a:solidFill>
            <a:srgbClr val="006E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104120" y="246888"/>
            <a:ext cx="768096" cy="128016"/>
          </a:xfrm>
          <a:prstGeom prst="rect">
            <a:avLst/>
          </a:prstGeom>
          <a:noFill/>
        </p:spPr>
        <p:txBody>
          <a:bodyPr wrap="square" lIns="0" tIns="0" rIns="0" bIns="0">
            <a:spAutoFit/>
          </a:bodyPr>
          <a:lstStyle/>
          <a:p>
            <a:pPr algn="ctr">
              <a:lnSpc>
                <a:spcPct val="104000"/>
              </a:lnSpc>
              <a:spcBef>
                <a:spcPts val="0"/>
              </a:spcBef>
              <a:spcAft>
                <a:spcPts val="200"/>
              </a:spcAft>
              <a:defRPr sz="880" b="1">
                <a:solidFill>
                  <a:srgbClr val="FFFFFF"/>
                </a:solidFill>
                <a:latin typeface="Calibri"/>
              </a:defRPr>
            </a:pPr>
            <a:r>
              <a:t>CHOOSE</a:t>
            </a:r>
          </a:p>
        </p:txBody>
      </p:sp>
      <p:sp>
        <p:nvSpPr>
          <p:cNvPr id="10" name="Rounded Rectangle 9"/>
          <p:cNvSpPr/>
          <p:nvPr/>
        </p:nvSpPr>
        <p:spPr>
          <a:xfrm>
            <a:off x="10927080" y="210312"/>
            <a:ext cx="768096" cy="237744"/>
          </a:xfrm>
          <a:prstGeom prst="roundRect">
            <a:avLst>
              <a:gd name="adj" fmla="val 8000"/>
            </a:avLst>
          </a:prstGeom>
          <a:solidFill>
            <a:srgbClr val="D7E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927080" y="246888"/>
            <a:ext cx="768096" cy="128016"/>
          </a:xfrm>
          <a:prstGeom prst="rect">
            <a:avLst/>
          </a:prstGeom>
          <a:noFill/>
        </p:spPr>
        <p:txBody>
          <a:bodyPr wrap="square" lIns="0" tIns="0" rIns="0" bIns="0">
            <a:spAutoFit/>
          </a:bodyPr>
          <a:lstStyle/>
          <a:p>
            <a:pPr algn="ctr">
              <a:lnSpc>
                <a:spcPct val="104000"/>
              </a:lnSpc>
              <a:spcBef>
                <a:spcPts val="0"/>
              </a:spcBef>
              <a:spcAft>
                <a:spcPts val="200"/>
              </a:spcAft>
              <a:defRPr sz="880" b="1">
                <a:solidFill>
                  <a:srgbClr val="597080"/>
                </a:solidFill>
                <a:latin typeface="Calibri"/>
              </a:defRPr>
            </a:pPr>
            <a:r>
              <a:t>TEST</a:t>
            </a:r>
          </a:p>
        </p:txBody>
      </p:sp>
      <p:sp>
        <p:nvSpPr>
          <p:cNvPr id="12" name="TextBox 11"/>
          <p:cNvSpPr txBox="1"/>
          <p:nvPr/>
        </p:nvSpPr>
        <p:spPr>
          <a:xfrm>
            <a:off x="457200" y="758952"/>
            <a:ext cx="585216" cy="438912"/>
          </a:xfrm>
          <a:prstGeom prst="rect">
            <a:avLst/>
          </a:prstGeom>
          <a:noFill/>
        </p:spPr>
        <p:txBody>
          <a:bodyPr wrap="square" lIns="0" tIns="0" rIns="0" bIns="0">
            <a:spAutoFit/>
          </a:bodyPr>
          <a:lstStyle/>
          <a:p>
            <a:pPr>
              <a:lnSpc>
                <a:spcPct val="104000"/>
              </a:lnSpc>
              <a:spcBef>
                <a:spcPts val="0"/>
              </a:spcBef>
              <a:spcAft>
                <a:spcPts val="200"/>
              </a:spcAft>
              <a:defRPr sz="2400" b="1">
                <a:solidFill>
                  <a:srgbClr val="006E75"/>
                </a:solidFill>
                <a:latin typeface="Calibri"/>
              </a:defRPr>
            </a:pPr>
            <a:r>
              <a:t>08</a:t>
            </a:r>
          </a:p>
        </p:txBody>
      </p:sp>
      <p:sp>
        <p:nvSpPr>
          <p:cNvPr id="13" name="TextBox 12"/>
          <p:cNvSpPr txBox="1"/>
          <p:nvPr/>
        </p:nvSpPr>
        <p:spPr>
          <a:xfrm>
            <a:off x="1143000" y="713232"/>
            <a:ext cx="10424160" cy="457200"/>
          </a:xfrm>
          <a:prstGeom prst="rect">
            <a:avLst/>
          </a:prstGeom>
          <a:noFill/>
        </p:spPr>
        <p:txBody>
          <a:bodyPr wrap="square" lIns="0" tIns="0" rIns="0" bIns="0">
            <a:spAutoFit/>
          </a:bodyPr>
          <a:lstStyle/>
          <a:p>
            <a:pPr>
              <a:lnSpc>
                <a:spcPct val="104000"/>
              </a:lnSpc>
              <a:spcBef>
                <a:spcPts val="0"/>
              </a:spcBef>
              <a:spcAft>
                <a:spcPts val="200"/>
              </a:spcAft>
              <a:defRPr sz="2700" b="1">
                <a:solidFill>
                  <a:srgbClr val="153347"/>
                </a:solidFill>
                <a:latin typeface="Calibri"/>
              </a:defRPr>
            </a:pPr>
            <a:r>
              <a:t>Explain the chosen concept and scope</a:t>
            </a:r>
          </a:p>
        </p:txBody>
      </p:sp>
      <p:sp>
        <p:nvSpPr>
          <p:cNvPr id="14" name="TextBox 13"/>
          <p:cNvSpPr txBox="1"/>
          <p:nvPr/>
        </p:nvSpPr>
        <p:spPr>
          <a:xfrm>
            <a:off x="475488" y="1252728"/>
            <a:ext cx="11201400" cy="457200"/>
          </a:xfrm>
          <a:prstGeom prst="rect">
            <a:avLst/>
          </a:prstGeom>
          <a:noFill/>
        </p:spPr>
        <p:txBody>
          <a:bodyPr wrap="square" lIns="0" tIns="0" rIns="0" bIns="0">
            <a:spAutoFit/>
          </a:bodyPr>
          <a:lstStyle/>
          <a:p>
            <a:pPr>
              <a:lnSpc>
                <a:spcPct val="104000"/>
              </a:lnSpc>
              <a:spcBef>
                <a:spcPts val="0"/>
              </a:spcBef>
              <a:spcAft>
                <a:spcPts val="200"/>
              </a:spcAft>
              <a:defRPr sz="1550" b="0">
                <a:solidFill>
                  <a:srgbClr val="597080"/>
                </a:solidFill>
                <a:latin typeface="Calibri"/>
              </a:defRPr>
            </a:pPr>
            <a:r>
              <a:t>Define a testable slice. The rest is explicitly outside the next phase.</a:t>
            </a:r>
          </a:p>
        </p:txBody>
      </p:sp>
      <p:sp>
        <p:nvSpPr>
          <p:cNvPr id="15" name="Rectangle 14"/>
          <p:cNvSpPr/>
          <p:nvPr/>
        </p:nvSpPr>
        <p:spPr>
          <a:xfrm>
            <a:off x="457200" y="6428232"/>
            <a:ext cx="11274552" cy="9144"/>
          </a:xfrm>
          <a:prstGeom prst="rect">
            <a:avLst/>
          </a:prstGeom>
          <a:solidFill>
            <a:srgbClr val="D7E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57200" y="6528816"/>
            <a:ext cx="7589520" cy="155448"/>
          </a:xfrm>
          <a:prstGeom prst="rect">
            <a:avLst/>
          </a:prstGeom>
          <a:noFill/>
        </p:spPr>
        <p:txBody>
          <a:bodyPr wrap="square" lIns="0" tIns="0" rIns="0" bIns="0">
            <a:spAutoFit/>
          </a:bodyPr>
          <a:lstStyle/>
          <a:p>
            <a:pPr>
              <a:lnSpc>
                <a:spcPct val="104000"/>
              </a:lnSpc>
              <a:spcBef>
                <a:spcPts val="0"/>
              </a:spcBef>
              <a:spcAft>
                <a:spcPts val="200"/>
              </a:spcAft>
              <a:defRPr sz="900" b="0">
                <a:solidFill>
                  <a:srgbClr val="597080"/>
                </a:solidFill>
                <a:latin typeface="Calibri"/>
              </a:defRPr>
            </a:pPr>
            <a:r>
              <a:t>TEAM TITANS • LABELGUARD • DRAFT FOR MENTOR REVIEW</a:t>
            </a:r>
          </a:p>
        </p:txBody>
      </p:sp>
      <p:sp>
        <p:nvSpPr>
          <p:cNvPr id="17" name="TextBox 16"/>
          <p:cNvSpPr txBox="1"/>
          <p:nvPr/>
        </p:nvSpPr>
        <p:spPr>
          <a:xfrm>
            <a:off x="8321040" y="6510528"/>
            <a:ext cx="2194560" cy="201168"/>
          </a:xfrm>
          <a:prstGeom prst="rect">
            <a:avLst/>
          </a:prstGeom>
          <a:noFill/>
        </p:spPr>
        <p:txBody>
          <a:bodyPr wrap="square" lIns="0" tIns="0" rIns="0" bIns="0">
            <a:spAutoFit/>
          </a:bodyPr>
          <a:lstStyle/>
          <a:p>
            <a:pPr algn="r">
              <a:lnSpc>
                <a:spcPct val="104000"/>
              </a:lnSpc>
              <a:spcBef>
                <a:spcPts val="0"/>
              </a:spcBef>
              <a:spcAft>
                <a:spcPts val="200"/>
              </a:spcAft>
              <a:defRPr sz="1000" b="1">
                <a:solidFill>
                  <a:srgbClr val="006E75"/>
                </a:solidFill>
                <a:latin typeface="Calibri"/>
              </a:defRPr>
            </a:pPr>
            <a:r>
              <a:t>P2 • 16 OCT 2026</a:t>
            </a:r>
          </a:p>
        </p:txBody>
      </p:sp>
      <p:sp>
        <p:nvSpPr>
          <p:cNvPr id="18" name="TextBox 17"/>
          <p:cNvSpPr txBox="1"/>
          <p:nvPr/>
        </p:nvSpPr>
        <p:spPr>
          <a:xfrm>
            <a:off x="10908792" y="6510528"/>
            <a:ext cx="786384" cy="201168"/>
          </a:xfrm>
          <a:prstGeom prst="rect">
            <a:avLst/>
          </a:prstGeom>
          <a:noFill/>
        </p:spPr>
        <p:txBody>
          <a:bodyPr wrap="square" lIns="0" tIns="0" rIns="0" bIns="0">
            <a:spAutoFit/>
          </a:bodyPr>
          <a:lstStyle/>
          <a:p>
            <a:pPr algn="r">
              <a:lnSpc>
                <a:spcPct val="104000"/>
              </a:lnSpc>
              <a:spcBef>
                <a:spcPts val="0"/>
              </a:spcBef>
              <a:spcAft>
                <a:spcPts val="200"/>
              </a:spcAft>
              <a:defRPr sz="1000" b="0">
                <a:solidFill>
                  <a:srgbClr val="597080"/>
                </a:solidFill>
                <a:latin typeface="Calibri"/>
              </a:defRPr>
            </a:pPr>
            <a:r>
              <a:t>8/11</a:t>
            </a:r>
          </a:p>
        </p:txBody>
      </p:sp>
      <p:sp>
        <p:nvSpPr>
          <p:cNvPr id="19" name="TextBox 18"/>
          <p:cNvSpPr txBox="1"/>
          <p:nvPr/>
        </p:nvSpPr>
        <p:spPr>
          <a:xfrm>
            <a:off x="457200" y="1828800"/>
            <a:ext cx="11247120" cy="228600"/>
          </a:xfrm>
          <a:prstGeom prst="rect">
            <a:avLst/>
          </a:prstGeom>
          <a:noFill/>
        </p:spPr>
        <p:txBody>
          <a:bodyPr wrap="square" lIns="0" tIns="0" rIns="0" bIns="0">
            <a:spAutoFit/>
          </a:bodyPr>
          <a:lstStyle/>
          <a:p>
            <a:pPr>
              <a:lnSpc>
                <a:spcPct val="104000"/>
              </a:lnSpc>
              <a:spcBef>
                <a:spcPts val="0"/>
              </a:spcBef>
              <a:spcAft>
                <a:spcPts val="200"/>
              </a:spcAft>
              <a:defRPr sz="1150" b="1">
                <a:solidFill>
                  <a:srgbClr val="006E75"/>
                </a:solidFill>
                <a:latin typeface="Calibri"/>
              </a:defRPr>
            </a:pPr>
            <a:r>
              <a:t>I02 — PHOTO-TO-CHECKLIST ASSISTANT (PROVISIONAL)</a:t>
            </a:r>
          </a:p>
        </p:txBody>
      </p:sp>
      <p:sp>
        <p:nvSpPr>
          <p:cNvPr id="20" name="Rounded Rectangle 19"/>
          <p:cNvSpPr/>
          <p:nvPr/>
        </p:nvSpPr>
        <p:spPr>
          <a:xfrm>
            <a:off x="457200" y="2203704"/>
            <a:ext cx="2695194" cy="694944"/>
          </a:xfrm>
          <a:prstGeom prst="roundRect">
            <a:avLst>
              <a:gd name="adj" fmla="val 8000"/>
            </a:avLst>
          </a:prstGeom>
          <a:solidFill>
            <a:srgbClr val="E7F3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21208" y="2267712"/>
            <a:ext cx="2567177" cy="585216"/>
          </a:xfrm>
          <a:prstGeom prst="rect">
            <a:avLst/>
          </a:prstGeom>
          <a:noFill/>
        </p:spPr>
        <p:txBody>
          <a:bodyPr wrap="square" lIns="0" tIns="0" rIns="0" bIns="0">
            <a:spAutoFit/>
          </a:bodyPr>
          <a:lstStyle/>
          <a:p>
            <a:pPr algn="ctr">
              <a:lnSpc>
                <a:spcPct val="104000"/>
              </a:lnSpc>
              <a:spcBef>
                <a:spcPts val="0"/>
              </a:spcBef>
              <a:spcAft>
                <a:spcPts val="200"/>
              </a:spcAft>
              <a:defRPr sz="1700" b="1">
                <a:solidFill>
                  <a:srgbClr val="006E75"/>
                </a:solidFill>
                <a:latin typeface="Calibri"/>
              </a:defRPr>
            </a:pPr>
            <a:r>
              <a:t>Inspector photographs pack</a:t>
            </a:r>
          </a:p>
        </p:txBody>
      </p:sp>
      <p:sp>
        <p:nvSpPr>
          <p:cNvPr id="22" name="TextBox 21"/>
          <p:cNvSpPr txBox="1"/>
          <p:nvPr/>
        </p:nvSpPr>
        <p:spPr>
          <a:xfrm>
            <a:off x="3152394" y="2331720"/>
            <a:ext cx="164592" cy="338328"/>
          </a:xfrm>
          <a:prstGeom prst="rect">
            <a:avLst/>
          </a:prstGeom>
          <a:noFill/>
        </p:spPr>
        <p:txBody>
          <a:bodyPr wrap="square" lIns="0" tIns="0" rIns="0" bIns="0">
            <a:spAutoFit/>
          </a:bodyPr>
          <a:lstStyle/>
          <a:p>
            <a:pPr algn="ctr">
              <a:lnSpc>
                <a:spcPct val="104000"/>
              </a:lnSpc>
              <a:spcBef>
                <a:spcPts val="0"/>
              </a:spcBef>
              <a:spcAft>
                <a:spcPts val="200"/>
              </a:spcAft>
              <a:defRPr sz="2100" b="1">
                <a:solidFill>
                  <a:srgbClr val="006E75"/>
                </a:solidFill>
                <a:latin typeface="Calibri"/>
              </a:defRPr>
            </a:pPr>
            <a:r>
              <a:t>›</a:t>
            </a:r>
          </a:p>
        </p:txBody>
      </p:sp>
      <p:sp>
        <p:nvSpPr>
          <p:cNvPr id="23" name="Rounded Rectangle 22"/>
          <p:cNvSpPr/>
          <p:nvPr/>
        </p:nvSpPr>
        <p:spPr>
          <a:xfrm>
            <a:off x="3316986" y="2203704"/>
            <a:ext cx="2695194" cy="694944"/>
          </a:xfrm>
          <a:prstGeom prst="roundRect">
            <a:avLst>
              <a:gd name="adj" fmla="val 8000"/>
            </a:avLst>
          </a:prstGeom>
          <a:solidFill>
            <a:srgbClr val="E7F3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3380994" y="2267712"/>
            <a:ext cx="2567177" cy="585216"/>
          </a:xfrm>
          <a:prstGeom prst="rect">
            <a:avLst/>
          </a:prstGeom>
          <a:noFill/>
        </p:spPr>
        <p:txBody>
          <a:bodyPr wrap="square" lIns="0" tIns="0" rIns="0" bIns="0">
            <a:spAutoFit/>
          </a:bodyPr>
          <a:lstStyle/>
          <a:p>
            <a:pPr algn="ctr">
              <a:lnSpc>
                <a:spcPct val="104000"/>
              </a:lnSpc>
              <a:spcBef>
                <a:spcPts val="0"/>
              </a:spcBef>
              <a:spcAft>
                <a:spcPts val="200"/>
              </a:spcAft>
              <a:defRPr sz="1700" b="1">
                <a:solidFill>
                  <a:srgbClr val="006E75"/>
                </a:solidFill>
                <a:latin typeface="Calibri"/>
              </a:defRPr>
            </a:pPr>
            <a:r>
              <a:t>OCR reads; rules check fields</a:t>
            </a:r>
          </a:p>
        </p:txBody>
      </p:sp>
      <p:sp>
        <p:nvSpPr>
          <p:cNvPr id="25" name="TextBox 24"/>
          <p:cNvSpPr txBox="1"/>
          <p:nvPr/>
        </p:nvSpPr>
        <p:spPr>
          <a:xfrm>
            <a:off x="6012179" y="2331720"/>
            <a:ext cx="164592" cy="338328"/>
          </a:xfrm>
          <a:prstGeom prst="rect">
            <a:avLst/>
          </a:prstGeom>
          <a:noFill/>
        </p:spPr>
        <p:txBody>
          <a:bodyPr wrap="square" lIns="0" tIns="0" rIns="0" bIns="0">
            <a:spAutoFit/>
          </a:bodyPr>
          <a:lstStyle/>
          <a:p>
            <a:pPr algn="ctr">
              <a:lnSpc>
                <a:spcPct val="104000"/>
              </a:lnSpc>
              <a:spcBef>
                <a:spcPts val="0"/>
              </a:spcBef>
              <a:spcAft>
                <a:spcPts val="200"/>
              </a:spcAft>
              <a:defRPr sz="2100" b="1">
                <a:solidFill>
                  <a:srgbClr val="006E75"/>
                </a:solidFill>
                <a:latin typeface="Calibri"/>
              </a:defRPr>
            </a:pPr>
            <a:r>
              <a:t>›</a:t>
            </a:r>
          </a:p>
        </p:txBody>
      </p:sp>
      <p:sp>
        <p:nvSpPr>
          <p:cNvPr id="26" name="Rounded Rectangle 25"/>
          <p:cNvSpPr/>
          <p:nvPr/>
        </p:nvSpPr>
        <p:spPr>
          <a:xfrm>
            <a:off x="6176772" y="2203704"/>
            <a:ext cx="2695194" cy="694944"/>
          </a:xfrm>
          <a:prstGeom prst="roundRect">
            <a:avLst>
              <a:gd name="adj" fmla="val 8000"/>
            </a:avLst>
          </a:prstGeom>
          <a:solidFill>
            <a:srgbClr val="E7F3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240780" y="2267712"/>
            <a:ext cx="2567177" cy="585216"/>
          </a:xfrm>
          <a:prstGeom prst="rect">
            <a:avLst/>
          </a:prstGeom>
          <a:noFill/>
        </p:spPr>
        <p:txBody>
          <a:bodyPr wrap="square" lIns="0" tIns="0" rIns="0" bIns="0">
            <a:spAutoFit/>
          </a:bodyPr>
          <a:lstStyle/>
          <a:p>
            <a:pPr algn="ctr">
              <a:lnSpc>
                <a:spcPct val="104000"/>
              </a:lnSpc>
              <a:spcBef>
                <a:spcPts val="0"/>
              </a:spcBef>
              <a:spcAft>
                <a:spcPts val="200"/>
              </a:spcAft>
              <a:defRPr sz="1700" b="1">
                <a:solidFill>
                  <a:srgbClr val="006E75"/>
                </a:solidFill>
                <a:latin typeface="Calibri"/>
              </a:defRPr>
            </a:pPr>
            <a:r>
              <a:t>Inspector confirms or corrects</a:t>
            </a:r>
          </a:p>
        </p:txBody>
      </p:sp>
      <p:sp>
        <p:nvSpPr>
          <p:cNvPr id="28" name="TextBox 27"/>
          <p:cNvSpPr txBox="1"/>
          <p:nvPr/>
        </p:nvSpPr>
        <p:spPr>
          <a:xfrm>
            <a:off x="8871966" y="2331720"/>
            <a:ext cx="164592" cy="338328"/>
          </a:xfrm>
          <a:prstGeom prst="rect">
            <a:avLst/>
          </a:prstGeom>
          <a:noFill/>
        </p:spPr>
        <p:txBody>
          <a:bodyPr wrap="square" lIns="0" tIns="0" rIns="0" bIns="0">
            <a:spAutoFit/>
          </a:bodyPr>
          <a:lstStyle/>
          <a:p>
            <a:pPr algn="ctr">
              <a:lnSpc>
                <a:spcPct val="104000"/>
              </a:lnSpc>
              <a:spcBef>
                <a:spcPts val="0"/>
              </a:spcBef>
              <a:spcAft>
                <a:spcPts val="200"/>
              </a:spcAft>
              <a:defRPr sz="2100" b="1">
                <a:solidFill>
                  <a:srgbClr val="006E75"/>
                </a:solidFill>
                <a:latin typeface="Calibri"/>
              </a:defRPr>
            </a:pPr>
            <a:r>
              <a:t>›</a:t>
            </a:r>
          </a:p>
        </p:txBody>
      </p:sp>
      <p:sp>
        <p:nvSpPr>
          <p:cNvPr id="29" name="Rounded Rectangle 28"/>
          <p:cNvSpPr/>
          <p:nvPr/>
        </p:nvSpPr>
        <p:spPr>
          <a:xfrm>
            <a:off x="9036558" y="2203704"/>
            <a:ext cx="2695194" cy="694944"/>
          </a:xfrm>
          <a:prstGeom prst="roundRect">
            <a:avLst>
              <a:gd name="adj" fmla="val 8000"/>
            </a:avLst>
          </a:prstGeom>
          <a:solidFill>
            <a:srgbClr val="E7F3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9100566" y="2267712"/>
            <a:ext cx="2567177" cy="585216"/>
          </a:xfrm>
          <a:prstGeom prst="rect">
            <a:avLst/>
          </a:prstGeom>
          <a:noFill/>
        </p:spPr>
        <p:txBody>
          <a:bodyPr wrap="square" lIns="0" tIns="0" rIns="0" bIns="0">
            <a:spAutoFit/>
          </a:bodyPr>
          <a:lstStyle/>
          <a:p>
            <a:pPr algn="ctr">
              <a:lnSpc>
                <a:spcPct val="104000"/>
              </a:lnSpc>
              <a:spcBef>
                <a:spcPts val="0"/>
              </a:spcBef>
              <a:spcAft>
                <a:spcPts val="200"/>
              </a:spcAft>
              <a:defRPr sz="1700" b="1">
                <a:solidFill>
                  <a:srgbClr val="006E75"/>
                </a:solidFill>
                <a:latin typeface="Calibri"/>
              </a:defRPr>
            </a:pPr>
            <a:r>
              <a:t>Checklist + evidence for report</a:t>
            </a:r>
          </a:p>
        </p:txBody>
      </p:sp>
      <p:sp>
        <p:nvSpPr>
          <p:cNvPr id="31" name="TextBox 30"/>
          <p:cNvSpPr txBox="1"/>
          <p:nvPr/>
        </p:nvSpPr>
        <p:spPr>
          <a:xfrm>
            <a:off x="493776" y="3090672"/>
            <a:ext cx="11201400" cy="640080"/>
          </a:xfrm>
          <a:prstGeom prst="rect">
            <a:avLst/>
          </a:prstGeom>
          <a:noFill/>
        </p:spPr>
        <p:txBody>
          <a:bodyPr wrap="square" lIns="0" tIns="0" rIns="0" bIns="0">
            <a:spAutoFit/>
          </a:bodyPr>
          <a:lstStyle/>
          <a:p>
            <a:pPr>
              <a:lnSpc>
                <a:spcPct val="104000"/>
              </a:lnSpc>
              <a:spcBef>
                <a:spcPts val="0"/>
              </a:spcBef>
              <a:spcAft>
                <a:spcPts val="200"/>
              </a:spcAft>
              <a:defRPr sz="2000" b="0">
                <a:solidFill>
                  <a:srgbClr val="243A49"/>
                </a:solidFill>
                <a:latin typeface="Calibri"/>
              </a:defRPr>
            </a:pPr>
            <a:r>
              <a:t>For field inspectors, I02 improves completeness and speed over manual reading because it checks every declaration and flags unreadable ones. Hypothesis.</a:t>
            </a:r>
          </a:p>
        </p:txBody>
      </p:sp>
      <p:sp>
        <p:nvSpPr>
          <p:cNvPr id="32" name="Rounded Rectangle 31"/>
          <p:cNvSpPr/>
          <p:nvPr/>
        </p:nvSpPr>
        <p:spPr>
          <a:xfrm>
            <a:off x="457200" y="3822191"/>
            <a:ext cx="5541264" cy="950976"/>
          </a:xfrm>
          <a:prstGeom prst="roundRect">
            <a:avLst>
              <a:gd name="adj" fmla="val 8000"/>
            </a:avLst>
          </a:prstGeom>
          <a:solidFill>
            <a:srgbClr val="FFFFFF"/>
          </a:solidFill>
          <a:ln w="8255">
            <a:solidFill>
              <a:srgbClr val="D7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21792" y="3941063"/>
            <a:ext cx="5212079" cy="228600"/>
          </a:xfrm>
          <a:prstGeom prst="rect">
            <a:avLst/>
          </a:prstGeom>
          <a:noFill/>
        </p:spPr>
        <p:txBody>
          <a:bodyPr wrap="square" lIns="0" tIns="0" rIns="0" bIns="0">
            <a:spAutoFit/>
          </a:bodyPr>
          <a:lstStyle/>
          <a:p>
            <a:pPr>
              <a:lnSpc>
                <a:spcPct val="104000"/>
              </a:lnSpc>
              <a:spcBef>
                <a:spcPts val="0"/>
              </a:spcBef>
              <a:spcAft>
                <a:spcPts val="200"/>
              </a:spcAft>
              <a:defRPr sz="1150" b="1">
                <a:solidFill>
                  <a:srgbClr val="006E75"/>
                </a:solidFill>
                <a:latin typeface="Calibri"/>
              </a:defRPr>
            </a:pPr>
            <a:r>
              <a:t>MUST HAVE</a:t>
            </a:r>
          </a:p>
        </p:txBody>
      </p:sp>
      <p:sp>
        <p:nvSpPr>
          <p:cNvPr id="34" name="TextBox 33"/>
          <p:cNvSpPr txBox="1"/>
          <p:nvPr/>
        </p:nvSpPr>
        <p:spPr>
          <a:xfrm>
            <a:off x="621792" y="4187952"/>
            <a:ext cx="5212079" cy="502920"/>
          </a:xfrm>
          <a:prstGeom prst="rect">
            <a:avLst/>
          </a:prstGeom>
          <a:noFill/>
        </p:spPr>
        <p:txBody>
          <a:bodyPr wrap="square" lIns="0" tIns="0" rIns="0" bIns="0">
            <a:spAutoFit/>
          </a:bodyPr>
          <a:lstStyle/>
          <a:p>
            <a:pPr>
              <a:lnSpc>
                <a:spcPct val="104000"/>
              </a:lnSpc>
              <a:spcBef>
                <a:spcPts val="0"/>
              </a:spcBef>
              <a:spcAft>
                <a:spcPts val="200"/>
              </a:spcAft>
              <a:defRPr sz="1600" b="0">
                <a:solidFill>
                  <a:srgbClr val="243A49"/>
                </a:solidFill>
                <a:latin typeface="Calibri"/>
              </a:defRPr>
            </a:pPr>
            <a:r>
              <a:t>Photo upload; OCR of 7 mandatory fields; present / absent / uncertain flag; inspector confirm</a:t>
            </a:r>
          </a:p>
        </p:txBody>
      </p:sp>
      <p:sp>
        <p:nvSpPr>
          <p:cNvPr id="35" name="Rounded Rectangle 34"/>
          <p:cNvSpPr/>
          <p:nvPr/>
        </p:nvSpPr>
        <p:spPr>
          <a:xfrm>
            <a:off x="6190488" y="3822191"/>
            <a:ext cx="5541264" cy="950976"/>
          </a:xfrm>
          <a:prstGeom prst="roundRect">
            <a:avLst>
              <a:gd name="adj" fmla="val 8000"/>
            </a:avLst>
          </a:prstGeom>
          <a:solidFill>
            <a:srgbClr val="FFFFFF"/>
          </a:solidFill>
          <a:ln w="8255">
            <a:solidFill>
              <a:srgbClr val="D7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355079" y="3941063"/>
            <a:ext cx="5212079" cy="228600"/>
          </a:xfrm>
          <a:prstGeom prst="rect">
            <a:avLst/>
          </a:prstGeom>
          <a:noFill/>
        </p:spPr>
        <p:txBody>
          <a:bodyPr wrap="square" lIns="0" tIns="0" rIns="0" bIns="0">
            <a:spAutoFit/>
          </a:bodyPr>
          <a:lstStyle/>
          <a:p>
            <a:pPr>
              <a:lnSpc>
                <a:spcPct val="104000"/>
              </a:lnSpc>
              <a:spcBef>
                <a:spcPts val="0"/>
              </a:spcBef>
              <a:spcAft>
                <a:spcPts val="200"/>
              </a:spcAft>
              <a:defRPr sz="1150" b="1">
                <a:solidFill>
                  <a:srgbClr val="006E75"/>
                </a:solidFill>
                <a:latin typeface="Calibri"/>
              </a:defRPr>
            </a:pPr>
            <a:r>
              <a:t>SHOULD HAVE</a:t>
            </a:r>
          </a:p>
        </p:txBody>
      </p:sp>
      <p:sp>
        <p:nvSpPr>
          <p:cNvPr id="37" name="TextBox 36"/>
          <p:cNvSpPr txBox="1"/>
          <p:nvPr/>
        </p:nvSpPr>
        <p:spPr>
          <a:xfrm>
            <a:off x="6355079" y="4187952"/>
            <a:ext cx="5212079" cy="502920"/>
          </a:xfrm>
          <a:prstGeom prst="rect">
            <a:avLst/>
          </a:prstGeom>
          <a:noFill/>
        </p:spPr>
        <p:txBody>
          <a:bodyPr wrap="square" lIns="0" tIns="0" rIns="0" bIns="0">
            <a:spAutoFit/>
          </a:bodyPr>
          <a:lstStyle/>
          <a:p>
            <a:pPr>
              <a:lnSpc>
                <a:spcPct val="104000"/>
              </a:lnSpc>
              <a:spcBef>
                <a:spcPts val="0"/>
              </a:spcBef>
              <a:spcAft>
                <a:spcPts val="200"/>
              </a:spcAft>
              <a:defRPr sz="1600" b="0">
                <a:solidFill>
                  <a:srgbClr val="243A49"/>
                </a:solidFill>
                <a:latin typeface="Calibri"/>
              </a:defRPr>
            </a:pPr>
            <a:r>
              <a:t>Font-height estimate with confidence; checklist export</a:t>
            </a:r>
          </a:p>
        </p:txBody>
      </p:sp>
      <p:sp>
        <p:nvSpPr>
          <p:cNvPr id="38" name="Rounded Rectangle 37"/>
          <p:cNvSpPr/>
          <p:nvPr/>
        </p:nvSpPr>
        <p:spPr>
          <a:xfrm>
            <a:off x="457200" y="4846320"/>
            <a:ext cx="5541264" cy="950976"/>
          </a:xfrm>
          <a:prstGeom prst="roundRect">
            <a:avLst>
              <a:gd name="adj" fmla="val 8000"/>
            </a:avLst>
          </a:prstGeom>
          <a:solidFill>
            <a:srgbClr val="FFFFFF"/>
          </a:solidFill>
          <a:ln w="8255">
            <a:solidFill>
              <a:srgbClr val="D7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621792" y="4965192"/>
            <a:ext cx="5212079" cy="228600"/>
          </a:xfrm>
          <a:prstGeom prst="rect">
            <a:avLst/>
          </a:prstGeom>
          <a:noFill/>
        </p:spPr>
        <p:txBody>
          <a:bodyPr wrap="square" lIns="0" tIns="0" rIns="0" bIns="0">
            <a:spAutoFit/>
          </a:bodyPr>
          <a:lstStyle/>
          <a:p>
            <a:pPr>
              <a:lnSpc>
                <a:spcPct val="104000"/>
              </a:lnSpc>
              <a:spcBef>
                <a:spcPts val="0"/>
              </a:spcBef>
              <a:spcAft>
                <a:spcPts val="200"/>
              </a:spcAft>
              <a:defRPr sz="1150" b="1">
                <a:solidFill>
                  <a:srgbClr val="006E75"/>
                </a:solidFill>
                <a:latin typeface="Calibri"/>
              </a:defRPr>
            </a:pPr>
            <a:r>
              <a:t>COULD HAVE</a:t>
            </a:r>
          </a:p>
        </p:txBody>
      </p:sp>
      <p:sp>
        <p:nvSpPr>
          <p:cNvPr id="40" name="TextBox 39"/>
          <p:cNvSpPr txBox="1"/>
          <p:nvPr/>
        </p:nvSpPr>
        <p:spPr>
          <a:xfrm>
            <a:off x="621792" y="5212080"/>
            <a:ext cx="5212079" cy="502920"/>
          </a:xfrm>
          <a:prstGeom prst="rect">
            <a:avLst/>
          </a:prstGeom>
          <a:noFill/>
        </p:spPr>
        <p:txBody>
          <a:bodyPr wrap="square" lIns="0" tIns="0" rIns="0" bIns="0">
            <a:spAutoFit/>
          </a:bodyPr>
          <a:lstStyle/>
          <a:p>
            <a:pPr>
              <a:lnSpc>
                <a:spcPct val="104000"/>
              </a:lnSpc>
              <a:spcBef>
                <a:spcPts val="0"/>
              </a:spcBef>
              <a:spcAft>
                <a:spcPts val="200"/>
              </a:spcAft>
              <a:defRPr sz="1600" b="0">
                <a:solidFill>
                  <a:srgbClr val="243A49"/>
                </a:solidFill>
                <a:latin typeface="Calibri"/>
              </a:defRPr>
            </a:pPr>
            <a:r>
              <a:t>Regional-language translation; voice note</a:t>
            </a:r>
          </a:p>
        </p:txBody>
      </p:sp>
      <p:sp>
        <p:nvSpPr>
          <p:cNvPr id="41" name="Rounded Rectangle 40"/>
          <p:cNvSpPr/>
          <p:nvPr/>
        </p:nvSpPr>
        <p:spPr>
          <a:xfrm>
            <a:off x="6190488" y="4846320"/>
            <a:ext cx="5541264" cy="950976"/>
          </a:xfrm>
          <a:prstGeom prst="roundRect">
            <a:avLst>
              <a:gd name="adj" fmla="val 8000"/>
            </a:avLst>
          </a:prstGeom>
          <a:solidFill>
            <a:srgbClr val="EAF0F7"/>
          </a:solidFill>
          <a:ln w="8255">
            <a:solidFill>
              <a:srgbClr val="D7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6355079" y="4965192"/>
            <a:ext cx="5212079" cy="228600"/>
          </a:xfrm>
          <a:prstGeom prst="rect">
            <a:avLst/>
          </a:prstGeom>
          <a:noFill/>
        </p:spPr>
        <p:txBody>
          <a:bodyPr wrap="square" lIns="0" tIns="0" rIns="0" bIns="0">
            <a:spAutoFit/>
          </a:bodyPr>
          <a:lstStyle/>
          <a:p>
            <a:pPr>
              <a:lnSpc>
                <a:spcPct val="104000"/>
              </a:lnSpc>
              <a:spcBef>
                <a:spcPts val="0"/>
              </a:spcBef>
              <a:spcAft>
                <a:spcPts val="200"/>
              </a:spcAft>
              <a:defRPr sz="1150" b="1">
                <a:solidFill>
                  <a:srgbClr val="006E75"/>
                </a:solidFill>
                <a:latin typeface="Calibri"/>
              </a:defRPr>
            </a:pPr>
            <a:r>
              <a:t>WON’T HAVE IN P3</a:t>
            </a:r>
          </a:p>
        </p:txBody>
      </p:sp>
      <p:sp>
        <p:nvSpPr>
          <p:cNvPr id="43" name="TextBox 42"/>
          <p:cNvSpPr txBox="1"/>
          <p:nvPr/>
        </p:nvSpPr>
        <p:spPr>
          <a:xfrm>
            <a:off x="6355079" y="5212080"/>
            <a:ext cx="5212079" cy="502920"/>
          </a:xfrm>
          <a:prstGeom prst="rect">
            <a:avLst/>
          </a:prstGeom>
          <a:noFill/>
        </p:spPr>
        <p:txBody>
          <a:bodyPr wrap="square" lIns="0" tIns="0" rIns="0" bIns="0">
            <a:spAutoFit/>
          </a:bodyPr>
          <a:lstStyle/>
          <a:p>
            <a:pPr>
              <a:lnSpc>
                <a:spcPct val="104000"/>
              </a:lnSpc>
              <a:spcBef>
                <a:spcPts val="0"/>
              </a:spcBef>
              <a:spcAft>
                <a:spcPts val="200"/>
              </a:spcAft>
              <a:defRPr sz="1600" b="0">
                <a:solidFill>
                  <a:srgbClr val="243A49"/>
                </a:solidFill>
                <a:latin typeface="Calibri"/>
              </a:defRPr>
            </a:pPr>
            <a:r>
              <a:t>Legal verdicts, notices, shared registry (I03), live shop use, consumer app</a:t>
            </a:r>
          </a:p>
        </p:txBody>
      </p:sp>
      <p:sp>
        <p:nvSpPr>
          <p:cNvPr id="44" name="TextBox 43"/>
          <p:cNvSpPr txBox="1"/>
          <p:nvPr/>
        </p:nvSpPr>
        <p:spPr>
          <a:xfrm>
            <a:off x="475488" y="5934456"/>
            <a:ext cx="11155680" cy="310896"/>
          </a:xfrm>
          <a:prstGeom prst="rect">
            <a:avLst/>
          </a:prstGeom>
          <a:noFill/>
        </p:spPr>
        <p:txBody>
          <a:bodyPr wrap="square" lIns="0" tIns="0" rIns="0" bIns="0">
            <a:spAutoFit/>
          </a:bodyPr>
          <a:lstStyle/>
          <a:p>
            <a:pPr>
              <a:lnSpc>
                <a:spcPct val="104000"/>
              </a:lnSpc>
              <a:spcBef>
                <a:spcPts val="0"/>
              </a:spcBef>
              <a:spcAft>
                <a:spcPts val="200"/>
              </a:spcAft>
              <a:defRPr sz="1450" b="0">
                <a:solidFill>
                  <a:srgbClr val="006E75"/>
                </a:solidFill>
                <a:latin typeface="Calibri"/>
              </a:defRPr>
            </a:pPr>
            <a:r>
              <a:t>Failure / fallback: OCR fails or confidence is low → mark UNCERTAIN; inspector reads manually with paper checklist (I01). Test lead pauses the run.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8FA"/>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91440"/>
          </a:xfrm>
          <a:prstGeom prst="rect">
            <a:avLst/>
          </a:prstGeom>
          <a:solidFill>
            <a:srgbClr val="006E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19456"/>
            <a:ext cx="7315200" cy="228600"/>
          </a:xfrm>
          <a:prstGeom prst="rect">
            <a:avLst/>
          </a:prstGeom>
          <a:noFill/>
        </p:spPr>
        <p:txBody>
          <a:bodyPr wrap="square" lIns="0" tIns="0" rIns="0" bIns="0">
            <a:spAutoFit/>
          </a:bodyPr>
          <a:lstStyle/>
          <a:p>
            <a:pPr>
              <a:lnSpc>
                <a:spcPct val="104000"/>
              </a:lnSpc>
              <a:spcBef>
                <a:spcPts val="0"/>
              </a:spcBef>
              <a:spcAft>
                <a:spcPts val="200"/>
              </a:spcAft>
              <a:defRPr sz="1150" b="1">
                <a:solidFill>
                  <a:srgbClr val="006E75"/>
                </a:solidFill>
                <a:latin typeface="Calibri"/>
              </a:defRPr>
            </a:pPr>
            <a:r>
              <a:t>SCHOOL OF INNOVATION  |  KGISL INSTITUTE OF TECHNOLOGY</a:t>
            </a:r>
          </a:p>
        </p:txBody>
      </p:sp>
      <p:sp>
        <p:nvSpPr>
          <p:cNvPr id="4" name="Rounded Rectangle 3"/>
          <p:cNvSpPr/>
          <p:nvPr/>
        </p:nvSpPr>
        <p:spPr>
          <a:xfrm>
            <a:off x="8458200" y="210312"/>
            <a:ext cx="768096" cy="237744"/>
          </a:xfrm>
          <a:prstGeom prst="roundRect">
            <a:avLst>
              <a:gd name="adj" fmla="val 8000"/>
            </a:avLst>
          </a:prstGeom>
          <a:solidFill>
            <a:srgbClr val="D7E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458200" y="246888"/>
            <a:ext cx="768096" cy="128016"/>
          </a:xfrm>
          <a:prstGeom prst="rect">
            <a:avLst/>
          </a:prstGeom>
          <a:noFill/>
        </p:spPr>
        <p:txBody>
          <a:bodyPr wrap="square" lIns="0" tIns="0" rIns="0" bIns="0">
            <a:spAutoFit/>
          </a:bodyPr>
          <a:lstStyle/>
          <a:p>
            <a:pPr algn="ctr">
              <a:lnSpc>
                <a:spcPct val="104000"/>
              </a:lnSpc>
              <a:spcBef>
                <a:spcPts val="0"/>
              </a:spcBef>
              <a:spcAft>
                <a:spcPts val="200"/>
              </a:spcAft>
              <a:defRPr sz="880" b="1">
                <a:solidFill>
                  <a:srgbClr val="597080"/>
                </a:solidFill>
                <a:latin typeface="Calibri"/>
              </a:defRPr>
            </a:pPr>
            <a:r>
              <a:t>FRAME</a:t>
            </a:r>
          </a:p>
        </p:txBody>
      </p:sp>
      <p:sp>
        <p:nvSpPr>
          <p:cNvPr id="6" name="Rounded Rectangle 5"/>
          <p:cNvSpPr/>
          <p:nvPr/>
        </p:nvSpPr>
        <p:spPr>
          <a:xfrm>
            <a:off x="9281160" y="210312"/>
            <a:ext cx="768096" cy="237744"/>
          </a:xfrm>
          <a:prstGeom prst="roundRect">
            <a:avLst>
              <a:gd name="adj" fmla="val 8000"/>
            </a:avLst>
          </a:prstGeom>
          <a:solidFill>
            <a:srgbClr val="D7E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281160" y="246888"/>
            <a:ext cx="768096" cy="128016"/>
          </a:xfrm>
          <a:prstGeom prst="rect">
            <a:avLst/>
          </a:prstGeom>
          <a:noFill/>
        </p:spPr>
        <p:txBody>
          <a:bodyPr wrap="square" lIns="0" tIns="0" rIns="0" bIns="0">
            <a:spAutoFit/>
          </a:bodyPr>
          <a:lstStyle/>
          <a:p>
            <a:pPr algn="ctr">
              <a:lnSpc>
                <a:spcPct val="104000"/>
              </a:lnSpc>
              <a:spcBef>
                <a:spcPts val="0"/>
              </a:spcBef>
              <a:spcAft>
                <a:spcPts val="200"/>
              </a:spcAft>
              <a:defRPr sz="880" b="1">
                <a:solidFill>
                  <a:srgbClr val="597080"/>
                </a:solidFill>
                <a:latin typeface="Calibri"/>
              </a:defRPr>
            </a:pPr>
            <a:r>
              <a:t>EXPLORE</a:t>
            </a:r>
          </a:p>
        </p:txBody>
      </p:sp>
      <p:sp>
        <p:nvSpPr>
          <p:cNvPr id="8" name="Rounded Rectangle 7"/>
          <p:cNvSpPr/>
          <p:nvPr/>
        </p:nvSpPr>
        <p:spPr>
          <a:xfrm>
            <a:off x="10104120" y="210312"/>
            <a:ext cx="768096" cy="237744"/>
          </a:xfrm>
          <a:prstGeom prst="roundRect">
            <a:avLst>
              <a:gd name="adj" fmla="val 8000"/>
            </a:avLst>
          </a:prstGeom>
          <a:solidFill>
            <a:srgbClr val="006E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104120" y="246888"/>
            <a:ext cx="768096" cy="128016"/>
          </a:xfrm>
          <a:prstGeom prst="rect">
            <a:avLst/>
          </a:prstGeom>
          <a:noFill/>
        </p:spPr>
        <p:txBody>
          <a:bodyPr wrap="square" lIns="0" tIns="0" rIns="0" bIns="0">
            <a:spAutoFit/>
          </a:bodyPr>
          <a:lstStyle/>
          <a:p>
            <a:pPr algn="ctr">
              <a:lnSpc>
                <a:spcPct val="104000"/>
              </a:lnSpc>
              <a:spcBef>
                <a:spcPts val="0"/>
              </a:spcBef>
              <a:spcAft>
                <a:spcPts val="200"/>
              </a:spcAft>
              <a:defRPr sz="880" b="1">
                <a:solidFill>
                  <a:srgbClr val="FFFFFF"/>
                </a:solidFill>
                <a:latin typeface="Calibri"/>
              </a:defRPr>
            </a:pPr>
            <a:r>
              <a:t>CHOOSE</a:t>
            </a:r>
          </a:p>
        </p:txBody>
      </p:sp>
      <p:sp>
        <p:nvSpPr>
          <p:cNvPr id="10" name="Rounded Rectangle 9"/>
          <p:cNvSpPr/>
          <p:nvPr/>
        </p:nvSpPr>
        <p:spPr>
          <a:xfrm>
            <a:off x="10927080" y="210312"/>
            <a:ext cx="768096" cy="237744"/>
          </a:xfrm>
          <a:prstGeom prst="roundRect">
            <a:avLst>
              <a:gd name="adj" fmla="val 8000"/>
            </a:avLst>
          </a:prstGeom>
          <a:solidFill>
            <a:srgbClr val="D7E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927080" y="246888"/>
            <a:ext cx="768096" cy="128016"/>
          </a:xfrm>
          <a:prstGeom prst="rect">
            <a:avLst/>
          </a:prstGeom>
          <a:noFill/>
        </p:spPr>
        <p:txBody>
          <a:bodyPr wrap="square" lIns="0" tIns="0" rIns="0" bIns="0">
            <a:spAutoFit/>
          </a:bodyPr>
          <a:lstStyle/>
          <a:p>
            <a:pPr algn="ctr">
              <a:lnSpc>
                <a:spcPct val="104000"/>
              </a:lnSpc>
              <a:spcBef>
                <a:spcPts val="0"/>
              </a:spcBef>
              <a:spcAft>
                <a:spcPts val="200"/>
              </a:spcAft>
              <a:defRPr sz="880" b="1">
                <a:solidFill>
                  <a:srgbClr val="597080"/>
                </a:solidFill>
                <a:latin typeface="Calibri"/>
              </a:defRPr>
            </a:pPr>
            <a:r>
              <a:t>TEST</a:t>
            </a:r>
          </a:p>
        </p:txBody>
      </p:sp>
      <p:sp>
        <p:nvSpPr>
          <p:cNvPr id="12" name="TextBox 11"/>
          <p:cNvSpPr txBox="1"/>
          <p:nvPr/>
        </p:nvSpPr>
        <p:spPr>
          <a:xfrm>
            <a:off x="457200" y="758952"/>
            <a:ext cx="585216" cy="438912"/>
          </a:xfrm>
          <a:prstGeom prst="rect">
            <a:avLst/>
          </a:prstGeom>
          <a:noFill/>
        </p:spPr>
        <p:txBody>
          <a:bodyPr wrap="square" lIns="0" tIns="0" rIns="0" bIns="0">
            <a:spAutoFit/>
          </a:bodyPr>
          <a:lstStyle/>
          <a:p>
            <a:pPr>
              <a:lnSpc>
                <a:spcPct val="104000"/>
              </a:lnSpc>
              <a:spcBef>
                <a:spcPts val="0"/>
              </a:spcBef>
              <a:spcAft>
                <a:spcPts val="200"/>
              </a:spcAft>
              <a:defRPr sz="2400" b="1">
                <a:solidFill>
                  <a:srgbClr val="006E75"/>
                </a:solidFill>
                <a:latin typeface="Calibri"/>
              </a:defRPr>
            </a:pPr>
            <a:r>
              <a:t>09</a:t>
            </a:r>
          </a:p>
        </p:txBody>
      </p:sp>
      <p:sp>
        <p:nvSpPr>
          <p:cNvPr id="13" name="TextBox 12"/>
          <p:cNvSpPr txBox="1"/>
          <p:nvPr/>
        </p:nvSpPr>
        <p:spPr>
          <a:xfrm>
            <a:off x="1143000" y="713232"/>
            <a:ext cx="10424160" cy="457200"/>
          </a:xfrm>
          <a:prstGeom prst="rect">
            <a:avLst/>
          </a:prstGeom>
          <a:noFill/>
        </p:spPr>
        <p:txBody>
          <a:bodyPr wrap="square" lIns="0" tIns="0" rIns="0" bIns="0">
            <a:spAutoFit/>
          </a:bodyPr>
          <a:lstStyle/>
          <a:p>
            <a:pPr>
              <a:lnSpc>
                <a:spcPct val="104000"/>
              </a:lnSpc>
              <a:spcBef>
                <a:spcPts val="0"/>
              </a:spcBef>
              <a:spcAft>
                <a:spcPts val="200"/>
              </a:spcAft>
              <a:defRPr sz="2700" b="1">
                <a:solidFill>
                  <a:srgbClr val="153347"/>
                </a:solidFill>
                <a:latin typeface="Calibri"/>
              </a:defRPr>
            </a:pPr>
            <a:r>
              <a:t>Selected-vertical design check</a:t>
            </a:r>
          </a:p>
        </p:txBody>
      </p:sp>
      <p:sp>
        <p:nvSpPr>
          <p:cNvPr id="14" name="TextBox 13"/>
          <p:cNvSpPr txBox="1"/>
          <p:nvPr/>
        </p:nvSpPr>
        <p:spPr>
          <a:xfrm>
            <a:off x="475488" y="1252728"/>
            <a:ext cx="11201400" cy="457200"/>
          </a:xfrm>
          <a:prstGeom prst="rect">
            <a:avLst/>
          </a:prstGeom>
          <a:noFill/>
        </p:spPr>
        <p:txBody>
          <a:bodyPr wrap="square" lIns="0" tIns="0" rIns="0" bIns="0">
            <a:spAutoFit/>
          </a:bodyPr>
          <a:lstStyle/>
          <a:p>
            <a:pPr>
              <a:lnSpc>
                <a:spcPct val="104000"/>
              </a:lnSpc>
              <a:spcBef>
                <a:spcPts val="0"/>
              </a:spcBef>
              <a:spcAft>
                <a:spcPts val="200"/>
              </a:spcAft>
              <a:defRPr sz="1550" b="0">
                <a:solidFill>
                  <a:srgbClr val="597080"/>
                </a:solidFill>
                <a:latin typeface="Calibri"/>
              </a:defRPr>
            </a:pPr>
            <a:r>
              <a:t>Use your selected lab’s design prompts. All seven verticals are explained in the guide and Notes.</a:t>
            </a:r>
          </a:p>
        </p:txBody>
      </p:sp>
      <p:sp>
        <p:nvSpPr>
          <p:cNvPr id="15" name="Rectangle 14"/>
          <p:cNvSpPr/>
          <p:nvPr/>
        </p:nvSpPr>
        <p:spPr>
          <a:xfrm>
            <a:off x="457200" y="6428232"/>
            <a:ext cx="11274552" cy="9144"/>
          </a:xfrm>
          <a:prstGeom prst="rect">
            <a:avLst/>
          </a:prstGeom>
          <a:solidFill>
            <a:srgbClr val="D7E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57200" y="6528816"/>
            <a:ext cx="7589520" cy="155448"/>
          </a:xfrm>
          <a:prstGeom prst="rect">
            <a:avLst/>
          </a:prstGeom>
          <a:noFill/>
        </p:spPr>
        <p:txBody>
          <a:bodyPr wrap="square" lIns="0" tIns="0" rIns="0" bIns="0">
            <a:spAutoFit/>
          </a:bodyPr>
          <a:lstStyle/>
          <a:p>
            <a:pPr>
              <a:lnSpc>
                <a:spcPct val="104000"/>
              </a:lnSpc>
              <a:spcBef>
                <a:spcPts val="0"/>
              </a:spcBef>
              <a:spcAft>
                <a:spcPts val="200"/>
              </a:spcAft>
              <a:defRPr sz="900" b="0">
                <a:solidFill>
                  <a:srgbClr val="597080"/>
                </a:solidFill>
                <a:latin typeface="Calibri"/>
              </a:defRPr>
            </a:pPr>
            <a:r>
              <a:t>TEAM TITANS • LABELGUARD • DRAFT FOR MENTOR REVIEW</a:t>
            </a:r>
          </a:p>
        </p:txBody>
      </p:sp>
      <p:sp>
        <p:nvSpPr>
          <p:cNvPr id="17" name="TextBox 16"/>
          <p:cNvSpPr txBox="1"/>
          <p:nvPr/>
        </p:nvSpPr>
        <p:spPr>
          <a:xfrm>
            <a:off x="8321040" y="6510528"/>
            <a:ext cx="2194560" cy="201168"/>
          </a:xfrm>
          <a:prstGeom prst="rect">
            <a:avLst/>
          </a:prstGeom>
          <a:noFill/>
        </p:spPr>
        <p:txBody>
          <a:bodyPr wrap="square" lIns="0" tIns="0" rIns="0" bIns="0">
            <a:spAutoFit/>
          </a:bodyPr>
          <a:lstStyle/>
          <a:p>
            <a:pPr algn="r">
              <a:lnSpc>
                <a:spcPct val="104000"/>
              </a:lnSpc>
              <a:spcBef>
                <a:spcPts val="0"/>
              </a:spcBef>
              <a:spcAft>
                <a:spcPts val="200"/>
              </a:spcAft>
              <a:defRPr sz="1000" b="1">
                <a:solidFill>
                  <a:srgbClr val="006E75"/>
                </a:solidFill>
                <a:latin typeface="Calibri"/>
              </a:defRPr>
            </a:pPr>
            <a:r>
              <a:t>P2 • 16 OCT 2026</a:t>
            </a:r>
          </a:p>
        </p:txBody>
      </p:sp>
      <p:sp>
        <p:nvSpPr>
          <p:cNvPr id="18" name="TextBox 17"/>
          <p:cNvSpPr txBox="1"/>
          <p:nvPr/>
        </p:nvSpPr>
        <p:spPr>
          <a:xfrm>
            <a:off x="10908792" y="6510528"/>
            <a:ext cx="786384" cy="201168"/>
          </a:xfrm>
          <a:prstGeom prst="rect">
            <a:avLst/>
          </a:prstGeom>
          <a:noFill/>
        </p:spPr>
        <p:txBody>
          <a:bodyPr wrap="square" lIns="0" tIns="0" rIns="0" bIns="0">
            <a:spAutoFit/>
          </a:bodyPr>
          <a:lstStyle/>
          <a:p>
            <a:pPr algn="r">
              <a:lnSpc>
                <a:spcPct val="104000"/>
              </a:lnSpc>
              <a:spcBef>
                <a:spcPts val="0"/>
              </a:spcBef>
              <a:spcAft>
                <a:spcPts val="200"/>
              </a:spcAft>
              <a:defRPr sz="1000" b="0">
                <a:solidFill>
                  <a:srgbClr val="597080"/>
                </a:solidFill>
                <a:latin typeface="Calibri"/>
              </a:defRPr>
            </a:pPr>
            <a:r>
              <a:t>9/11</a:t>
            </a:r>
          </a:p>
        </p:txBody>
      </p:sp>
      <p:sp>
        <p:nvSpPr>
          <p:cNvPr id="19" name="Rounded Rectangle 18"/>
          <p:cNvSpPr/>
          <p:nvPr/>
        </p:nvSpPr>
        <p:spPr>
          <a:xfrm>
            <a:off x="457200" y="1828800"/>
            <a:ext cx="11274552" cy="530352"/>
          </a:xfrm>
          <a:prstGeom prst="roundRect">
            <a:avLst>
              <a:gd name="adj" fmla="val 8000"/>
            </a:avLst>
          </a:prstGeom>
          <a:solidFill>
            <a:srgbClr val="1533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03504" y="1920240"/>
            <a:ext cx="10981944" cy="347471"/>
          </a:xfrm>
          <a:prstGeom prst="rect">
            <a:avLst/>
          </a:prstGeom>
          <a:noFill/>
        </p:spPr>
        <p:txBody>
          <a:bodyPr wrap="square" lIns="0" tIns="0" rIns="0" bIns="0">
            <a:spAutoFit/>
          </a:bodyPr>
          <a:lstStyle/>
          <a:p>
            <a:pPr>
              <a:lnSpc>
                <a:spcPct val="104000"/>
              </a:lnSpc>
              <a:spcBef>
                <a:spcPts val="0"/>
              </a:spcBef>
              <a:spcAft>
                <a:spcPts val="200"/>
              </a:spcAft>
              <a:defRPr sz="1900" b="1">
                <a:solidFill>
                  <a:srgbClr val="FFFFFF"/>
                </a:solidFill>
                <a:latin typeface="Calibri"/>
              </a:defRPr>
            </a:pPr>
            <a:r>
              <a:t>CD — Cloud &amp; DevOps</a:t>
            </a:r>
          </a:p>
        </p:txBody>
      </p:sp>
      <p:sp>
        <p:nvSpPr>
          <p:cNvPr id="21" name="Rounded Rectangle 20"/>
          <p:cNvSpPr/>
          <p:nvPr/>
        </p:nvSpPr>
        <p:spPr>
          <a:xfrm>
            <a:off x="457200" y="2578608"/>
            <a:ext cx="5541264" cy="1335024"/>
          </a:xfrm>
          <a:prstGeom prst="roundRect">
            <a:avLst>
              <a:gd name="adj" fmla="val 8000"/>
            </a:avLst>
          </a:prstGeom>
          <a:solidFill>
            <a:srgbClr val="FFFFFF"/>
          </a:solidFill>
          <a:ln w="8255">
            <a:solidFill>
              <a:srgbClr val="D7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21792" y="2697479"/>
            <a:ext cx="5212079" cy="228600"/>
          </a:xfrm>
          <a:prstGeom prst="rect">
            <a:avLst/>
          </a:prstGeom>
          <a:noFill/>
        </p:spPr>
        <p:txBody>
          <a:bodyPr wrap="square" lIns="0" tIns="0" rIns="0" bIns="0">
            <a:spAutoFit/>
          </a:bodyPr>
          <a:lstStyle/>
          <a:p>
            <a:pPr>
              <a:lnSpc>
                <a:spcPct val="104000"/>
              </a:lnSpc>
              <a:spcBef>
                <a:spcPts val="0"/>
              </a:spcBef>
              <a:spcAft>
                <a:spcPts val="200"/>
              </a:spcAft>
              <a:defRPr sz="1150" b="1">
                <a:solidFill>
                  <a:srgbClr val="006E75"/>
                </a:solidFill>
                <a:latin typeface="Calibri"/>
              </a:defRPr>
            </a:pPr>
            <a:r>
              <a:t>WHY THIS VERTICAL</a:t>
            </a:r>
          </a:p>
        </p:txBody>
      </p:sp>
      <p:sp>
        <p:nvSpPr>
          <p:cNvPr id="23" name="TextBox 22"/>
          <p:cNvSpPr txBox="1"/>
          <p:nvPr/>
        </p:nvSpPr>
        <p:spPr>
          <a:xfrm>
            <a:off x="621792" y="2944368"/>
            <a:ext cx="5212079" cy="886968"/>
          </a:xfrm>
          <a:prstGeom prst="rect">
            <a:avLst/>
          </a:prstGeom>
          <a:noFill/>
        </p:spPr>
        <p:txBody>
          <a:bodyPr wrap="square" lIns="0" tIns="0" rIns="0" bIns="0">
            <a:spAutoFit/>
          </a:bodyPr>
          <a:lstStyle/>
          <a:p>
            <a:pPr>
              <a:lnSpc>
                <a:spcPct val="104000"/>
              </a:lnSpc>
              <a:spcBef>
                <a:spcPts val="0"/>
              </a:spcBef>
              <a:spcAft>
                <a:spcPts val="200"/>
              </a:spcAft>
              <a:defRPr sz="1900" b="0">
                <a:solidFill>
                  <a:srgbClr val="243A49"/>
                </a:solidFill>
                <a:latin typeface="Calibri"/>
              </a:defRPr>
            </a:pPr>
            <a:r>
              <a:t>The checker must run as a small, reliable service an operator can deploy, update and roll back. Open question: reliability, cost, deployment.</a:t>
            </a:r>
          </a:p>
        </p:txBody>
      </p:sp>
      <p:sp>
        <p:nvSpPr>
          <p:cNvPr id="24" name="Rounded Rectangle 23"/>
          <p:cNvSpPr/>
          <p:nvPr/>
        </p:nvSpPr>
        <p:spPr>
          <a:xfrm>
            <a:off x="6190488" y="2578608"/>
            <a:ext cx="5541264" cy="1335024"/>
          </a:xfrm>
          <a:prstGeom prst="roundRect">
            <a:avLst>
              <a:gd name="adj" fmla="val 8000"/>
            </a:avLst>
          </a:prstGeom>
          <a:solidFill>
            <a:srgbClr val="FFFFFF"/>
          </a:solidFill>
          <a:ln w="8255">
            <a:solidFill>
              <a:srgbClr val="D7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355079" y="2697479"/>
            <a:ext cx="5212079" cy="228600"/>
          </a:xfrm>
          <a:prstGeom prst="rect">
            <a:avLst/>
          </a:prstGeom>
          <a:noFill/>
        </p:spPr>
        <p:txBody>
          <a:bodyPr wrap="square" lIns="0" tIns="0" rIns="0" bIns="0">
            <a:spAutoFit/>
          </a:bodyPr>
          <a:lstStyle/>
          <a:p>
            <a:pPr>
              <a:lnSpc>
                <a:spcPct val="104000"/>
              </a:lnSpc>
              <a:spcBef>
                <a:spcPts val="0"/>
              </a:spcBef>
              <a:spcAft>
                <a:spcPts val="200"/>
              </a:spcAft>
              <a:defRPr sz="1150" b="1">
                <a:solidFill>
                  <a:srgbClr val="006E75"/>
                </a:solidFill>
                <a:latin typeface="Calibri"/>
              </a:defRPr>
            </a:pPr>
            <a:r>
              <a:t>EARLY DESIGN / INFORMATION FLOW</a:t>
            </a:r>
          </a:p>
        </p:txBody>
      </p:sp>
      <p:sp>
        <p:nvSpPr>
          <p:cNvPr id="26" name="TextBox 25"/>
          <p:cNvSpPr txBox="1"/>
          <p:nvPr/>
        </p:nvSpPr>
        <p:spPr>
          <a:xfrm>
            <a:off x="6355079" y="2944368"/>
            <a:ext cx="5212079" cy="886968"/>
          </a:xfrm>
          <a:prstGeom prst="rect">
            <a:avLst/>
          </a:prstGeom>
          <a:noFill/>
        </p:spPr>
        <p:txBody>
          <a:bodyPr wrap="square" lIns="0" tIns="0" rIns="0" bIns="0">
            <a:spAutoFit/>
          </a:bodyPr>
          <a:lstStyle/>
          <a:p>
            <a:pPr>
              <a:lnSpc>
                <a:spcPct val="104000"/>
              </a:lnSpc>
              <a:spcBef>
                <a:spcPts val="0"/>
              </a:spcBef>
              <a:spcAft>
                <a:spcPts val="200"/>
              </a:spcAft>
              <a:defRPr sz="1900" b="0">
                <a:solidFill>
                  <a:srgbClr val="243A49"/>
                </a:solidFill>
                <a:latin typeface="Calibri"/>
              </a:defRPr>
            </a:pPr>
            <a:r>
              <a:t>Flow: image → upload API → queue → OCR worker → rule service → results store → report. Each step logged.</a:t>
            </a:r>
          </a:p>
        </p:txBody>
      </p:sp>
      <p:sp>
        <p:nvSpPr>
          <p:cNvPr id="27" name="Rounded Rectangle 26"/>
          <p:cNvSpPr/>
          <p:nvPr/>
        </p:nvSpPr>
        <p:spPr>
          <a:xfrm>
            <a:off x="457200" y="4096511"/>
            <a:ext cx="5541264" cy="1335024"/>
          </a:xfrm>
          <a:prstGeom prst="roundRect">
            <a:avLst>
              <a:gd name="adj" fmla="val 8000"/>
            </a:avLst>
          </a:prstGeom>
          <a:solidFill>
            <a:srgbClr val="FFFFFF"/>
          </a:solidFill>
          <a:ln w="8255">
            <a:solidFill>
              <a:srgbClr val="D7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21792" y="4215383"/>
            <a:ext cx="5212079" cy="228600"/>
          </a:xfrm>
          <a:prstGeom prst="rect">
            <a:avLst/>
          </a:prstGeom>
          <a:noFill/>
        </p:spPr>
        <p:txBody>
          <a:bodyPr wrap="square" lIns="0" tIns="0" rIns="0" bIns="0">
            <a:spAutoFit/>
          </a:bodyPr>
          <a:lstStyle/>
          <a:p>
            <a:pPr>
              <a:lnSpc>
                <a:spcPct val="104000"/>
              </a:lnSpc>
              <a:spcBef>
                <a:spcPts val="0"/>
              </a:spcBef>
              <a:spcAft>
                <a:spcPts val="200"/>
              </a:spcAft>
              <a:defRPr sz="1150" b="1">
                <a:solidFill>
                  <a:srgbClr val="006E75"/>
                </a:solidFill>
                <a:latin typeface="Calibri"/>
              </a:defRPr>
            </a:pPr>
            <a:r>
              <a:t>ACCESS, RESOURCES AND COST</a:t>
            </a:r>
          </a:p>
        </p:txBody>
      </p:sp>
      <p:sp>
        <p:nvSpPr>
          <p:cNvPr id="29" name="TextBox 28"/>
          <p:cNvSpPr txBox="1"/>
          <p:nvPr/>
        </p:nvSpPr>
        <p:spPr>
          <a:xfrm>
            <a:off x="621792" y="4462272"/>
            <a:ext cx="5212079" cy="886968"/>
          </a:xfrm>
          <a:prstGeom prst="rect">
            <a:avLst/>
          </a:prstGeom>
          <a:noFill/>
        </p:spPr>
        <p:txBody>
          <a:bodyPr wrap="square" lIns="0" tIns="0" rIns="0" bIns="0">
            <a:spAutoFit/>
          </a:bodyPr>
          <a:lstStyle/>
          <a:p>
            <a:pPr>
              <a:lnSpc>
                <a:spcPct val="104000"/>
              </a:lnSpc>
              <a:spcBef>
                <a:spcPts val="0"/>
              </a:spcBef>
              <a:spcAft>
                <a:spcPts val="200"/>
              </a:spcAft>
              <a:defRPr sz="1900" b="0">
                <a:solidFill>
                  <a:srgbClr val="243A49"/>
                </a:solidFill>
                <a:latin typeface="Calibri"/>
              </a:defRPr>
            </a:pPr>
            <a:r>
              <a:t>Isolated local / free-tier setup; open-source OCR; ≤ ₹1,000 (Estimated). Department hosting permission: not secured.</a:t>
            </a:r>
          </a:p>
        </p:txBody>
      </p:sp>
      <p:sp>
        <p:nvSpPr>
          <p:cNvPr id="30" name="Rounded Rectangle 29"/>
          <p:cNvSpPr/>
          <p:nvPr/>
        </p:nvSpPr>
        <p:spPr>
          <a:xfrm>
            <a:off x="6190488" y="4096511"/>
            <a:ext cx="5541264" cy="1335024"/>
          </a:xfrm>
          <a:prstGeom prst="roundRect">
            <a:avLst>
              <a:gd name="adj" fmla="val 8000"/>
            </a:avLst>
          </a:prstGeom>
          <a:solidFill>
            <a:srgbClr val="FFFFFF"/>
          </a:solidFill>
          <a:ln w="8255">
            <a:solidFill>
              <a:srgbClr val="D7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355079" y="4215383"/>
            <a:ext cx="5212079" cy="228600"/>
          </a:xfrm>
          <a:prstGeom prst="rect">
            <a:avLst/>
          </a:prstGeom>
          <a:noFill/>
        </p:spPr>
        <p:txBody>
          <a:bodyPr wrap="square" lIns="0" tIns="0" rIns="0" bIns="0">
            <a:spAutoFit/>
          </a:bodyPr>
          <a:lstStyle/>
          <a:p>
            <a:pPr>
              <a:lnSpc>
                <a:spcPct val="104000"/>
              </a:lnSpc>
              <a:spcBef>
                <a:spcPts val="0"/>
              </a:spcBef>
              <a:spcAft>
                <a:spcPts val="200"/>
              </a:spcAft>
              <a:defRPr sz="1150" b="1">
                <a:solidFill>
                  <a:srgbClr val="006E75"/>
                </a:solidFill>
                <a:latin typeface="Calibri"/>
              </a:defRPr>
            </a:pPr>
            <a:r>
              <a:t>RISK, RESPONSIBILITY AND MEASURE</a:t>
            </a:r>
          </a:p>
        </p:txBody>
      </p:sp>
      <p:sp>
        <p:nvSpPr>
          <p:cNvPr id="32" name="TextBox 31"/>
          <p:cNvSpPr txBox="1"/>
          <p:nvPr/>
        </p:nvSpPr>
        <p:spPr>
          <a:xfrm>
            <a:off x="6355079" y="4462272"/>
            <a:ext cx="5212079" cy="886968"/>
          </a:xfrm>
          <a:prstGeom prst="rect">
            <a:avLst/>
          </a:prstGeom>
          <a:noFill/>
        </p:spPr>
        <p:txBody>
          <a:bodyPr wrap="square" lIns="0" tIns="0" rIns="0" bIns="0">
            <a:spAutoFit/>
          </a:bodyPr>
          <a:lstStyle/>
          <a:p>
            <a:pPr>
              <a:lnSpc>
                <a:spcPct val="104000"/>
              </a:lnSpc>
              <a:spcBef>
                <a:spcPts val="0"/>
              </a:spcBef>
              <a:spcAft>
                <a:spcPts val="200"/>
              </a:spcAft>
              <a:defRPr sz="1900" b="0">
                <a:solidFill>
                  <a:srgbClr val="243A49"/>
                </a:solidFill>
                <a:latin typeface="Calibri"/>
              </a:defRPr>
            </a:pPr>
            <a:r>
              <a:t>Risk: images may show seller data. Measure: success rate, latency, rollback time, cost per 1,000 images.</a:t>
            </a:r>
          </a:p>
        </p:txBody>
      </p:sp>
      <p:sp>
        <p:nvSpPr>
          <p:cNvPr id="33" name="Rounded Rectangle 32"/>
          <p:cNvSpPr/>
          <p:nvPr/>
        </p:nvSpPr>
        <p:spPr>
          <a:xfrm>
            <a:off x="457200" y="5824728"/>
            <a:ext cx="11274552" cy="393192"/>
          </a:xfrm>
          <a:prstGeom prst="roundRect">
            <a:avLst>
              <a:gd name="adj" fmla="val 8000"/>
            </a:avLst>
          </a:prstGeom>
          <a:solidFill>
            <a:srgbClr val="E7F3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03504" y="5870448"/>
            <a:ext cx="10981944" cy="301751"/>
          </a:xfrm>
          <a:prstGeom prst="rect">
            <a:avLst/>
          </a:prstGeom>
          <a:noFill/>
        </p:spPr>
        <p:txBody>
          <a:bodyPr wrap="square" lIns="0" tIns="0" rIns="0" bIns="0">
            <a:spAutoFit/>
          </a:bodyPr>
          <a:lstStyle/>
          <a:p>
            <a:pPr>
              <a:lnSpc>
                <a:spcPct val="104000"/>
              </a:lnSpc>
              <a:spcBef>
                <a:spcPts val="0"/>
              </a:spcBef>
              <a:spcAft>
                <a:spcPts val="200"/>
              </a:spcAft>
              <a:defRPr sz="1450" b="0">
                <a:solidFill>
                  <a:srgbClr val="243A49"/>
                </a:solidFill>
                <a:latin typeface="Calibri"/>
              </a:defRPr>
            </a:pPr>
            <a:r>
              <a:t>Evidence must show the engineering question—not merely the technology label. No unapproved vertical change.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8FA"/>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91440"/>
          </a:xfrm>
          <a:prstGeom prst="rect">
            <a:avLst/>
          </a:prstGeom>
          <a:solidFill>
            <a:srgbClr val="006E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19456"/>
            <a:ext cx="7315200" cy="228600"/>
          </a:xfrm>
          <a:prstGeom prst="rect">
            <a:avLst/>
          </a:prstGeom>
          <a:noFill/>
        </p:spPr>
        <p:txBody>
          <a:bodyPr wrap="square" lIns="0" tIns="0" rIns="0" bIns="0">
            <a:spAutoFit/>
          </a:bodyPr>
          <a:lstStyle/>
          <a:p>
            <a:pPr>
              <a:lnSpc>
                <a:spcPct val="104000"/>
              </a:lnSpc>
              <a:spcBef>
                <a:spcPts val="0"/>
              </a:spcBef>
              <a:spcAft>
                <a:spcPts val="200"/>
              </a:spcAft>
              <a:defRPr sz="1150" b="1">
                <a:solidFill>
                  <a:srgbClr val="006E75"/>
                </a:solidFill>
                <a:latin typeface="Calibri"/>
              </a:defRPr>
            </a:pPr>
            <a:r>
              <a:t>SCHOOL OF INNOVATION  |  KGISL INSTITUTE OF TECHNOLOGY</a:t>
            </a:r>
          </a:p>
        </p:txBody>
      </p:sp>
      <p:sp>
        <p:nvSpPr>
          <p:cNvPr id="4" name="Rounded Rectangle 3"/>
          <p:cNvSpPr/>
          <p:nvPr/>
        </p:nvSpPr>
        <p:spPr>
          <a:xfrm>
            <a:off x="8458200" y="210312"/>
            <a:ext cx="768096" cy="237744"/>
          </a:xfrm>
          <a:prstGeom prst="roundRect">
            <a:avLst>
              <a:gd name="adj" fmla="val 8000"/>
            </a:avLst>
          </a:prstGeom>
          <a:solidFill>
            <a:srgbClr val="D7E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458200" y="246888"/>
            <a:ext cx="768096" cy="128016"/>
          </a:xfrm>
          <a:prstGeom prst="rect">
            <a:avLst/>
          </a:prstGeom>
          <a:noFill/>
        </p:spPr>
        <p:txBody>
          <a:bodyPr wrap="square" lIns="0" tIns="0" rIns="0" bIns="0">
            <a:spAutoFit/>
          </a:bodyPr>
          <a:lstStyle/>
          <a:p>
            <a:pPr algn="ctr">
              <a:lnSpc>
                <a:spcPct val="104000"/>
              </a:lnSpc>
              <a:spcBef>
                <a:spcPts val="0"/>
              </a:spcBef>
              <a:spcAft>
                <a:spcPts val="200"/>
              </a:spcAft>
              <a:defRPr sz="880" b="1">
                <a:solidFill>
                  <a:srgbClr val="597080"/>
                </a:solidFill>
                <a:latin typeface="Calibri"/>
              </a:defRPr>
            </a:pPr>
            <a:r>
              <a:t>FRAME</a:t>
            </a:r>
          </a:p>
        </p:txBody>
      </p:sp>
      <p:sp>
        <p:nvSpPr>
          <p:cNvPr id="6" name="Rounded Rectangle 5"/>
          <p:cNvSpPr/>
          <p:nvPr/>
        </p:nvSpPr>
        <p:spPr>
          <a:xfrm>
            <a:off x="9281160" y="210312"/>
            <a:ext cx="768096" cy="237744"/>
          </a:xfrm>
          <a:prstGeom prst="roundRect">
            <a:avLst>
              <a:gd name="adj" fmla="val 8000"/>
            </a:avLst>
          </a:prstGeom>
          <a:solidFill>
            <a:srgbClr val="D7E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281160" y="246888"/>
            <a:ext cx="768096" cy="128016"/>
          </a:xfrm>
          <a:prstGeom prst="rect">
            <a:avLst/>
          </a:prstGeom>
          <a:noFill/>
        </p:spPr>
        <p:txBody>
          <a:bodyPr wrap="square" lIns="0" tIns="0" rIns="0" bIns="0">
            <a:spAutoFit/>
          </a:bodyPr>
          <a:lstStyle/>
          <a:p>
            <a:pPr algn="ctr">
              <a:lnSpc>
                <a:spcPct val="104000"/>
              </a:lnSpc>
              <a:spcBef>
                <a:spcPts val="0"/>
              </a:spcBef>
              <a:spcAft>
                <a:spcPts val="200"/>
              </a:spcAft>
              <a:defRPr sz="880" b="1">
                <a:solidFill>
                  <a:srgbClr val="597080"/>
                </a:solidFill>
                <a:latin typeface="Calibri"/>
              </a:defRPr>
            </a:pPr>
            <a:r>
              <a:t>EXPLORE</a:t>
            </a:r>
          </a:p>
        </p:txBody>
      </p:sp>
      <p:sp>
        <p:nvSpPr>
          <p:cNvPr id="8" name="Rounded Rectangle 7"/>
          <p:cNvSpPr/>
          <p:nvPr/>
        </p:nvSpPr>
        <p:spPr>
          <a:xfrm>
            <a:off x="10104120" y="210312"/>
            <a:ext cx="768096" cy="237744"/>
          </a:xfrm>
          <a:prstGeom prst="roundRect">
            <a:avLst>
              <a:gd name="adj" fmla="val 8000"/>
            </a:avLst>
          </a:prstGeom>
          <a:solidFill>
            <a:srgbClr val="D7E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104120" y="246888"/>
            <a:ext cx="768096" cy="128016"/>
          </a:xfrm>
          <a:prstGeom prst="rect">
            <a:avLst/>
          </a:prstGeom>
          <a:noFill/>
        </p:spPr>
        <p:txBody>
          <a:bodyPr wrap="square" lIns="0" tIns="0" rIns="0" bIns="0">
            <a:spAutoFit/>
          </a:bodyPr>
          <a:lstStyle/>
          <a:p>
            <a:pPr algn="ctr">
              <a:lnSpc>
                <a:spcPct val="104000"/>
              </a:lnSpc>
              <a:spcBef>
                <a:spcPts val="0"/>
              </a:spcBef>
              <a:spcAft>
                <a:spcPts val="200"/>
              </a:spcAft>
              <a:defRPr sz="880" b="1">
                <a:solidFill>
                  <a:srgbClr val="597080"/>
                </a:solidFill>
                <a:latin typeface="Calibri"/>
              </a:defRPr>
            </a:pPr>
            <a:r>
              <a:t>CHOOSE</a:t>
            </a:r>
          </a:p>
        </p:txBody>
      </p:sp>
      <p:sp>
        <p:nvSpPr>
          <p:cNvPr id="10" name="Rounded Rectangle 9"/>
          <p:cNvSpPr/>
          <p:nvPr/>
        </p:nvSpPr>
        <p:spPr>
          <a:xfrm>
            <a:off x="10927080" y="210312"/>
            <a:ext cx="768096" cy="237744"/>
          </a:xfrm>
          <a:prstGeom prst="roundRect">
            <a:avLst>
              <a:gd name="adj" fmla="val 8000"/>
            </a:avLst>
          </a:prstGeom>
          <a:solidFill>
            <a:srgbClr val="006E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927080" y="246888"/>
            <a:ext cx="768096" cy="128016"/>
          </a:xfrm>
          <a:prstGeom prst="rect">
            <a:avLst/>
          </a:prstGeom>
          <a:noFill/>
        </p:spPr>
        <p:txBody>
          <a:bodyPr wrap="square" lIns="0" tIns="0" rIns="0" bIns="0">
            <a:spAutoFit/>
          </a:bodyPr>
          <a:lstStyle/>
          <a:p>
            <a:pPr algn="ctr">
              <a:lnSpc>
                <a:spcPct val="104000"/>
              </a:lnSpc>
              <a:spcBef>
                <a:spcPts val="0"/>
              </a:spcBef>
              <a:spcAft>
                <a:spcPts val="200"/>
              </a:spcAft>
              <a:defRPr sz="880" b="1">
                <a:solidFill>
                  <a:srgbClr val="FFFFFF"/>
                </a:solidFill>
                <a:latin typeface="Calibri"/>
              </a:defRPr>
            </a:pPr>
            <a:r>
              <a:t>TEST</a:t>
            </a:r>
          </a:p>
        </p:txBody>
      </p:sp>
      <p:sp>
        <p:nvSpPr>
          <p:cNvPr id="12" name="TextBox 11"/>
          <p:cNvSpPr txBox="1"/>
          <p:nvPr/>
        </p:nvSpPr>
        <p:spPr>
          <a:xfrm>
            <a:off x="457200" y="758952"/>
            <a:ext cx="585216" cy="438912"/>
          </a:xfrm>
          <a:prstGeom prst="rect">
            <a:avLst/>
          </a:prstGeom>
          <a:noFill/>
        </p:spPr>
        <p:txBody>
          <a:bodyPr wrap="square" lIns="0" tIns="0" rIns="0" bIns="0">
            <a:spAutoFit/>
          </a:bodyPr>
          <a:lstStyle/>
          <a:p>
            <a:pPr>
              <a:lnSpc>
                <a:spcPct val="104000"/>
              </a:lnSpc>
              <a:spcBef>
                <a:spcPts val="0"/>
              </a:spcBef>
              <a:spcAft>
                <a:spcPts val="200"/>
              </a:spcAft>
              <a:defRPr sz="2400" b="1">
                <a:solidFill>
                  <a:srgbClr val="006E75"/>
                </a:solidFill>
                <a:latin typeface="Calibri"/>
              </a:defRPr>
            </a:pPr>
            <a:r>
              <a:t>10</a:t>
            </a:r>
          </a:p>
        </p:txBody>
      </p:sp>
      <p:sp>
        <p:nvSpPr>
          <p:cNvPr id="13" name="TextBox 12"/>
          <p:cNvSpPr txBox="1"/>
          <p:nvPr/>
        </p:nvSpPr>
        <p:spPr>
          <a:xfrm>
            <a:off x="1143000" y="713232"/>
            <a:ext cx="10424160" cy="457200"/>
          </a:xfrm>
          <a:prstGeom prst="rect">
            <a:avLst/>
          </a:prstGeom>
          <a:noFill/>
        </p:spPr>
        <p:txBody>
          <a:bodyPr wrap="square" lIns="0" tIns="0" rIns="0" bIns="0">
            <a:spAutoFit/>
          </a:bodyPr>
          <a:lstStyle/>
          <a:p>
            <a:pPr>
              <a:lnSpc>
                <a:spcPct val="104000"/>
              </a:lnSpc>
              <a:spcBef>
                <a:spcPts val="0"/>
              </a:spcBef>
              <a:spcAft>
                <a:spcPts val="200"/>
              </a:spcAft>
              <a:defRPr sz="2700" b="1">
                <a:solidFill>
                  <a:srgbClr val="153347"/>
                </a:solidFill>
                <a:latin typeface="Calibri"/>
              </a:defRPr>
            </a:pPr>
            <a:r>
              <a:t>Plan the smallest Proof of Concept</a:t>
            </a:r>
          </a:p>
        </p:txBody>
      </p:sp>
      <p:sp>
        <p:nvSpPr>
          <p:cNvPr id="14" name="TextBox 13"/>
          <p:cNvSpPr txBox="1"/>
          <p:nvPr/>
        </p:nvSpPr>
        <p:spPr>
          <a:xfrm>
            <a:off x="475488" y="1252728"/>
            <a:ext cx="11201400" cy="457200"/>
          </a:xfrm>
          <a:prstGeom prst="rect">
            <a:avLst/>
          </a:prstGeom>
          <a:noFill/>
        </p:spPr>
        <p:txBody>
          <a:bodyPr wrap="square" lIns="0" tIns="0" rIns="0" bIns="0">
            <a:spAutoFit/>
          </a:bodyPr>
          <a:lstStyle/>
          <a:p>
            <a:pPr>
              <a:lnSpc>
                <a:spcPct val="104000"/>
              </a:lnSpc>
              <a:spcBef>
                <a:spcPts val="0"/>
              </a:spcBef>
              <a:spcAft>
                <a:spcPts val="200"/>
              </a:spcAft>
              <a:defRPr sz="1550" b="0">
                <a:solidFill>
                  <a:srgbClr val="597080"/>
                </a:solidFill>
                <a:latin typeface="Calibri"/>
              </a:defRPr>
            </a:pPr>
            <a:r>
              <a:t>P3 comes next: test the riskiest technical assumption, not the entire product.</a:t>
            </a:r>
          </a:p>
        </p:txBody>
      </p:sp>
      <p:sp>
        <p:nvSpPr>
          <p:cNvPr id="15" name="Rectangle 14"/>
          <p:cNvSpPr/>
          <p:nvPr/>
        </p:nvSpPr>
        <p:spPr>
          <a:xfrm>
            <a:off x="457200" y="6428232"/>
            <a:ext cx="11274552" cy="9144"/>
          </a:xfrm>
          <a:prstGeom prst="rect">
            <a:avLst/>
          </a:prstGeom>
          <a:solidFill>
            <a:srgbClr val="D7E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57200" y="6528816"/>
            <a:ext cx="7589520" cy="155448"/>
          </a:xfrm>
          <a:prstGeom prst="rect">
            <a:avLst/>
          </a:prstGeom>
          <a:noFill/>
        </p:spPr>
        <p:txBody>
          <a:bodyPr wrap="square" lIns="0" tIns="0" rIns="0" bIns="0">
            <a:spAutoFit/>
          </a:bodyPr>
          <a:lstStyle/>
          <a:p>
            <a:pPr>
              <a:lnSpc>
                <a:spcPct val="104000"/>
              </a:lnSpc>
              <a:spcBef>
                <a:spcPts val="0"/>
              </a:spcBef>
              <a:spcAft>
                <a:spcPts val="200"/>
              </a:spcAft>
              <a:defRPr sz="900" b="0">
                <a:solidFill>
                  <a:srgbClr val="597080"/>
                </a:solidFill>
                <a:latin typeface="Calibri"/>
              </a:defRPr>
            </a:pPr>
            <a:r>
              <a:t>TEAM TITANS • LABELGUARD • DRAFT FOR MENTOR REVIEW</a:t>
            </a:r>
          </a:p>
        </p:txBody>
      </p:sp>
      <p:sp>
        <p:nvSpPr>
          <p:cNvPr id="17" name="TextBox 16"/>
          <p:cNvSpPr txBox="1"/>
          <p:nvPr/>
        </p:nvSpPr>
        <p:spPr>
          <a:xfrm>
            <a:off x="8321040" y="6510528"/>
            <a:ext cx="2194560" cy="201168"/>
          </a:xfrm>
          <a:prstGeom prst="rect">
            <a:avLst/>
          </a:prstGeom>
          <a:noFill/>
        </p:spPr>
        <p:txBody>
          <a:bodyPr wrap="square" lIns="0" tIns="0" rIns="0" bIns="0">
            <a:spAutoFit/>
          </a:bodyPr>
          <a:lstStyle/>
          <a:p>
            <a:pPr algn="r">
              <a:lnSpc>
                <a:spcPct val="104000"/>
              </a:lnSpc>
              <a:spcBef>
                <a:spcPts val="0"/>
              </a:spcBef>
              <a:spcAft>
                <a:spcPts val="200"/>
              </a:spcAft>
              <a:defRPr sz="1000" b="1">
                <a:solidFill>
                  <a:srgbClr val="006E75"/>
                </a:solidFill>
                <a:latin typeface="Calibri"/>
              </a:defRPr>
            </a:pPr>
            <a:r>
              <a:t>P2 • 16 OCT 2026</a:t>
            </a:r>
          </a:p>
        </p:txBody>
      </p:sp>
      <p:sp>
        <p:nvSpPr>
          <p:cNvPr id="18" name="TextBox 17"/>
          <p:cNvSpPr txBox="1"/>
          <p:nvPr/>
        </p:nvSpPr>
        <p:spPr>
          <a:xfrm>
            <a:off x="10908792" y="6510528"/>
            <a:ext cx="786384" cy="201168"/>
          </a:xfrm>
          <a:prstGeom prst="rect">
            <a:avLst/>
          </a:prstGeom>
          <a:noFill/>
        </p:spPr>
        <p:txBody>
          <a:bodyPr wrap="square" lIns="0" tIns="0" rIns="0" bIns="0">
            <a:spAutoFit/>
          </a:bodyPr>
          <a:lstStyle/>
          <a:p>
            <a:pPr algn="r">
              <a:lnSpc>
                <a:spcPct val="104000"/>
              </a:lnSpc>
              <a:spcBef>
                <a:spcPts val="0"/>
              </a:spcBef>
              <a:spcAft>
                <a:spcPts val="200"/>
              </a:spcAft>
              <a:defRPr sz="1000" b="0">
                <a:solidFill>
                  <a:srgbClr val="597080"/>
                </a:solidFill>
                <a:latin typeface="Calibri"/>
              </a:defRPr>
            </a:pPr>
            <a:r>
              <a:t>10/11</a:t>
            </a:r>
          </a:p>
        </p:txBody>
      </p:sp>
      <p:sp>
        <p:nvSpPr>
          <p:cNvPr id="19" name="Rounded Rectangle 18"/>
          <p:cNvSpPr/>
          <p:nvPr/>
        </p:nvSpPr>
        <p:spPr>
          <a:xfrm>
            <a:off x="457200" y="1828800"/>
            <a:ext cx="5394960" cy="1170432"/>
          </a:xfrm>
          <a:prstGeom prst="roundRect">
            <a:avLst>
              <a:gd name="adj" fmla="val 8000"/>
            </a:avLst>
          </a:prstGeom>
          <a:solidFill>
            <a:srgbClr val="E7F3F1"/>
          </a:solidFill>
          <a:ln w="8255">
            <a:solidFill>
              <a:srgbClr val="D7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21792" y="1947672"/>
            <a:ext cx="5065776" cy="228600"/>
          </a:xfrm>
          <a:prstGeom prst="rect">
            <a:avLst/>
          </a:prstGeom>
          <a:noFill/>
        </p:spPr>
        <p:txBody>
          <a:bodyPr wrap="square" lIns="0" tIns="0" rIns="0" bIns="0">
            <a:spAutoFit/>
          </a:bodyPr>
          <a:lstStyle/>
          <a:p>
            <a:pPr>
              <a:lnSpc>
                <a:spcPct val="104000"/>
              </a:lnSpc>
              <a:spcBef>
                <a:spcPts val="0"/>
              </a:spcBef>
              <a:spcAft>
                <a:spcPts val="200"/>
              </a:spcAft>
              <a:defRPr sz="1150" b="1">
                <a:solidFill>
                  <a:srgbClr val="006E75"/>
                </a:solidFill>
                <a:latin typeface="Calibri"/>
              </a:defRPr>
            </a:pPr>
            <a:r>
              <a:t>HYPOTHESIS — STILL TO BE TESTED</a:t>
            </a:r>
          </a:p>
        </p:txBody>
      </p:sp>
      <p:sp>
        <p:nvSpPr>
          <p:cNvPr id="21" name="TextBox 20"/>
          <p:cNvSpPr txBox="1"/>
          <p:nvPr/>
        </p:nvSpPr>
        <p:spPr>
          <a:xfrm>
            <a:off x="621792" y="2194560"/>
            <a:ext cx="5065776" cy="722376"/>
          </a:xfrm>
          <a:prstGeom prst="rect">
            <a:avLst/>
          </a:prstGeom>
          <a:noFill/>
        </p:spPr>
        <p:txBody>
          <a:bodyPr wrap="square" lIns="0" tIns="0" rIns="0" bIns="0">
            <a:spAutoFit/>
          </a:bodyPr>
          <a:lstStyle/>
          <a:p>
            <a:pPr>
              <a:lnSpc>
                <a:spcPct val="104000"/>
              </a:lnSpc>
              <a:spcBef>
                <a:spcPts val="0"/>
              </a:spcBef>
              <a:spcAft>
                <a:spcPts val="200"/>
              </a:spcAft>
              <a:defRPr sz="1800" b="0">
                <a:solidFill>
                  <a:srgbClr val="243A49"/>
                </a:solidFill>
                <a:latin typeface="Calibri"/>
              </a:defRPr>
            </a:pPr>
            <a:r>
              <a:t>On 30 team-photographed labels, I02 will match a manual reference on ≥90% of field checks and flag low-confidence fields, in ≤50% of manual time.</a:t>
            </a:r>
          </a:p>
        </p:txBody>
      </p:sp>
      <p:sp>
        <p:nvSpPr>
          <p:cNvPr id="22" name="Rounded Rectangle 21"/>
          <p:cNvSpPr/>
          <p:nvPr/>
        </p:nvSpPr>
        <p:spPr>
          <a:xfrm>
            <a:off x="6025896" y="1828800"/>
            <a:ext cx="5705856" cy="1170432"/>
          </a:xfrm>
          <a:prstGeom prst="roundRect">
            <a:avLst>
              <a:gd name="adj" fmla="val 8000"/>
            </a:avLst>
          </a:prstGeom>
          <a:solidFill>
            <a:srgbClr val="FFFFFF"/>
          </a:solidFill>
          <a:ln w="8255">
            <a:solidFill>
              <a:srgbClr val="D7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190488" y="1947672"/>
            <a:ext cx="5376672" cy="228600"/>
          </a:xfrm>
          <a:prstGeom prst="rect">
            <a:avLst/>
          </a:prstGeom>
          <a:noFill/>
        </p:spPr>
        <p:txBody>
          <a:bodyPr wrap="square" lIns="0" tIns="0" rIns="0" bIns="0">
            <a:spAutoFit/>
          </a:bodyPr>
          <a:lstStyle/>
          <a:p>
            <a:pPr>
              <a:lnSpc>
                <a:spcPct val="104000"/>
              </a:lnSpc>
              <a:spcBef>
                <a:spcPts val="0"/>
              </a:spcBef>
              <a:spcAft>
                <a:spcPts val="200"/>
              </a:spcAft>
              <a:defRPr sz="1150" b="1">
                <a:solidFill>
                  <a:srgbClr val="006E75"/>
                </a:solidFill>
                <a:latin typeface="Calibri"/>
              </a:defRPr>
            </a:pPr>
            <a:r>
              <a:t>SMALLEST TEST / SAMPLE / COMPARATOR</a:t>
            </a:r>
          </a:p>
        </p:txBody>
      </p:sp>
      <p:sp>
        <p:nvSpPr>
          <p:cNvPr id="24" name="TextBox 23"/>
          <p:cNvSpPr txBox="1"/>
          <p:nvPr/>
        </p:nvSpPr>
        <p:spPr>
          <a:xfrm>
            <a:off x="6190488" y="2194560"/>
            <a:ext cx="5376672" cy="722376"/>
          </a:xfrm>
          <a:prstGeom prst="rect">
            <a:avLst/>
          </a:prstGeom>
          <a:noFill/>
        </p:spPr>
        <p:txBody>
          <a:bodyPr wrap="square" lIns="0" tIns="0" rIns="0" bIns="0">
            <a:spAutoFit/>
          </a:bodyPr>
          <a:lstStyle/>
          <a:p>
            <a:pPr>
              <a:lnSpc>
                <a:spcPct val="104000"/>
              </a:lnSpc>
              <a:spcBef>
                <a:spcPts val="0"/>
              </a:spcBef>
              <a:spcAft>
                <a:spcPts val="200"/>
              </a:spcAft>
              <a:defRPr sz="1700" b="0">
                <a:solidFill>
                  <a:srgbClr val="243A49"/>
                </a:solidFill>
                <a:latin typeface="Calibri"/>
              </a:defRPr>
            </a:pPr>
            <a:r>
              <a:t>30 photos (10 hard: curved, shiny, regional, sticker) × 7 fields = 210 checks. Reference by two members, Mentor-checked; comparator: timed manual checklist, order alternated. Small design, not powered.</a:t>
            </a:r>
          </a:p>
        </p:txBody>
      </p:sp>
      <p:graphicFrame>
        <p:nvGraphicFramePr>
          <p:cNvPr id="25" name="Table 24"/>
          <p:cNvGraphicFramePr>
            <a:graphicFrameLocks noGrp="1"/>
          </p:cNvGraphicFramePr>
          <p:nvPr/>
        </p:nvGraphicFramePr>
        <p:xfrm>
          <a:off x="457200" y="3200400"/>
          <a:ext cx="11274552" cy="2203704"/>
        </p:xfrm>
        <a:graphic>
          <a:graphicData uri="http://schemas.openxmlformats.org/drawingml/2006/table">
            <a:tbl>
              <a:tblPr firstRow="1" bandRow="1">
                <a:tableStyleId>{5C22544A-7EE6-4342-B048-85BDC9FD1C3A}</a:tableStyleId>
              </a:tblPr>
              <a:tblGrid>
                <a:gridCol w="2029968">
                  <a:extLst>
                    <a:ext uri="{9D8B030D-6E8A-4147-A177-3AD203B41FA5}">
                      <a16:colId xmlns:a16="http://schemas.microsoft.com/office/drawing/2014/main" val="20000"/>
                    </a:ext>
                  </a:extLst>
                </a:gridCol>
                <a:gridCol w="2880360">
                  <a:extLst>
                    <a:ext uri="{9D8B030D-6E8A-4147-A177-3AD203B41FA5}">
                      <a16:colId xmlns:a16="http://schemas.microsoft.com/office/drawing/2014/main" val="20001"/>
                    </a:ext>
                  </a:extLst>
                </a:gridCol>
                <a:gridCol w="3291840">
                  <a:extLst>
                    <a:ext uri="{9D8B030D-6E8A-4147-A177-3AD203B41FA5}">
                      <a16:colId xmlns:a16="http://schemas.microsoft.com/office/drawing/2014/main" val="20002"/>
                    </a:ext>
                  </a:extLst>
                </a:gridCol>
                <a:gridCol w="3072384">
                  <a:extLst>
                    <a:ext uri="{9D8B030D-6E8A-4147-A177-3AD203B41FA5}">
                      <a16:colId xmlns:a16="http://schemas.microsoft.com/office/drawing/2014/main" val="20003"/>
                    </a:ext>
                  </a:extLst>
                </a:gridCol>
              </a:tblGrid>
              <a:tr h="393192">
                <a:tc>
                  <a:txBody>
                    <a:bodyPr/>
                    <a:lstStyle/>
                    <a:p>
                      <a:pPr>
                        <a:lnSpc>
                          <a:spcPct val="104000"/>
                        </a:lnSpc>
                        <a:spcAft>
                          <a:spcPts val="0"/>
                        </a:spcAft>
                        <a:defRPr sz="1300" b="1">
                          <a:solidFill>
                            <a:srgbClr val="FFFFFF"/>
                          </a:solidFill>
                          <a:latin typeface="Calibri"/>
                        </a:defRPr>
                      </a:pPr>
                      <a:r>
                        <a:t>Measure</a:t>
                      </a:r>
                    </a:p>
                  </a:txBody>
                  <a:tcPr marL="109728" marR="109728" marT="64008" marB="64008" anchor="ctr">
                    <a:solidFill>
                      <a:srgbClr val="153347"/>
                    </a:solidFill>
                  </a:tcPr>
                </a:tc>
                <a:tc>
                  <a:txBody>
                    <a:bodyPr/>
                    <a:lstStyle/>
                    <a:p>
                      <a:pPr>
                        <a:lnSpc>
                          <a:spcPct val="104000"/>
                        </a:lnSpc>
                        <a:spcAft>
                          <a:spcPts val="0"/>
                        </a:spcAft>
                        <a:defRPr sz="1300" b="1">
                          <a:solidFill>
                            <a:srgbClr val="FFFFFF"/>
                          </a:solidFill>
                          <a:latin typeface="Calibri"/>
                        </a:defRPr>
                      </a:pPr>
                      <a:r>
                        <a:t>Comparator / baseline</a:t>
                      </a:r>
                    </a:p>
                  </a:txBody>
                  <a:tcPr marL="109728" marR="109728" marT="64008" marB="64008" anchor="ctr">
                    <a:solidFill>
                      <a:srgbClr val="153347"/>
                    </a:solidFill>
                  </a:tcPr>
                </a:tc>
                <a:tc>
                  <a:txBody>
                    <a:bodyPr/>
                    <a:lstStyle/>
                    <a:p>
                      <a:pPr>
                        <a:lnSpc>
                          <a:spcPct val="104000"/>
                        </a:lnSpc>
                        <a:spcAft>
                          <a:spcPts val="0"/>
                        </a:spcAft>
                        <a:defRPr sz="1300" b="1">
                          <a:solidFill>
                            <a:srgbClr val="FFFFFF"/>
                          </a:solidFill>
                          <a:latin typeface="Calibri"/>
                        </a:defRPr>
                      </a:pPr>
                      <a:r>
                        <a:t>Planned pass threshold</a:t>
                      </a:r>
                    </a:p>
                  </a:txBody>
                  <a:tcPr marL="109728" marR="109728" marT="64008" marB="64008" anchor="ctr">
                    <a:solidFill>
                      <a:srgbClr val="153347"/>
                    </a:solidFill>
                  </a:tcPr>
                </a:tc>
                <a:tc>
                  <a:txBody>
                    <a:bodyPr/>
                    <a:lstStyle/>
                    <a:p>
                      <a:pPr>
                        <a:lnSpc>
                          <a:spcPct val="104000"/>
                        </a:lnSpc>
                        <a:spcAft>
                          <a:spcPts val="0"/>
                        </a:spcAft>
                        <a:defRPr sz="1300" b="1">
                          <a:solidFill>
                            <a:srgbClr val="FFFFFF"/>
                          </a:solidFill>
                          <a:latin typeface="Calibri"/>
                        </a:defRPr>
                      </a:pPr>
                      <a:r>
                        <a:t>How measured</a:t>
                      </a:r>
                    </a:p>
                  </a:txBody>
                  <a:tcPr marL="109728" marR="109728" marT="64008" marB="64008" anchor="ctr">
                    <a:solidFill>
                      <a:srgbClr val="153347"/>
                    </a:solidFill>
                  </a:tcPr>
                </a:tc>
                <a:extLst>
                  <a:ext uri="{0D108BD9-81ED-4DB2-BD59-A6C34878D82A}">
                    <a16:rowId xmlns:a16="http://schemas.microsoft.com/office/drawing/2014/main" val="10000"/>
                  </a:ext>
                </a:extLst>
              </a:tr>
              <a:tr h="603504">
                <a:tc>
                  <a:txBody>
                    <a:bodyPr/>
                    <a:lstStyle/>
                    <a:p>
                      <a:pPr>
                        <a:lnSpc>
                          <a:spcPct val="104000"/>
                        </a:lnSpc>
                        <a:spcAft>
                          <a:spcPts val="0"/>
                        </a:spcAft>
                        <a:defRPr sz="1500" b="0">
                          <a:solidFill>
                            <a:srgbClr val="243A49"/>
                          </a:solidFill>
                          <a:latin typeface="Calibri"/>
                        </a:defRPr>
                      </a:pPr>
                      <a:r>
                        <a:t>Field-check accuracy</a:t>
                      </a:r>
                    </a:p>
                  </a:txBody>
                  <a:tcPr marL="109728" marR="109728" marT="64008" marB="64008" anchor="ctr">
                    <a:solidFill>
                      <a:srgbClr val="FFFFFF"/>
                    </a:solidFill>
                  </a:tcPr>
                </a:tc>
                <a:tc>
                  <a:txBody>
                    <a:bodyPr/>
                    <a:lstStyle/>
                    <a:p>
                      <a:pPr>
                        <a:lnSpc>
                          <a:spcPct val="104000"/>
                        </a:lnSpc>
                        <a:spcAft>
                          <a:spcPts val="0"/>
                        </a:spcAft>
                        <a:defRPr sz="1500" b="0">
                          <a:solidFill>
                            <a:srgbClr val="243A49"/>
                          </a:solidFill>
                          <a:latin typeface="Calibri"/>
                        </a:defRPr>
                      </a:pPr>
                      <a:r>
                        <a:t>Manual reference, same 30 labels</a:t>
                      </a:r>
                    </a:p>
                  </a:txBody>
                  <a:tcPr marL="109728" marR="109728" marT="64008" marB="64008" anchor="ctr">
                    <a:solidFill>
                      <a:srgbClr val="FFFFFF"/>
                    </a:solidFill>
                  </a:tcPr>
                </a:tc>
                <a:tc>
                  <a:txBody>
                    <a:bodyPr/>
                    <a:lstStyle/>
                    <a:p>
                      <a:pPr>
                        <a:lnSpc>
                          <a:spcPct val="104000"/>
                        </a:lnSpc>
                        <a:spcAft>
                          <a:spcPts val="0"/>
                        </a:spcAft>
                        <a:defRPr sz="1500" b="0">
                          <a:solidFill>
                            <a:srgbClr val="243A49"/>
                          </a:solidFill>
                          <a:latin typeface="Calibri"/>
                        </a:defRPr>
                      </a:pPr>
                      <a:r>
                        <a:t>≥ 189 / 210 (90%)</a:t>
                      </a:r>
                    </a:p>
                  </a:txBody>
                  <a:tcPr marL="109728" marR="109728" marT="64008" marB="64008" anchor="ctr">
                    <a:solidFill>
                      <a:srgbClr val="FFFFFF"/>
                    </a:solidFill>
                  </a:tcPr>
                </a:tc>
                <a:tc>
                  <a:txBody>
                    <a:bodyPr/>
                    <a:lstStyle/>
                    <a:p>
                      <a:pPr>
                        <a:lnSpc>
                          <a:spcPct val="104000"/>
                        </a:lnSpc>
                        <a:spcAft>
                          <a:spcPts val="0"/>
                        </a:spcAft>
                        <a:defRPr sz="1500" b="0">
                          <a:solidFill>
                            <a:srgbClr val="243A49"/>
                          </a:solidFill>
                          <a:latin typeface="Calibri"/>
                        </a:defRPr>
                      </a:pPr>
                      <a:r>
                        <a:t>Compare each field to reference</a:t>
                      </a:r>
                    </a:p>
                  </a:txBody>
                  <a:tcPr marL="109728" marR="109728" marT="64008" marB="64008" anchor="ctr">
                    <a:solidFill>
                      <a:srgbClr val="FFFFFF"/>
                    </a:solidFill>
                  </a:tcPr>
                </a:tc>
                <a:extLst>
                  <a:ext uri="{0D108BD9-81ED-4DB2-BD59-A6C34878D82A}">
                    <a16:rowId xmlns:a16="http://schemas.microsoft.com/office/drawing/2014/main" val="10001"/>
                  </a:ext>
                </a:extLst>
              </a:tr>
              <a:tr h="603504">
                <a:tc>
                  <a:txBody>
                    <a:bodyPr/>
                    <a:lstStyle/>
                    <a:p>
                      <a:pPr>
                        <a:lnSpc>
                          <a:spcPct val="104000"/>
                        </a:lnSpc>
                        <a:spcAft>
                          <a:spcPts val="0"/>
                        </a:spcAft>
                        <a:defRPr sz="1500" b="0">
                          <a:solidFill>
                            <a:srgbClr val="243A49"/>
                          </a:solidFill>
                          <a:latin typeface="Calibri"/>
                        </a:defRPr>
                      </a:pPr>
                      <a:r>
                        <a:t>Wrong “present” without flag</a:t>
                      </a:r>
                    </a:p>
                  </a:txBody>
                  <a:tcPr marL="109728" marR="109728" marT="64008" marB="64008" anchor="ctr">
                    <a:solidFill>
                      <a:srgbClr val="E7F3F1"/>
                    </a:solidFill>
                  </a:tcPr>
                </a:tc>
                <a:tc>
                  <a:txBody>
                    <a:bodyPr/>
                    <a:lstStyle/>
                    <a:p>
                      <a:pPr>
                        <a:lnSpc>
                          <a:spcPct val="104000"/>
                        </a:lnSpc>
                        <a:spcAft>
                          <a:spcPts val="0"/>
                        </a:spcAft>
                        <a:defRPr sz="1500" b="0">
                          <a:solidFill>
                            <a:srgbClr val="243A49"/>
                          </a:solidFill>
                          <a:latin typeface="Calibri"/>
                        </a:defRPr>
                      </a:pPr>
                      <a:r>
                        <a:t>Reference answers</a:t>
                      </a:r>
                    </a:p>
                  </a:txBody>
                  <a:tcPr marL="109728" marR="109728" marT="64008" marB="64008" anchor="ctr">
                    <a:solidFill>
                      <a:srgbClr val="E7F3F1"/>
                    </a:solidFill>
                  </a:tcPr>
                </a:tc>
                <a:tc>
                  <a:txBody>
                    <a:bodyPr/>
                    <a:lstStyle/>
                    <a:p>
                      <a:pPr>
                        <a:lnSpc>
                          <a:spcPct val="104000"/>
                        </a:lnSpc>
                        <a:spcAft>
                          <a:spcPts val="0"/>
                        </a:spcAft>
                        <a:defRPr sz="1500" b="0">
                          <a:solidFill>
                            <a:srgbClr val="243A49"/>
                          </a:solidFill>
                          <a:latin typeface="Calibri"/>
                        </a:defRPr>
                      </a:pPr>
                      <a:r>
                        <a:t>0 of 30 labels</a:t>
                      </a:r>
                    </a:p>
                  </a:txBody>
                  <a:tcPr marL="109728" marR="109728" marT="64008" marB="64008" anchor="ctr">
                    <a:solidFill>
                      <a:srgbClr val="E7F3F1"/>
                    </a:solidFill>
                  </a:tcPr>
                </a:tc>
                <a:tc>
                  <a:txBody>
                    <a:bodyPr/>
                    <a:lstStyle/>
                    <a:p>
                      <a:pPr>
                        <a:lnSpc>
                          <a:spcPct val="104000"/>
                        </a:lnSpc>
                        <a:spcAft>
                          <a:spcPts val="0"/>
                        </a:spcAft>
                        <a:defRPr sz="1500" b="0">
                          <a:solidFill>
                            <a:srgbClr val="243A49"/>
                          </a:solidFill>
                          <a:latin typeface="Calibri"/>
                        </a:defRPr>
                      </a:pPr>
                      <a:r>
                        <a:t>List each miss and its flag</a:t>
                      </a:r>
                    </a:p>
                  </a:txBody>
                  <a:tcPr marL="109728" marR="109728" marT="64008" marB="64008" anchor="ctr">
                    <a:solidFill>
                      <a:srgbClr val="E7F3F1"/>
                    </a:solidFill>
                  </a:tcPr>
                </a:tc>
                <a:extLst>
                  <a:ext uri="{0D108BD9-81ED-4DB2-BD59-A6C34878D82A}">
                    <a16:rowId xmlns:a16="http://schemas.microsoft.com/office/drawing/2014/main" val="10002"/>
                  </a:ext>
                </a:extLst>
              </a:tr>
              <a:tr h="603504">
                <a:tc>
                  <a:txBody>
                    <a:bodyPr/>
                    <a:lstStyle/>
                    <a:p>
                      <a:pPr>
                        <a:lnSpc>
                          <a:spcPct val="104000"/>
                        </a:lnSpc>
                        <a:spcAft>
                          <a:spcPts val="0"/>
                        </a:spcAft>
                        <a:defRPr sz="1500" b="0">
                          <a:solidFill>
                            <a:srgbClr val="243A49"/>
                          </a:solidFill>
                          <a:latin typeface="Calibri"/>
                        </a:defRPr>
                      </a:pPr>
                      <a:r>
                        <a:t>Time, reliability, cost</a:t>
                      </a:r>
                    </a:p>
                  </a:txBody>
                  <a:tcPr marL="109728" marR="109728" marT="64008" marB="64008" anchor="ctr">
                    <a:solidFill>
                      <a:srgbClr val="FFFFFF"/>
                    </a:solidFill>
                  </a:tcPr>
                </a:tc>
                <a:tc>
                  <a:txBody>
                    <a:bodyPr/>
                    <a:lstStyle/>
                    <a:p>
                      <a:pPr>
                        <a:lnSpc>
                          <a:spcPct val="104000"/>
                        </a:lnSpc>
                        <a:spcAft>
                          <a:spcPts val="0"/>
                        </a:spcAft>
                        <a:defRPr sz="1500" b="0">
                          <a:solidFill>
                            <a:srgbClr val="243A49"/>
                          </a:solidFill>
                          <a:latin typeface="Calibri"/>
                        </a:defRPr>
                      </a:pPr>
                      <a:r>
                        <a:t>Timed manual check</a:t>
                      </a:r>
                    </a:p>
                  </a:txBody>
                  <a:tcPr marL="109728" marR="109728" marT="64008" marB="64008" anchor="ctr">
                    <a:solidFill>
                      <a:srgbClr val="FFFFFF"/>
                    </a:solidFill>
                  </a:tcPr>
                </a:tc>
                <a:tc>
                  <a:txBody>
                    <a:bodyPr/>
                    <a:lstStyle/>
                    <a:p>
                      <a:pPr>
                        <a:lnSpc>
                          <a:spcPct val="104000"/>
                        </a:lnSpc>
                        <a:spcAft>
                          <a:spcPts val="0"/>
                        </a:spcAft>
                        <a:defRPr sz="1500" b="0">
                          <a:solidFill>
                            <a:srgbClr val="243A49"/>
                          </a:solidFill>
                          <a:latin typeface="Calibri"/>
                        </a:defRPr>
                      </a:pPr>
                      <a:r>
                        <a:t>≤50% manual time; ≤10 s; rollback ≤5 min; ≤₹1,000</a:t>
                      </a:r>
                    </a:p>
                  </a:txBody>
                  <a:tcPr marL="109728" marR="109728" marT="64008" marB="64008" anchor="ctr">
                    <a:solidFill>
                      <a:srgbClr val="FFFFFF"/>
                    </a:solidFill>
                  </a:tcPr>
                </a:tc>
                <a:tc>
                  <a:txBody>
                    <a:bodyPr/>
                    <a:lstStyle/>
                    <a:p>
                      <a:pPr>
                        <a:lnSpc>
                          <a:spcPct val="104000"/>
                        </a:lnSpc>
                        <a:spcAft>
                          <a:spcPts val="0"/>
                        </a:spcAft>
                        <a:defRPr sz="1500" b="0">
                          <a:solidFill>
                            <a:srgbClr val="243A49"/>
                          </a:solidFill>
                          <a:latin typeface="Calibri"/>
                        </a:defRPr>
                      </a:pPr>
                      <a:r>
                        <a:t>Stopwatch, logs, usage bill</a:t>
                      </a:r>
                    </a:p>
                  </a:txBody>
                  <a:tcPr marL="109728" marR="109728" marT="64008" marB="64008" anchor="ctr">
                    <a:solidFill>
                      <a:srgbClr val="FFFFFF"/>
                    </a:solidFill>
                  </a:tcPr>
                </a:tc>
                <a:extLst>
                  <a:ext uri="{0D108BD9-81ED-4DB2-BD59-A6C34878D82A}">
                    <a16:rowId xmlns:a16="http://schemas.microsoft.com/office/drawing/2014/main" val="10003"/>
                  </a:ext>
                </a:extLst>
              </a:tr>
            </a:tbl>
          </a:graphicData>
        </a:graphic>
      </p:graphicFrame>
      <p:sp>
        <p:nvSpPr>
          <p:cNvPr id="26" name="Rounded Rectangle 25"/>
          <p:cNvSpPr/>
          <p:nvPr/>
        </p:nvSpPr>
        <p:spPr>
          <a:xfrm>
            <a:off x="457200" y="5486400"/>
            <a:ext cx="11274552" cy="612648"/>
          </a:xfrm>
          <a:prstGeom prst="roundRect">
            <a:avLst>
              <a:gd name="adj" fmla="val 8000"/>
            </a:avLst>
          </a:prstGeom>
          <a:solidFill>
            <a:srgbClr val="FFF3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03504" y="5577840"/>
            <a:ext cx="10981944" cy="429768"/>
          </a:xfrm>
          <a:prstGeom prst="rect">
            <a:avLst/>
          </a:prstGeom>
          <a:noFill/>
        </p:spPr>
        <p:txBody>
          <a:bodyPr wrap="square" lIns="0" tIns="0" rIns="0" bIns="0">
            <a:spAutoFit/>
          </a:bodyPr>
          <a:lstStyle/>
          <a:p>
            <a:pPr>
              <a:lnSpc>
                <a:spcPct val="104000"/>
              </a:lnSpc>
              <a:spcBef>
                <a:spcPts val="0"/>
              </a:spcBef>
              <a:spcAft>
                <a:spcPts val="200"/>
              </a:spcAft>
              <a:defRPr sz="1450" b="0">
                <a:solidFill>
                  <a:srgbClr val="243A49"/>
                </a:solidFill>
                <a:latin typeface="Calibri"/>
              </a:defRPr>
            </a:pPr>
            <a:r>
              <a:t>Stop / pivot: If accuracy or guardrail fails, fall back to I01, tune OCR, or test I03. Do not re-label targets as results.</a:t>
            </a:r>
          </a:p>
        </p:txBody>
      </p:sp>
      <p:sp>
        <p:nvSpPr>
          <p:cNvPr id="28" name="TextBox 27"/>
          <p:cNvSpPr txBox="1"/>
          <p:nvPr/>
        </p:nvSpPr>
        <p:spPr>
          <a:xfrm>
            <a:off x="475488" y="6181344"/>
            <a:ext cx="11155680" cy="173736"/>
          </a:xfrm>
          <a:prstGeom prst="rect">
            <a:avLst/>
          </a:prstGeom>
          <a:noFill/>
        </p:spPr>
        <p:txBody>
          <a:bodyPr wrap="square" lIns="0" tIns="0" rIns="0" bIns="0">
            <a:spAutoFit/>
          </a:bodyPr>
          <a:lstStyle/>
          <a:p>
            <a:pPr>
              <a:lnSpc>
                <a:spcPct val="104000"/>
              </a:lnSpc>
              <a:spcBef>
                <a:spcPts val="0"/>
              </a:spcBef>
              <a:spcAft>
                <a:spcPts val="200"/>
              </a:spcAft>
              <a:defRPr sz="1100" b="0">
                <a:solidFill>
                  <a:srgbClr val="597080"/>
                </a:solidFill>
                <a:latin typeface="Calibri"/>
              </a:defRPr>
            </a:pPr>
            <a:r>
              <a:t>Permission / boundary: team-photographed packs, no personal data, isolated, no enforcement use. Mentor approval pending; Test lead, 22 Oct.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5F8FA"/>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91440"/>
          </a:xfrm>
          <a:prstGeom prst="rect">
            <a:avLst/>
          </a:prstGeom>
          <a:solidFill>
            <a:srgbClr val="006E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19456"/>
            <a:ext cx="7315200" cy="228600"/>
          </a:xfrm>
          <a:prstGeom prst="rect">
            <a:avLst/>
          </a:prstGeom>
          <a:noFill/>
        </p:spPr>
        <p:txBody>
          <a:bodyPr wrap="square" lIns="0" tIns="0" rIns="0" bIns="0">
            <a:spAutoFit/>
          </a:bodyPr>
          <a:lstStyle/>
          <a:p>
            <a:pPr>
              <a:lnSpc>
                <a:spcPct val="104000"/>
              </a:lnSpc>
              <a:spcBef>
                <a:spcPts val="0"/>
              </a:spcBef>
              <a:spcAft>
                <a:spcPts val="200"/>
              </a:spcAft>
              <a:defRPr sz="1150" b="1">
                <a:solidFill>
                  <a:srgbClr val="006E75"/>
                </a:solidFill>
                <a:latin typeface="Calibri"/>
              </a:defRPr>
            </a:pPr>
            <a:r>
              <a:t>SCHOOL OF INNOVATION  |  KGISL INSTITUTE OF TECHNOLOGY</a:t>
            </a:r>
          </a:p>
        </p:txBody>
      </p:sp>
      <p:sp>
        <p:nvSpPr>
          <p:cNvPr id="4" name="Rounded Rectangle 3"/>
          <p:cNvSpPr/>
          <p:nvPr/>
        </p:nvSpPr>
        <p:spPr>
          <a:xfrm>
            <a:off x="8458200" y="210312"/>
            <a:ext cx="768096" cy="237744"/>
          </a:xfrm>
          <a:prstGeom prst="roundRect">
            <a:avLst>
              <a:gd name="adj" fmla="val 8000"/>
            </a:avLst>
          </a:prstGeom>
          <a:solidFill>
            <a:srgbClr val="D7E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458200" y="246888"/>
            <a:ext cx="768096" cy="128016"/>
          </a:xfrm>
          <a:prstGeom prst="rect">
            <a:avLst/>
          </a:prstGeom>
          <a:noFill/>
        </p:spPr>
        <p:txBody>
          <a:bodyPr wrap="square" lIns="0" tIns="0" rIns="0" bIns="0">
            <a:spAutoFit/>
          </a:bodyPr>
          <a:lstStyle/>
          <a:p>
            <a:pPr algn="ctr">
              <a:lnSpc>
                <a:spcPct val="104000"/>
              </a:lnSpc>
              <a:spcBef>
                <a:spcPts val="0"/>
              </a:spcBef>
              <a:spcAft>
                <a:spcPts val="200"/>
              </a:spcAft>
              <a:defRPr sz="880" b="1">
                <a:solidFill>
                  <a:srgbClr val="597080"/>
                </a:solidFill>
                <a:latin typeface="Calibri"/>
              </a:defRPr>
            </a:pPr>
            <a:r>
              <a:t>FRAME</a:t>
            </a:r>
          </a:p>
        </p:txBody>
      </p:sp>
      <p:sp>
        <p:nvSpPr>
          <p:cNvPr id="6" name="Rounded Rectangle 5"/>
          <p:cNvSpPr/>
          <p:nvPr/>
        </p:nvSpPr>
        <p:spPr>
          <a:xfrm>
            <a:off x="9281160" y="210312"/>
            <a:ext cx="768096" cy="237744"/>
          </a:xfrm>
          <a:prstGeom prst="roundRect">
            <a:avLst>
              <a:gd name="adj" fmla="val 8000"/>
            </a:avLst>
          </a:prstGeom>
          <a:solidFill>
            <a:srgbClr val="D7E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281160" y="246888"/>
            <a:ext cx="768096" cy="128016"/>
          </a:xfrm>
          <a:prstGeom prst="rect">
            <a:avLst/>
          </a:prstGeom>
          <a:noFill/>
        </p:spPr>
        <p:txBody>
          <a:bodyPr wrap="square" lIns="0" tIns="0" rIns="0" bIns="0">
            <a:spAutoFit/>
          </a:bodyPr>
          <a:lstStyle/>
          <a:p>
            <a:pPr algn="ctr">
              <a:lnSpc>
                <a:spcPct val="104000"/>
              </a:lnSpc>
              <a:spcBef>
                <a:spcPts val="0"/>
              </a:spcBef>
              <a:spcAft>
                <a:spcPts val="200"/>
              </a:spcAft>
              <a:defRPr sz="880" b="1">
                <a:solidFill>
                  <a:srgbClr val="597080"/>
                </a:solidFill>
                <a:latin typeface="Calibri"/>
              </a:defRPr>
            </a:pPr>
            <a:r>
              <a:t>EXPLORE</a:t>
            </a:r>
          </a:p>
        </p:txBody>
      </p:sp>
      <p:sp>
        <p:nvSpPr>
          <p:cNvPr id="8" name="Rounded Rectangle 7"/>
          <p:cNvSpPr/>
          <p:nvPr/>
        </p:nvSpPr>
        <p:spPr>
          <a:xfrm>
            <a:off x="10104120" y="210312"/>
            <a:ext cx="768096" cy="237744"/>
          </a:xfrm>
          <a:prstGeom prst="roundRect">
            <a:avLst>
              <a:gd name="adj" fmla="val 8000"/>
            </a:avLst>
          </a:prstGeom>
          <a:solidFill>
            <a:srgbClr val="D7E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104120" y="246888"/>
            <a:ext cx="768096" cy="128016"/>
          </a:xfrm>
          <a:prstGeom prst="rect">
            <a:avLst/>
          </a:prstGeom>
          <a:noFill/>
        </p:spPr>
        <p:txBody>
          <a:bodyPr wrap="square" lIns="0" tIns="0" rIns="0" bIns="0">
            <a:spAutoFit/>
          </a:bodyPr>
          <a:lstStyle/>
          <a:p>
            <a:pPr algn="ctr">
              <a:lnSpc>
                <a:spcPct val="104000"/>
              </a:lnSpc>
              <a:spcBef>
                <a:spcPts val="0"/>
              </a:spcBef>
              <a:spcAft>
                <a:spcPts val="200"/>
              </a:spcAft>
              <a:defRPr sz="880" b="1">
                <a:solidFill>
                  <a:srgbClr val="597080"/>
                </a:solidFill>
                <a:latin typeface="Calibri"/>
              </a:defRPr>
            </a:pPr>
            <a:r>
              <a:t>CHOOSE</a:t>
            </a:r>
          </a:p>
        </p:txBody>
      </p:sp>
      <p:sp>
        <p:nvSpPr>
          <p:cNvPr id="10" name="Rounded Rectangle 9"/>
          <p:cNvSpPr/>
          <p:nvPr/>
        </p:nvSpPr>
        <p:spPr>
          <a:xfrm>
            <a:off x="10927080" y="210312"/>
            <a:ext cx="768096" cy="237744"/>
          </a:xfrm>
          <a:prstGeom prst="roundRect">
            <a:avLst>
              <a:gd name="adj" fmla="val 8000"/>
            </a:avLst>
          </a:prstGeom>
          <a:solidFill>
            <a:srgbClr val="006E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927080" y="246888"/>
            <a:ext cx="768096" cy="128016"/>
          </a:xfrm>
          <a:prstGeom prst="rect">
            <a:avLst/>
          </a:prstGeom>
          <a:noFill/>
        </p:spPr>
        <p:txBody>
          <a:bodyPr wrap="square" lIns="0" tIns="0" rIns="0" bIns="0">
            <a:spAutoFit/>
          </a:bodyPr>
          <a:lstStyle/>
          <a:p>
            <a:pPr algn="ctr">
              <a:lnSpc>
                <a:spcPct val="104000"/>
              </a:lnSpc>
              <a:spcBef>
                <a:spcPts val="0"/>
              </a:spcBef>
              <a:spcAft>
                <a:spcPts val="200"/>
              </a:spcAft>
              <a:defRPr sz="880" b="1">
                <a:solidFill>
                  <a:srgbClr val="FFFFFF"/>
                </a:solidFill>
                <a:latin typeface="Calibri"/>
              </a:defRPr>
            </a:pPr>
            <a:r>
              <a:t>TEST</a:t>
            </a:r>
          </a:p>
        </p:txBody>
      </p:sp>
      <p:sp>
        <p:nvSpPr>
          <p:cNvPr id="12" name="TextBox 11"/>
          <p:cNvSpPr txBox="1"/>
          <p:nvPr/>
        </p:nvSpPr>
        <p:spPr>
          <a:xfrm>
            <a:off x="457200" y="758952"/>
            <a:ext cx="585216" cy="438912"/>
          </a:xfrm>
          <a:prstGeom prst="rect">
            <a:avLst/>
          </a:prstGeom>
          <a:noFill/>
        </p:spPr>
        <p:txBody>
          <a:bodyPr wrap="square" lIns="0" tIns="0" rIns="0" bIns="0">
            <a:spAutoFit/>
          </a:bodyPr>
          <a:lstStyle/>
          <a:p>
            <a:pPr>
              <a:lnSpc>
                <a:spcPct val="104000"/>
              </a:lnSpc>
              <a:spcBef>
                <a:spcPts val="0"/>
              </a:spcBef>
              <a:spcAft>
                <a:spcPts val="200"/>
              </a:spcAft>
              <a:defRPr sz="2400" b="1">
                <a:solidFill>
                  <a:srgbClr val="006E75"/>
                </a:solidFill>
                <a:latin typeface="Calibri"/>
              </a:defRPr>
            </a:pPr>
            <a:r>
              <a:t>11</a:t>
            </a:r>
          </a:p>
        </p:txBody>
      </p:sp>
      <p:sp>
        <p:nvSpPr>
          <p:cNvPr id="13" name="TextBox 12"/>
          <p:cNvSpPr txBox="1"/>
          <p:nvPr/>
        </p:nvSpPr>
        <p:spPr>
          <a:xfrm>
            <a:off x="1143000" y="713232"/>
            <a:ext cx="10424160" cy="457200"/>
          </a:xfrm>
          <a:prstGeom prst="rect">
            <a:avLst/>
          </a:prstGeom>
          <a:noFill/>
        </p:spPr>
        <p:txBody>
          <a:bodyPr wrap="square" lIns="0" tIns="0" rIns="0" bIns="0">
            <a:spAutoFit/>
          </a:bodyPr>
          <a:lstStyle/>
          <a:p>
            <a:pPr>
              <a:lnSpc>
                <a:spcPct val="104000"/>
              </a:lnSpc>
              <a:spcBef>
                <a:spcPts val="0"/>
              </a:spcBef>
              <a:spcAft>
                <a:spcPts val="200"/>
              </a:spcAft>
              <a:defRPr sz="2700" b="1">
                <a:solidFill>
                  <a:srgbClr val="153347"/>
                </a:solidFill>
                <a:latin typeface="Calibri"/>
              </a:defRPr>
            </a:pPr>
            <a:r>
              <a:t>Actions, evidence and submission</a:t>
            </a:r>
          </a:p>
        </p:txBody>
      </p:sp>
      <p:sp>
        <p:nvSpPr>
          <p:cNvPr id="14" name="TextBox 13"/>
          <p:cNvSpPr txBox="1"/>
          <p:nvPr/>
        </p:nvSpPr>
        <p:spPr>
          <a:xfrm>
            <a:off x="475488" y="1252728"/>
            <a:ext cx="11201400" cy="457200"/>
          </a:xfrm>
          <a:prstGeom prst="rect">
            <a:avLst/>
          </a:prstGeom>
          <a:noFill/>
        </p:spPr>
        <p:txBody>
          <a:bodyPr wrap="square" lIns="0" tIns="0" rIns="0" bIns="0">
            <a:spAutoFit/>
          </a:bodyPr>
          <a:lstStyle/>
          <a:p>
            <a:pPr>
              <a:lnSpc>
                <a:spcPct val="104000"/>
              </a:lnSpc>
              <a:spcBef>
                <a:spcPts val="0"/>
              </a:spcBef>
              <a:spcAft>
                <a:spcPts val="200"/>
              </a:spcAft>
              <a:defRPr sz="1550" b="0">
                <a:solidFill>
                  <a:srgbClr val="597080"/>
                </a:solidFill>
                <a:latin typeface="Calibri"/>
              </a:defRPr>
            </a:pPr>
            <a:r>
              <a:t>Prepare now. The Microsoft Forms submission link will be announced later in the Projects Team.</a:t>
            </a:r>
          </a:p>
        </p:txBody>
      </p:sp>
      <p:sp>
        <p:nvSpPr>
          <p:cNvPr id="15" name="Rectangle 14"/>
          <p:cNvSpPr/>
          <p:nvPr/>
        </p:nvSpPr>
        <p:spPr>
          <a:xfrm>
            <a:off x="457200" y="6428232"/>
            <a:ext cx="11274552" cy="9144"/>
          </a:xfrm>
          <a:prstGeom prst="rect">
            <a:avLst/>
          </a:prstGeom>
          <a:solidFill>
            <a:srgbClr val="D7E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57200" y="6528816"/>
            <a:ext cx="7589520" cy="155448"/>
          </a:xfrm>
          <a:prstGeom prst="rect">
            <a:avLst/>
          </a:prstGeom>
          <a:noFill/>
        </p:spPr>
        <p:txBody>
          <a:bodyPr wrap="square" lIns="0" tIns="0" rIns="0" bIns="0">
            <a:spAutoFit/>
          </a:bodyPr>
          <a:lstStyle/>
          <a:p>
            <a:pPr>
              <a:lnSpc>
                <a:spcPct val="104000"/>
              </a:lnSpc>
              <a:spcBef>
                <a:spcPts val="0"/>
              </a:spcBef>
              <a:spcAft>
                <a:spcPts val="200"/>
              </a:spcAft>
              <a:defRPr sz="900" b="0">
                <a:solidFill>
                  <a:srgbClr val="597080"/>
                </a:solidFill>
                <a:latin typeface="Calibri"/>
              </a:defRPr>
            </a:pPr>
            <a:r>
              <a:t>TEAM TITANS • LABELGUARD • DRAFT FOR MENTOR REVIEW</a:t>
            </a:r>
          </a:p>
        </p:txBody>
      </p:sp>
      <p:sp>
        <p:nvSpPr>
          <p:cNvPr id="17" name="TextBox 16"/>
          <p:cNvSpPr txBox="1"/>
          <p:nvPr/>
        </p:nvSpPr>
        <p:spPr>
          <a:xfrm>
            <a:off x="8321040" y="6510528"/>
            <a:ext cx="2194560" cy="201168"/>
          </a:xfrm>
          <a:prstGeom prst="rect">
            <a:avLst/>
          </a:prstGeom>
          <a:noFill/>
        </p:spPr>
        <p:txBody>
          <a:bodyPr wrap="square" lIns="0" tIns="0" rIns="0" bIns="0">
            <a:spAutoFit/>
          </a:bodyPr>
          <a:lstStyle/>
          <a:p>
            <a:pPr algn="r">
              <a:lnSpc>
                <a:spcPct val="104000"/>
              </a:lnSpc>
              <a:spcBef>
                <a:spcPts val="0"/>
              </a:spcBef>
              <a:spcAft>
                <a:spcPts val="200"/>
              </a:spcAft>
              <a:defRPr sz="1000" b="1">
                <a:solidFill>
                  <a:srgbClr val="006E75"/>
                </a:solidFill>
                <a:latin typeface="Calibri"/>
              </a:defRPr>
            </a:pPr>
            <a:r>
              <a:t>P2 • 16 OCT 2026</a:t>
            </a:r>
          </a:p>
        </p:txBody>
      </p:sp>
      <p:sp>
        <p:nvSpPr>
          <p:cNvPr id="18" name="TextBox 17"/>
          <p:cNvSpPr txBox="1"/>
          <p:nvPr/>
        </p:nvSpPr>
        <p:spPr>
          <a:xfrm>
            <a:off x="10908792" y="6510528"/>
            <a:ext cx="786384" cy="201168"/>
          </a:xfrm>
          <a:prstGeom prst="rect">
            <a:avLst/>
          </a:prstGeom>
          <a:noFill/>
        </p:spPr>
        <p:txBody>
          <a:bodyPr wrap="square" lIns="0" tIns="0" rIns="0" bIns="0">
            <a:spAutoFit/>
          </a:bodyPr>
          <a:lstStyle/>
          <a:p>
            <a:pPr algn="r">
              <a:lnSpc>
                <a:spcPct val="104000"/>
              </a:lnSpc>
              <a:spcBef>
                <a:spcPts val="0"/>
              </a:spcBef>
              <a:spcAft>
                <a:spcPts val="200"/>
              </a:spcAft>
              <a:defRPr sz="1000" b="0">
                <a:solidFill>
                  <a:srgbClr val="597080"/>
                </a:solidFill>
                <a:latin typeface="Calibri"/>
              </a:defRPr>
            </a:pPr>
            <a:r>
              <a:t>11/11</a:t>
            </a:r>
          </a:p>
        </p:txBody>
      </p:sp>
      <p:graphicFrame>
        <p:nvGraphicFramePr>
          <p:cNvPr id="19" name="Table 18"/>
          <p:cNvGraphicFramePr>
            <a:graphicFrameLocks noGrp="1"/>
          </p:cNvGraphicFramePr>
          <p:nvPr/>
        </p:nvGraphicFramePr>
        <p:xfrm>
          <a:off x="457200" y="1828800"/>
          <a:ext cx="11274552" cy="2313432"/>
        </p:xfrm>
        <a:graphic>
          <a:graphicData uri="http://schemas.openxmlformats.org/drawingml/2006/table">
            <a:tbl>
              <a:tblPr firstRow="1" bandRow="1">
                <a:tableStyleId>{5C22544A-7EE6-4342-B048-85BDC9FD1C3A}</a:tableStyleId>
              </a:tblPr>
              <a:tblGrid>
                <a:gridCol w="3154680">
                  <a:extLst>
                    <a:ext uri="{9D8B030D-6E8A-4147-A177-3AD203B41FA5}">
                      <a16:colId xmlns:a16="http://schemas.microsoft.com/office/drawing/2014/main" val="20000"/>
                    </a:ext>
                  </a:extLst>
                </a:gridCol>
                <a:gridCol w="2523744">
                  <a:extLst>
                    <a:ext uri="{9D8B030D-6E8A-4147-A177-3AD203B41FA5}">
                      <a16:colId xmlns:a16="http://schemas.microsoft.com/office/drawing/2014/main" val="20001"/>
                    </a:ext>
                  </a:extLst>
                </a:gridCol>
                <a:gridCol w="1499616">
                  <a:extLst>
                    <a:ext uri="{9D8B030D-6E8A-4147-A177-3AD203B41FA5}">
                      <a16:colId xmlns:a16="http://schemas.microsoft.com/office/drawing/2014/main" val="20002"/>
                    </a:ext>
                  </a:extLst>
                </a:gridCol>
                <a:gridCol w="4096512">
                  <a:extLst>
                    <a:ext uri="{9D8B030D-6E8A-4147-A177-3AD203B41FA5}">
                      <a16:colId xmlns:a16="http://schemas.microsoft.com/office/drawing/2014/main" val="20003"/>
                    </a:ext>
                  </a:extLst>
                </a:gridCol>
              </a:tblGrid>
              <a:tr h="393192">
                <a:tc>
                  <a:txBody>
                    <a:bodyPr/>
                    <a:lstStyle/>
                    <a:p>
                      <a:pPr>
                        <a:lnSpc>
                          <a:spcPct val="104000"/>
                        </a:lnSpc>
                        <a:spcAft>
                          <a:spcPts val="0"/>
                        </a:spcAft>
                        <a:defRPr sz="1300" b="1">
                          <a:solidFill>
                            <a:srgbClr val="FFFFFF"/>
                          </a:solidFill>
                          <a:latin typeface="Calibri"/>
                        </a:defRPr>
                      </a:pPr>
                      <a:r>
                        <a:t>Next action</a:t>
                      </a:r>
                    </a:p>
                  </a:txBody>
                  <a:tcPr marL="109728" marR="109728" marT="64008" marB="64008" anchor="ctr">
                    <a:solidFill>
                      <a:srgbClr val="153347"/>
                    </a:solidFill>
                  </a:tcPr>
                </a:tc>
                <a:tc>
                  <a:txBody>
                    <a:bodyPr/>
                    <a:lstStyle/>
                    <a:p>
                      <a:pPr>
                        <a:lnSpc>
                          <a:spcPct val="104000"/>
                        </a:lnSpc>
                        <a:spcAft>
                          <a:spcPts val="0"/>
                        </a:spcAft>
                        <a:defRPr sz="1300" b="1">
                          <a:solidFill>
                            <a:srgbClr val="FFFFFF"/>
                          </a:solidFill>
                          <a:latin typeface="Calibri"/>
                        </a:defRPr>
                      </a:pPr>
                      <a:r>
                        <a:t>Assignee</a:t>
                      </a:r>
                    </a:p>
                  </a:txBody>
                  <a:tcPr marL="109728" marR="109728" marT="64008" marB="64008" anchor="ctr">
                    <a:solidFill>
                      <a:srgbClr val="153347"/>
                    </a:solidFill>
                  </a:tcPr>
                </a:tc>
                <a:tc>
                  <a:txBody>
                    <a:bodyPr/>
                    <a:lstStyle/>
                    <a:p>
                      <a:pPr>
                        <a:lnSpc>
                          <a:spcPct val="104000"/>
                        </a:lnSpc>
                        <a:spcAft>
                          <a:spcPts val="0"/>
                        </a:spcAft>
                        <a:defRPr sz="1300" b="1">
                          <a:solidFill>
                            <a:srgbClr val="FFFFFF"/>
                          </a:solidFill>
                          <a:latin typeface="Calibri"/>
                        </a:defRPr>
                      </a:pPr>
                      <a:r>
                        <a:t>Due</a:t>
                      </a:r>
                    </a:p>
                  </a:txBody>
                  <a:tcPr marL="109728" marR="109728" marT="64008" marB="64008" anchor="ctr">
                    <a:solidFill>
                      <a:srgbClr val="153347"/>
                    </a:solidFill>
                  </a:tcPr>
                </a:tc>
                <a:tc>
                  <a:txBody>
                    <a:bodyPr/>
                    <a:lstStyle/>
                    <a:p>
                      <a:pPr>
                        <a:lnSpc>
                          <a:spcPct val="104000"/>
                        </a:lnSpc>
                        <a:spcAft>
                          <a:spcPts val="0"/>
                        </a:spcAft>
                        <a:defRPr sz="1300" b="1">
                          <a:solidFill>
                            <a:srgbClr val="FFFFFF"/>
                          </a:solidFill>
                          <a:latin typeface="Calibri"/>
                        </a:defRPr>
                      </a:pPr>
                      <a:r>
                        <a:t>Evidence / output</a:t>
                      </a:r>
                    </a:p>
                  </a:txBody>
                  <a:tcPr marL="109728" marR="109728" marT="64008" marB="64008" anchor="ctr">
                    <a:solidFill>
                      <a:srgbClr val="153347"/>
                    </a:solidFill>
                  </a:tcPr>
                </a:tc>
                <a:extLst>
                  <a:ext uri="{0D108BD9-81ED-4DB2-BD59-A6C34878D82A}">
                    <a16:rowId xmlns:a16="http://schemas.microsoft.com/office/drawing/2014/main" val="10000"/>
                  </a:ext>
                </a:extLst>
              </a:tr>
              <a:tr h="640080">
                <a:tc>
                  <a:txBody>
                    <a:bodyPr/>
                    <a:lstStyle/>
                    <a:p>
                      <a:pPr>
                        <a:lnSpc>
                          <a:spcPct val="104000"/>
                        </a:lnSpc>
                        <a:spcAft>
                          <a:spcPts val="0"/>
                        </a:spcAft>
                        <a:defRPr sz="1600" b="0">
                          <a:solidFill>
                            <a:srgbClr val="243A49"/>
                          </a:solidFill>
                          <a:latin typeface="Calibri"/>
                        </a:defRPr>
                      </a:pPr>
                      <a:r>
                        <a:t>Close P1 gaps: real inspector interview + observation; concept feedback; permission request</a:t>
                      </a:r>
                    </a:p>
                  </a:txBody>
                  <a:tcPr marL="109728" marR="109728" marT="64008" marB="64008" anchor="ctr">
                    <a:solidFill>
                      <a:srgbClr val="FFFFFF"/>
                    </a:solidFill>
                  </a:tcPr>
                </a:tc>
                <a:tc>
                  <a:txBody>
                    <a:bodyPr/>
                    <a:lstStyle/>
                    <a:p>
                      <a:pPr>
                        <a:lnSpc>
                          <a:spcPct val="104000"/>
                        </a:lnSpc>
                        <a:spcAft>
                          <a:spcPts val="0"/>
                        </a:spcAft>
                        <a:defRPr sz="1600" b="0">
                          <a:solidFill>
                            <a:srgbClr val="243A49"/>
                          </a:solidFill>
                          <a:latin typeface="Calibri"/>
                        </a:defRPr>
                      </a:pPr>
                      <a:r>
                        <a:t>Discovery lead (add name)</a:t>
                      </a:r>
                    </a:p>
                  </a:txBody>
                  <a:tcPr marL="109728" marR="109728" marT="64008" marB="64008" anchor="ctr">
                    <a:solidFill>
                      <a:srgbClr val="FFFFFF"/>
                    </a:solidFill>
                  </a:tcPr>
                </a:tc>
                <a:tc>
                  <a:txBody>
                    <a:bodyPr/>
                    <a:lstStyle/>
                    <a:p>
                      <a:pPr>
                        <a:lnSpc>
                          <a:spcPct val="104000"/>
                        </a:lnSpc>
                        <a:spcAft>
                          <a:spcPts val="0"/>
                        </a:spcAft>
                        <a:defRPr sz="1600" b="0">
                          <a:solidFill>
                            <a:srgbClr val="243A49"/>
                          </a:solidFill>
                          <a:latin typeface="Calibri"/>
                        </a:defRPr>
                      </a:pPr>
                      <a:r>
                        <a:t>21 Oct 2026</a:t>
                      </a:r>
                    </a:p>
                  </a:txBody>
                  <a:tcPr marL="109728" marR="109728" marT="64008" marB="64008" anchor="ctr">
                    <a:solidFill>
                      <a:srgbClr val="FFFFFF"/>
                    </a:solidFill>
                  </a:tcPr>
                </a:tc>
                <a:tc>
                  <a:txBody>
                    <a:bodyPr/>
                    <a:lstStyle/>
                    <a:p>
                      <a:pPr>
                        <a:lnSpc>
                          <a:spcPct val="104000"/>
                        </a:lnSpc>
                        <a:spcAft>
                          <a:spcPts val="0"/>
                        </a:spcAft>
                        <a:defRPr sz="1600" b="0">
                          <a:solidFill>
                            <a:srgbClr val="243A49"/>
                          </a:solidFill>
                          <a:latin typeface="Calibri"/>
                        </a:defRPr>
                      </a:pPr>
                      <a:r>
                        <a:t>Anonymised notes, feedback table, request</a:t>
                      </a:r>
                    </a:p>
                  </a:txBody>
                  <a:tcPr marL="109728" marR="109728" marT="64008" marB="64008" anchor="ctr">
                    <a:solidFill>
                      <a:srgbClr val="FFFFFF"/>
                    </a:solidFill>
                  </a:tcPr>
                </a:tc>
                <a:extLst>
                  <a:ext uri="{0D108BD9-81ED-4DB2-BD59-A6C34878D82A}">
                    <a16:rowId xmlns:a16="http://schemas.microsoft.com/office/drawing/2014/main" val="10001"/>
                  </a:ext>
                </a:extLst>
              </a:tr>
              <a:tr h="640080">
                <a:tc>
                  <a:txBody>
                    <a:bodyPr/>
                    <a:lstStyle/>
                    <a:p>
                      <a:pPr>
                        <a:lnSpc>
                          <a:spcPct val="104000"/>
                        </a:lnSpc>
                        <a:spcAft>
                          <a:spcPts val="0"/>
                        </a:spcAft>
                        <a:defRPr sz="1600" b="0">
                          <a:solidFill>
                            <a:srgbClr val="243A49"/>
                          </a:solidFill>
                          <a:latin typeface="Calibri"/>
                        </a:defRPr>
                      </a:pPr>
                      <a:r>
                        <a:t>Prepare bounded test: freeze 30 labels + protocol; Mentor approval</a:t>
                      </a:r>
                    </a:p>
                  </a:txBody>
                  <a:tcPr marL="109728" marR="109728" marT="64008" marB="64008" anchor="ctr">
                    <a:solidFill>
                      <a:srgbClr val="E7F3F1"/>
                    </a:solidFill>
                  </a:tcPr>
                </a:tc>
                <a:tc>
                  <a:txBody>
                    <a:bodyPr/>
                    <a:lstStyle/>
                    <a:p>
                      <a:pPr>
                        <a:lnSpc>
                          <a:spcPct val="104000"/>
                        </a:lnSpc>
                        <a:spcAft>
                          <a:spcPts val="0"/>
                        </a:spcAft>
                        <a:defRPr sz="1600" b="0">
                          <a:solidFill>
                            <a:srgbClr val="243A49"/>
                          </a:solidFill>
                          <a:latin typeface="Calibri"/>
                        </a:defRPr>
                      </a:pPr>
                      <a:r>
                        <a:t>Build lead (add name)</a:t>
                      </a:r>
                    </a:p>
                  </a:txBody>
                  <a:tcPr marL="109728" marR="109728" marT="64008" marB="64008" anchor="ctr">
                    <a:solidFill>
                      <a:srgbClr val="E7F3F1"/>
                    </a:solidFill>
                  </a:tcPr>
                </a:tc>
                <a:tc>
                  <a:txBody>
                    <a:bodyPr/>
                    <a:lstStyle/>
                    <a:p>
                      <a:pPr>
                        <a:lnSpc>
                          <a:spcPct val="104000"/>
                        </a:lnSpc>
                        <a:spcAft>
                          <a:spcPts val="0"/>
                        </a:spcAft>
                        <a:defRPr sz="1600" b="0">
                          <a:solidFill>
                            <a:srgbClr val="243A49"/>
                          </a:solidFill>
                          <a:latin typeface="Calibri"/>
                        </a:defRPr>
                      </a:pPr>
                      <a:r>
                        <a:t>22 Oct 2026</a:t>
                      </a:r>
                    </a:p>
                  </a:txBody>
                  <a:tcPr marL="109728" marR="109728" marT="64008" marB="64008" anchor="ctr">
                    <a:solidFill>
                      <a:srgbClr val="E7F3F1"/>
                    </a:solidFill>
                  </a:tcPr>
                </a:tc>
                <a:tc>
                  <a:txBody>
                    <a:bodyPr/>
                    <a:lstStyle/>
                    <a:p>
                      <a:pPr>
                        <a:lnSpc>
                          <a:spcPct val="104000"/>
                        </a:lnSpc>
                        <a:spcAft>
                          <a:spcPts val="0"/>
                        </a:spcAft>
                        <a:defRPr sz="1600" b="0">
                          <a:solidFill>
                            <a:srgbClr val="243A49"/>
                          </a:solidFill>
                          <a:latin typeface="Calibri"/>
                        </a:defRPr>
                      </a:pPr>
                      <a:r>
                        <a:t>Label set, references, test plan</a:t>
                      </a:r>
                    </a:p>
                  </a:txBody>
                  <a:tcPr marL="109728" marR="109728" marT="64008" marB="64008" anchor="ctr">
                    <a:solidFill>
                      <a:srgbClr val="E7F3F1"/>
                    </a:solidFill>
                  </a:tcPr>
                </a:tc>
                <a:extLst>
                  <a:ext uri="{0D108BD9-81ED-4DB2-BD59-A6C34878D82A}">
                    <a16:rowId xmlns:a16="http://schemas.microsoft.com/office/drawing/2014/main" val="10002"/>
                  </a:ext>
                </a:extLst>
              </a:tr>
              <a:tr h="640080">
                <a:tc>
                  <a:txBody>
                    <a:bodyPr/>
                    <a:lstStyle/>
                    <a:p>
                      <a:pPr>
                        <a:lnSpc>
                          <a:spcPct val="104000"/>
                        </a:lnSpc>
                        <a:spcAft>
                          <a:spcPts val="0"/>
                        </a:spcAft>
                        <a:defRPr sz="1600" b="0">
                          <a:solidFill>
                            <a:srgbClr val="243A49"/>
                          </a:solidFill>
                          <a:latin typeface="Calibri"/>
                        </a:defRPr>
                      </a:pPr>
                      <a:r>
                        <a:t>Run and report P3</a:t>
                      </a:r>
                    </a:p>
                  </a:txBody>
                  <a:tcPr marL="109728" marR="109728" marT="64008" marB="64008" anchor="ctr">
                    <a:solidFill>
                      <a:srgbClr val="FFFFFF"/>
                    </a:solidFill>
                  </a:tcPr>
                </a:tc>
                <a:tc>
                  <a:txBody>
                    <a:bodyPr/>
                    <a:lstStyle/>
                    <a:p>
                      <a:pPr>
                        <a:lnSpc>
                          <a:spcPct val="104000"/>
                        </a:lnSpc>
                        <a:spcAft>
                          <a:spcPts val="0"/>
                        </a:spcAft>
                        <a:defRPr sz="1600" b="0">
                          <a:solidFill>
                            <a:srgbClr val="243A49"/>
                          </a:solidFill>
                          <a:latin typeface="Calibri"/>
                        </a:defRPr>
                      </a:pPr>
                      <a:r>
                        <a:t>Test lead (add name)</a:t>
                      </a:r>
                    </a:p>
                  </a:txBody>
                  <a:tcPr marL="109728" marR="109728" marT="64008" marB="64008" anchor="ctr">
                    <a:solidFill>
                      <a:srgbClr val="FFFFFF"/>
                    </a:solidFill>
                  </a:tcPr>
                </a:tc>
                <a:tc>
                  <a:txBody>
                    <a:bodyPr/>
                    <a:lstStyle/>
                    <a:p>
                      <a:pPr>
                        <a:lnSpc>
                          <a:spcPct val="104000"/>
                        </a:lnSpc>
                        <a:spcAft>
                          <a:spcPts val="0"/>
                        </a:spcAft>
                        <a:defRPr sz="1600" b="0">
                          <a:solidFill>
                            <a:srgbClr val="243A49"/>
                          </a:solidFill>
                          <a:latin typeface="Calibri"/>
                        </a:defRPr>
                      </a:pPr>
                      <a:r>
                        <a:t>26 Oct 2026</a:t>
                      </a:r>
                    </a:p>
                  </a:txBody>
                  <a:tcPr marL="109728" marR="109728" marT="64008" marB="64008" anchor="ctr">
                    <a:solidFill>
                      <a:srgbClr val="FFFFFF"/>
                    </a:solidFill>
                  </a:tcPr>
                </a:tc>
                <a:tc>
                  <a:txBody>
                    <a:bodyPr/>
                    <a:lstStyle/>
                    <a:p>
                      <a:pPr>
                        <a:lnSpc>
                          <a:spcPct val="104000"/>
                        </a:lnSpc>
                        <a:spcAft>
                          <a:spcPts val="0"/>
                        </a:spcAft>
                        <a:defRPr sz="1600" b="0">
                          <a:solidFill>
                            <a:srgbClr val="243A49"/>
                          </a:solidFill>
                          <a:latin typeface="Calibri"/>
                        </a:defRPr>
                      </a:pPr>
                      <a:r>
                        <a:t>Results, failures + limitations</a:t>
                      </a:r>
                    </a:p>
                  </a:txBody>
                  <a:tcPr marL="109728" marR="109728" marT="64008" marB="64008" anchor="ctr">
                    <a:solidFill>
                      <a:srgbClr val="FFFFFF"/>
                    </a:solidFill>
                  </a:tcPr>
                </a:tc>
                <a:extLst>
                  <a:ext uri="{0D108BD9-81ED-4DB2-BD59-A6C34878D82A}">
                    <a16:rowId xmlns:a16="http://schemas.microsoft.com/office/drawing/2014/main" val="10003"/>
                  </a:ext>
                </a:extLst>
              </a:tr>
            </a:tbl>
          </a:graphicData>
        </a:graphic>
      </p:graphicFrame>
      <p:sp>
        <p:nvSpPr>
          <p:cNvPr id="20" name="Rounded Rectangle 19"/>
          <p:cNvSpPr/>
          <p:nvPr/>
        </p:nvSpPr>
        <p:spPr>
          <a:xfrm>
            <a:off x="457200" y="4361688"/>
            <a:ext cx="6647688" cy="1097280"/>
          </a:xfrm>
          <a:prstGeom prst="roundRect">
            <a:avLst>
              <a:gd name="adj" fmla="val 8000"/>
            </a:avLst>
          </a:prstGeom>
          <a:solidFill>
            <a:srgbClr val="E7F3F1"/>
          </a:solidFill>
          <a:ln w="8255">
            <a:solidFill>
              <a:srgbClr val="D7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21792" y="4480559"/>
            <a:ext cx="6318503" cy="228600"/>
          </a:xfrm>
          <a:prstGeom prst="rect">
            <a:avLst/>
          </a:prstGeom>
          <a:noFill/>
        </p:spPr>
        <p:txBody>
          <a:bodyPr wrap="square" lIns="0" tIns="0" rIns="0" bIns="0">
            <a:spAutoFit/>
          </a:bodyPr>
          <a:lstStyle/>
          <a:p>
            <a:pPr>
              <a:lnSpc>
                <a:spcPct val="104000"/>
              </a:lnSpc>
              <a:spcBef>
                <a:spcPts val="0"/>
              </a:spcBef>
              <a:spcAft>
                <a:spcPts val="200"/>
              </a:spcAft>
              <a:defRPr sz="1150" b="1">
                <a:solidFill>
                  <a:srgbClr val="006E75"/>
                </a:solidFill>
                <a:latin typeface="Calibri"/>
              </a:defRPr>
            </a:pPr>
            <a:r>
              <a:t>TEAM RECOMMENDATION — NOT AN OFFICIAL APPROVAL</a:t>
            </a:r>
          </a:p>
        </p:txBody>
      </p:sp>
      <p:sp>
        <p:nvSpPr>
          <p:cNvPr id="22" name="TextBox 21"/>
          <p:cNvSpPr txBox="1"/>
          <p:nvPr/>
        </p:nvSpPr>
        <p:spPr>
          <a:xfrm>
            <a:off x="621792" y="4727448"/>
            <a:ext cx="6318503" cy="649224"/>
          </a:xfrm>
          <a:prstGeom prst="rect">
            <a:avLst/>
          </a:prstGeom>
          <a:noFill/>
        </p:spPr>
        <p:txBody>
          <a:bodyPr wrap="square" lIns="0" tIns="0" rIns="0" bIns="0">
            <a:spAutoFit/>
          </a:bodyPr>
          <a:lstStyle/>
          <a:p>
            <a:pPr>
              <a:lnSpc>
                <a:spcPct val="104000"/>
              </a:lnSpc>
              <a:spcBef>
                <a:spcPts val="0"/>
              </a:spcBef>
              <a:spcAft>
                <a:spcPts val="200"/>
              </a:spcAft>
              <a:defRPr sz="1700" b="0">
                <a:solidFill>
                  <a:srgbClr val="243A49"/>
                </a:solidFill>
                <a:latin typeface="Calibri"/>
              </a:defRPr>
            </a:pPr>
            <a:r>
              <a:t>Revise: proceed to a bounded I02 PoC only if feedback supports desirability and the Mentor approves; else return to validation. Open: P1 interviews (0), permission, review status. No Lab Head approval claimed.</a:t>
            </a:r>
          </a:p>
        </p:txBody>
      </p:sp>
      <p:sp>
        <p:nvSpPr>
          <p:cNvPr id="23" name="Rounded Rectangle 22"/>
          <p:cNvSpPr/>
          <p:nvPr/>
        </p:nvSpPr>
        <p:spPr>
          <a:xfrm>
            <a:off x="7287768" y="4361688"/>
            <a:ext cx="4443984" cy="1097280"/>
          </a:xfrm>
          <a:prstGeom prst="roundRect">
            <a:avLst>
              <a:gd name="adj" fmla="val 8000"/>
            </a:avLst>
          </a:prstGeom>
          <a:solidFill>
            <a:srgbClr val="FFFFFF"/>
          </a:solidFill>
          <a:ln w="8255">
            <a:solidFill>
              <a:srgbClr val="D7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452360" y="4480559"/>
            <a:ext cx="4114800" cy="228600"/>
          </a:xfrm>
          <a:prstGeom prst="rect">
            <a:avLst/>
          </a:prstGeom>
          <a:noFill/>
        </p:spPr>
        <p:txBody>
          <a:bodyPr wrap="square" lIns="0" tIns="0" rIns="0" bIns="0">
            <a:spAutoFit/>
          </a:bodyPr>
          <a:lstStyle/>
          <a:p>
            <a:pPr>
              <a:lnSpc>
                <a:spcPct val="104000"/>
              </a:lnSpc>
              <a:spcBef>
                <a:spcPts val="0"/>
              </a:spcBef>
              <a:spcAft>
                <a:spcPts val="200"/>
              </a:spcAft>
              <a:defRPr sz="1150" b="1">
                <a:solidFill>
                  <a:srgbClr val="006E75"/>
                </a:solidFill>
                <a:latin typeface="Calibri"/>
              </a:defRPr>
            </a:pPr>
            <a:r>
              <a:t>EVIDENCE ACCESS</a:t>
            </a:r>
          </a:p>
        </p:txBody>
      </p:sp>
      <p:sp>
        <p:nvSpPr>
          <p:cNvPr id="25" name="TextBox 24"/>
          <p:cNvSpPr txBox="1"/>
          <p:nvPr/>
        </p:nvSpPr>
        <p:spPr>
          <a:xfrm>
            <a:off x="7452360" y="4727448"/>
            <a:ext cx="4114800" cy="649224"/>
          </a:xfrm>
          <a:prstGeom prst="rect">
            <a:avLst/>
          </a:prstGeom>
          <a:noFill/>
        </p:spPr>
        <p:txBody>
          <a:bodyPr wrap="square" lIns="0" tIns="0" rIns="0" bIns="0">
            <a:spAutoFit/>
          </a:bodyPr>
          <a:lstStyle/>
          <a:p>
            <a:pPr>
              <a:lnSpc>
                <a:spcPct val="104000"/>
              </a:lnSpc>
              <a:spcBef>
                <a:spcPts val="0"/>
              </a:spcBef>
              <a:spcAft>
                <a:spcPts val="200"/>
              </a:spcAft>
              <a:defRPr sz="1550" b="0">
                <a:solidFill>
                  <a:srgbClr val="243A49"/>
                </a:solidFill>
                <a:latin typeface="Calibri"/>
              </a:defRPr>
            </a:pPr>
            <a:r>
              <a:t>https://github.com/Ragavendhar25/Team-Titans (add P2_Ideation folder; confirm public access)</a:t>
            </a:r>
          </a:p>
        </p:txBody>
      </p:sp>
      <p:sp>
        <p:nvSpPr>
          <p:cNvPr id="26" name="TextBox 25"/>
          <p:cNvSpPr txBox="1"/>
          <p:nvPr/>
        </p:nvSpPr>
        <p:spPr>
          <a:xfrm>
            <a:off x="475488" y="5632704"/>
            <a:ext cx="11183112" cy="365760"/>
          </a:xfrm>
          <a:prstGeom prst="rect">
            <a:avLst/>
          </a:prstGeom>
          <a:noFill/>
        </p:spPr>
        <p:txBody>
          <a:bodyPr wrap="square" lIns="0" tIns="0" rIns="0" bIns="0">
            <a:spAutoFit/>
          </a:bodyPr>
          <a:lstStyle/>
          <a:p>
            <a:pPr>
              <a:lnSpc>
                <a:spcPct val="104000"/>
              </a:lnSpc>
              <a:spcBef>
                <a:spcPts val="0"/>
              </a:spcBef>
              <a:spcAft>
                <a:spcPts val="200"/>
              </a:spcAft>
              <a:defRPr sz="1500" b="1">
                <a:solidFill>
                  <a:srgbClr val="006E75"/>
                </a:solidFill>
                <a:latin typeface="Calibri"/>
              </a:defRPr>
            </a:pPr>
            <a:r>
              <a:t>Final check: 11 editable slides • 3+ distinct ideas • genuine feedback • clear selection • bounded P3 plan • sources + AI disclosure</a:t>
            </a:r>
          </a:p>
        </p:txBody>
      </p:sp>
      <p:sp>
        <p:nvSpPr>
          <p:cNvPr id="27" name="TextBox 26"/>
          <p:cNvSpPr txBox="1"/>
          <p:nvPr/>
        </p:nvSpPr>
        <p:spPr>
          <a:xfrm>
            <a:off x="475488" y="6099048"/>
            <a:ext cx="11183112" cy="184731"/>
          </a:xfrm>
          <a:prstGeom prst="rect">
            <a:avLst/>
          </a:prstGeom>
          <a:noFill/>
        </p:spPr>
        <p:txBody>
          <a:bodyPr wrap="square" lIns="0" tIns="0" rIns="0" bIns="0">
            <a:spAutoFit/>
          </a:bodyPr>
          <a:lstStyle/>
          <a:p>
            <a:pPr>
              <a:lnSpc>
                <a:spcPct val="104000"/>
              </a:lnSpc>
              <a:spcBef>
                <a:spcPts val="0"/>
              </a:spcBef>
              <a:spcAft>
                <a:spcPts val="200"/>
              </a:spcAft>
              <a:defRPr sz="1200" b="0">
                <a:solidFill>
                  <a:srgbClr val="597080"/>
                </a:solidFill>
                <a:latin typeface="Calibri"/>
              </a:defRPr>
            </a:pPr>
            <a:r>
              <a:t>Filename: SoI_P2_&lt;</a:t>
            </a:r>
            <a:r>
              <a:rPr err="1"/>
              <a:t>TeamID</a:t>
            </a:r>
            <a:r>
              <a:t>&gt;_&lt;</a:t>
            </a:r>
            <a:r>
              <a:rPr err="1"/>
              <a:t>ProjectShortName</a:t>
            </a:r>
            <a:r>
              <a:t>&gt;_v01.pptx  |  P3 (tentative): 26 Oct 2026  |  Pre-Demo Day after P3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d3d7fd87-1c27-4ecb-a552-d269452aef4a">
      <Terms xmlns="http://schemas.microsoft.com/office/infopath/2007/PartnerControls"/>
    </lcf76f155ced4ddcb4097134ff3c332f>
    <TaxCatchAll xmlns="24568d75-822a-4910-be19-a93b1047f652"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E9FE0E13DD1E8D4290B307E444056CF7" ma:contentTypeVersion="9" ma:contentTypeDescription="Create a new document." ma:contentTypeScope="" ma:versionID="bd95f0b967197f3f5f201eb6118f6a9b">
  <xsd:schema xmlns:xsd="http://www.w3.org/2001/XMLSchema" xmlns:xs="http://www.w3.org/2001/XMLSchema" xmlns:p="http://schemas.microsoft.com/office/2006/metadata/properties" xmlns:ns2="d3d7fd87-1c27-4ecb-a552-d269452aef4a" xmlns:ns3="24568d75-822a-4910-be19-a93b1047f652" targetNamespace="http://schemas.microsoft.com/office/2006/metadata/properties" ma:root="true" ma:fieldsID="24f263be06a898740c07302d5e9db6cb" ns2:_="" ns3:_="">
    <xsd:import namespace="d3d7fd87-1c27-4ecb-a552-d269452aef4a"/>
    <xsd:import namespace="24568d75-822a-4910-be19-a93b1047f652"/>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3d7fd87-1c27-4ecb-a552-d269452aef4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c7d36ee0-516a-46d7-9c37-891188aa7a36" ma:termSetId="09814cd3-568e-fe90-9814-8d621ff8fb84" ma:anchorId="fba54fb3-c3e1-fe81-a776-ca4b69148c4d" ma:open="true" ma:isKeyword="false">
      <xsd:complexType>
        <xsd:sequence>
          <xsd:element ref="pc:Terms" minOccurs="0" maxOccurs="1"/>
        </xsd:sequence>
      </xsd:complex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24568d75-822a-4910-be19-a93b1047f652"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a03bc995-53ff-4816-8bc9-b634ee589b7c}" ma:internalName="TaxCatchAll" ma:showField="CatchAllData" ma:web="24568d75-822a-4910-be19-a93b1047f65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547B185-0D88-4C67-A492-BBA1B56AABFA}">
  <ds:schemaRefs>
    <ds:schemaRef ds:uri="24568d75-822a-4910-be19-a93b1047f652"/>
    <ds:schemaRef ds:uri="d3d7fd87-1c27-4ecb-a552-d269452aef4a"/>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58FD590B-342D-4EDE-A054-33DEC208ECA8}">
  <ds:schemaRefs>
    <ds:schemaRef ds:uri="24568d75-822a-4910-be19-a93b1047f652"/>
    <ds:schemaRef ds:uri="d3d7fd87-1c27-4ecb-a552-d269452aef4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3A0F52F1-6B08-402D-B0C2-8D6FC21B9C8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11</Slides>
  <Notes>11</Notes>
  <HiddenSlides>0</HiddenSlide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SoI Phase 2 Ideation — [Problem-oriented project title]</dc:title>
  <dc:subject>AY2026–27 | 16 October 2026 | Student submission</dc:subject>
  <dc:creator>School of Innovation, KGiSL Institute of Technology</dc:creator>
  <cp:keywords>SoI; P2; Ideation; AY2026-27</cp:keywords>
  <dc:description>generated using python-pptx</dc:description>
  <cp:revision>1</cp:revision>
  <dcterms:created xsi:type="dcterms:W3CDTF">2013-01-27T09:14:16Z</dcterms:created>
  <dcterms:modified xsi:type="dcterms:W3CDTF">2026-10-14T15:44:36Z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0x010100E9FE0E13DD1E8D4290B307E444056CF7</vt:lpwstr>
  </property>
  <property fmtid="{D5CDD505-2E9C-101B-9397-08002B2CF9AE}" pid="3" name="MediaServiceImageTags">
    <vt:lpwstr/>
  </property>
</Properties>
</file>